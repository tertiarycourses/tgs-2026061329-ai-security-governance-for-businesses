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412" r:id="rId163"/>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Share of organisations reporting incidents (%)</c:v>
                </c:pt>
              </c:strCache>
            </c:strRef>
          </c:tx>
          <c:spPr>
            <a:solidFill>
              <a:srgbClr val="1F6FEB"/>
            </a:solidFill>
          </c:spPr>
          <c:cat>
            <c:strRef>
              <c:f>Sheet1!$A$2:$A$6</c:f>
              <c:strCache>
                <c:ptCount val="5"/>
                <c:pt idx="0">
                  <c:v>Shadow AI / unapproved tools</c:v>
                </c:pt>
                <c:pt idx="1">
                  <c:v>Customer-facing GenAI</c:v>
                </c:pt>
                <c:pt idx="2">
                  <c:v>Agentic systems with tools</c:v>
                </c:pt>
                <c:pt idx="3">
                  <c:v>Third-party AI in SaaS</c:v>
                </c:pt>
                <c:pt idx="4">
                  <c:v>Internally built models</c:v>
                </c:pt>
              </c:strCache>
            </c:strRef>
          </c:cat>
          <c:val>
            <c:numRef>
              <c:f>Sheet1!$B$2:$B$6</c:f>
              <c:numCache>
                <c:formatCode>0"%"</c:formatCode>
                <c:ptCount val="5"/>
                <c:pt idx="0">
                  <c:v>45</c:v>
                </c:pt>
                <c:pt idx="1">
                  <c:v>22</c:v>
                </c:pt>
                <c:pt idx="2">
                  <c:v>18</c:v>
                </c:pt>
                <c:pt idx="3">
                  <c:v>12</c:v>
                </c:pt>
                <c:pt idx="4">
                  <c:v>8</c:v>
                </c:pt>
              </c:numCache>
            </c:numRef>
          </c:val>
        </c:ser>
        <c:dLbls>
          <c:numFmt formatCode="0&quot;%&quot;"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Typical score (of 3)</c:v>
                </c:pt>
              </c:strCache>
            </c:strRef>
          </c:tx>
          <c:spPr>
            <a:solidFill>
              <a:srgbClr val="1F6FEB"/>
            </a:solidFill>
          </c:spPr>
          <c:cat>
            <c:strRef>
              <c:f>Sheet1!$A$2:$A$5</c:f>
              <c:strCache>
                <c:ptCount val="4"/>
                <c:pt idx="0">
                  <c:v>GOVERN</c:v>
                </c:pt>
                <c:pt idx="1">
                  <c:v>MAP</c:v>
                </c:pt>
                <c:pt idx="2">
                  <c:v>MEASURE</c:v>
                </c:pt>
                <c:pt idx="3">
                  <c:v>MANAGE</c:v>
                </c:pt>
              </c:strCache>
            </c:strRef>
          </c:cat>
          <c:val>
            <c:numRef>
              <c:f>Sheet1!$B$2:$B$5</c:f>
              <c:numCache>
                <c:formatCode>0</c:formatCode>
                <c:ptCount val="4"/>
                <c:pt idx="0">
                  <c:v>1.4</c:v>
                </c:pt>
                <c:pt idx="1">
                  <c:v>1.1</c:v>
                </c:pt>
                <c:pt idx="2">
                  <c:v>0.6</c:v>
                </c:pt>
                <c:pt idx="3">
                  <c:v>1.0</c:v>
                </c:pt>
              </c:numCache>
            </c:numRef>
          </c:val>
        </c:ser>
        <c:ser>
          <c:idx val="1"/>
          <c:order val="1"/>
          <c:tx>
            <c:strRef>
              <c:f>Sheet1!$C$1</c:f>
              <c:strCache>
                <c:ptCount val="1"/>
                <c:pt idx="0">
                  <c:v>Target</c:v>
                </c:pt>
              </c:strCache>
            </c:strRef>
          </c:tx>
          <c:spPr>
            <a:solidFill>
              <a:srgbClr val="10B981"/>
            </a:solidFill>
          </c:spPr>
          <c:cat>
            <c:strRef>
              <c:f>Sheet1!$A$2:$A$5</c:f>
              <c:strCache>
                <c:ptCount val="4"/>
                <c:pt idx="0">
                  <c:v>GOVERN</c:v>
                </c:pt>
                <c:pt idx="1">
                  <c:v>MAP</c:v>
                </c:pt>
                <c:pt idx="2">
                  <c:v>MEASURE</c:v>
                </c:pt>
                <c:pt idx="3">
                  <c:v>MANAGE</c:v>
                </c:pt>
              </c:strCache>
            </c:strRef>
          </c:cat>
          <c:val>
            <c:numRef>
              <c:f>Sheet1!$C$2:$C$5</c:f>
              <c:numCache>
                <c:formatCode>0</c:formatCode>
                <c:ptCount val="4"/>
                <c:pt idx="0">
                  <c:v>2.5</c:v>
                </c:pt>
                <c:pt idx="1">
                  <c:v>2.5</c:v>
                </c:pt>
                <c:pt idx="2">
                  <c:v>2.5</c:v>
                </c:pt>
                <c:pt idx="3">
                  <c:v>2.5</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200">
          <a:solidFill>
            <a:srgbClr val="161B26"/>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Cumulative energy share (%)</c:v>
                </c:pt>
              </c:strCache>
            </c:strRef>
          </c:tx>
          <c:spPr>
            <a:solidFill>
              <a:srgbClr val="1F6FEB"/>
            </a:solidFill>
          </c:spPr>
          <c:cat>
            <c:strRef>
              <c:f>Sheet1!$A$2:$A$5</c:f>
              <c:strCache>
                <c:ptCount val="4"/>
                <c:pt idx="0">
                  <c:v>Training (one-off)</c:v>
                </c:pt>
                <c:pt idx="1">
                  <c:v>Inference year 1</c:v>
                </c:pt>
                <c:pt idx="2">
                  <c:v>Inference year 2</c:v>
                </c:pt>
                <c:pt idx="3">
                  <c:v>Inference year 3</c:v>
                </c:pt>
              </c:strCache>
            </c:strRef>
          </c:cat>
          <c:val>
            <c:numRef>
              <c:f>Sheet1!$B$2:$B$5</c:f>
              <c:numCache>
                <c:formatCode>0"%"</c:formatCode>
                <c:ptCount val="4"/>
                <c:pt idx="0">
                  <c:v>100</c:v>
                </c:pt>
                <c:pt idx="1">
                  <c:v>145</c:v>
                </c:pt>
                <c:pt idx="2">
                  <c:v>190</c:v>
                </c:pt>
                <c:pt idx="3">
                  <c:v>235</c:v>
                </c:pt>
              </c:numCache>
            </c:numRef>
          </c:val>
        </c:ser>
        <c:dLbls>
          <c:numFmt formatCode="0&quot;%&quot;"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Risk reduction</c:v>
                </c:pt>
              </c:strCache>
            </c:strRef>
          </c:tx>
          <c:spPr>
            <a:solidFill>
              <a:srgbClr val="1F6FEB"/>
            </a:solidFill>
          </c:spPr>
          <c:cat>
            <c:strRef>
              <c:f>Sheet1!$A$2:$A$8</c:f>
              <c:strCache>
                <c:ptCount val="7"/>
                <c:pt idx="0">
                  <c:v>AI inventory + owners</c:v>
                </c:pt>
                <c:pt idx="1">
                  <c:v>Acceptable use policy</c:v>
                </c:pt>
                <c:pt idx="2">
                  <c:v>Logging enabled</c:v>
                </c:pt>
                <c:pt idx="3">
                  <c:v>Risk assess High-tier</c:v>
                </c:pt>
                <c:pt idx="4">
                  <c:v>Deployment gates</c:v>
                </c:pt>
                <c:pt idx="5">
                  <c:v>Agentic control stack</c:v>
                </c:pt>
                <c:pt idx="6">
                  <c:v>Independent assurance</c:v>
                </c:pt>
              </c:strCache>
            </c:strRef>
          </c:cat>
          <c:val>
            <c:numRef>
              <c:f>Sheet1!$B$2:$B$8</c:f>
              <c:numCache>
                <c:formatCode>0</c:formatCode>
                <c:ptCount val="7"/>
                <c:pt idx="0">
                  <c:v>9</c:v>
                </c:pt>
                <c:pt idx="1">
                  <c:v>8</c:v>
                </c:pt>
                <c:pt idx="2">
                  <c:v>7</c:v>
                </c:pt>
                <c:pt idx="3">
                  <c:v>8</c:v>
                </c:pt>
                <c:pt idx="4">
                  <c:v>7</c:v>
                </c:pt>
                <c:pt idx="5">
                  <c:v>6</c:v>
                </c:pt>
                <c:pt idx="6">
                  <c:v>4</c:v>
                </c:pt>
              </c:numCache>
            </c:numRef>
          </c:val>
        </c:ser>
        <c:ser>
          <c:idx val="1"/>
          <c:order val="1"/>
          <c:tx>
            <c:strRef>
              <c:f>Sheet1!$C$1</c:f>
              <c:strCache>
                <c:ptCount val="1"/>
                <c:pt idx="0">
                  <c:v>Effort</c:v>
                </c:pt>
              </c:strCache>
            </c:strRef>
          </c:tx>
          <c:spPr>
            <a:solidFill>
              <a:srgbClr val="10B981"/>
            </a:solidFill>
          </c:spPr>
          <c:cat>
            <c:strRef>
              <c:f>Sheet1!$A$2:$A$8</c:f>
              <c:strCache>
                <c:ptCount val="7"/>
                <c:pt idx="0">
                  <c:v>AI inventory + owners</c:v>
                </c:pt>
                <c:pt idx="1">
                  <c:v>Acceptable use policy</c:v>
                </c:pt>
                <c:pt idx="2">
                  <c:v>Logging enabled</c:v>
                </c:pt>
                <c:pt idx="3">
                  <c:v>Risk assess High-tier</c:v>
                </c:pt>
                <c:pt idx="4">
                  <c:v>Deployment gates</c:v>
                </c:pt>
                <c:pt idx="5">
                  <c:v>Agentic control stack</c:v>
                </c:pt>
                <c:pt idx="6">
                  <c:v>Independent assurance</c:v>
                </c:pt>
              </c:strCache>
            </c:strRef>
          </c:cat>
          <c:val>
            <c:numRef>
              <c:f>Sheet1!$C$2:$C$8</c:f>
              <c:numCache>
                <c:formatCode>0</c:formatCode>
                <c:ptCount val="7"/>
                <c:pt idx="0">
                  <c:v>2</c:v>
                </c:pt>
                <c:pt idx="1">
                  <c:v>2</c:v>
                </c:pt>
                <c:pt idx="2">
                  <c:v>3</c:v>
                </c:pt>
                <c:pt idx="3">
                  <c:v>5</c:v>
                </c:pt>
                <c:pt idx="4">
                  <c:v>5</c:v>
                </c:pt>
                <c:pt idx="5">
                  <c:v>7</c:v>
                </c:pt>
                <c:pt idx="6">
                  <c:v>8</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200">
          <a:solidFill>
            <a:srgbClr val="161B26"/>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9.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pic>
        <p:nvPicPr>
          <p:cNvPr id="6" name="Picture 5" descr="wsq-badge.png"/>
          <p:cNvPicPr>
            <a:picLocks noChangeAspect="1"/>
          </p:cNvPicPr>
          <p:nvPr/>
        </p:nvPicPr>
        <p:blipFill>
          <a:blip r:embed="rId3"/>
          <a:stretch>
            <a:fillRect/>
          </a:stretch>
        </p:blipFill>
        <p:spPr>
          <a:xfrm>
            <a:off x="2148840" y="713232"/>
            <a:ext cx="2084832" cy="822960"/>
          </a:xfrm>
          <a:prstGeom prst="rect">
            <a:avLst/>
          </a:prstGeom>
        </p:spPr>
      </p:pic>
      <p:pic>
        <p:nvPicPr>
          <p:cNvPr id="7" name="Picture 6" descr="ai-security-governance-badge.png"/>
          <p:cNvPicPr>
            <a:picLocks noChangeAspect="1"/>
          </p:cNvPicPr>
          <p:nvPr/>
        </p:nvPicPr>
        <p:blipFill>
          <a:blip r:embed="rId4"/>
          <a:stretch>
            <a:fillRect/>
          </a:stretch>
        </p:blipFill>
        <p:spPr>
          <a:xfrm>
            <a:off x="9464040" y="548640"/>
            <a:ext cx="2011680" cy="1188720"/>
          </a:xfrm>
          <a:prstGeom prst="rect">
            <a:avLst/>
          </a:prstGeom>
        </p:spPr>
      </p:pic>
      <p:sp>
        <p:nvSpPr>
          <p:cNvPr id="8" name="TextBox 7"/>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9" name="TextBox 8"/>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AI Security Governance for Businesses</a:t>
            </a:r>
          </a:p>
        </p:txBody>
      </p:sp>
      <p:sp>
        <p:nvSpPr>
          <p:cNvPr id="10" name="Rectangle 9"/>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TGS-2026061329</a:t>
            </a:r>
          </a:p>
          <a:p>
            <a:pPr algn="l">
              <a:spcAft>
                <a:spcPts val="600"/>
              </a:spcAft>
            </a:pPr>
            <a:r>
              <a:rPr sz="1400" b="0">
                <a:solidFill>
                  <a:srgbClr val="5B6372"/>
                </a:solidFill>
                <a:latin typeface="Arial"/>
              </a:rPr>
              <a:t>Conducted by Tertiary Infotech Academy Pte Ltd  ·  UEN 201200696W</a:t>
            </a:r>
          </a:p>
        </p:txBody>
      </p:sp>
      <p:sp>
        <p:nvSpPr>
          <p:cNvPr id="12" name="TextBox 11"/>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1 September 2026</a:t>
            </a:r>
          </a:p>
        </p:txBody>
      </p:sp>
      <p:sp>
        <p:nvSpPr>
          <p:cNvPr id="13" name="TextBox 12"/>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1732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advClick="1">
    <p:push dir="l"/>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400" b="0">
                <a:solidFill>
                  <a:srgbClr val="161B26"/>
                </a:solidFill>
                <a:latin typeface="Arial"/>
              </a:rPr>
              <a:t>AI governance and security, responsible AI, cybersecurity risk management and applied machine learning.</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AI security governance, responsible AI, data protection and generative AI for business.</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CREDENTIALS</a:t>
            </a:r>
          </a:p>
          <a:p>
            <a:pPr algn="l">
              <a:spcAft>
                <a:spcPts val="300"/>
              </a:spcAft>
            </a:pPr>
            <a:r>
              <a:rPr sz="1400" b="0">
                <a:solidFill>
                  <a:srgbClr val="161B26"/>
                </a:solidFill>
                <a:latin typeface="Arial"/>
              </a:rPr>
              <a:t>PhD; ACTA/ACLP certified; certified in AI Ethics &amp; Governance, Explainable AI and Safeguarding AI.</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organisation and role.</a:t>
            </a:r>
          </a:p>
          <a:p>
            <a:pPr>
              <a:spcAft>
                <a:spcPts val="1000"/>
              </a:spcAft>
            </a:pPr>
            <a:r>
              <a:rPr sz="2000" b="0">
                <a:solidFill>
                  <a:srgbClr val="161B26"/>
                </a:solidFill>
                <a:latin typeface="Arial"/>
              </a:rPr>
              <a:t>•  Does your organisation use AI today — and does anyone govern it?</a:t>
            </a:r>
          </a:p>
          <a:p>
            <a:pPr>
              <a:spcAft>
                <a:spcPts val="1000"/>
              </a:spcAft>
            </a:pPr>
            <a:r>
              <a:rPr sz="2000" b="0">
                <a:solidFill>
                  <a:srgbClr val="161B26"/>
                </a:solidFill>
                <a:latin typeface="Arial"/>
              </a:rPr>
              <a:t>•  What worries you most about AI in your business: data leakage, wrong decisions, regulators, or something else?</a:t>
            </a:r>
          </a:p>
          <a:p>
            <a:pPr>
              <a:spcAft>
                <a:spcPts val="1000"/>
              </a:spcAft>
            </a:pPr>
            <a:r>
              <a:rPr sz="2000" b="0">
                <a:solidFill>
                  <a:srgbClr val="161B26"/>
                </a:solidFill>
                <a:latin typeface="Arial"/>
              </a:rPr>
              <a:t>•  What you would like to be able to do differently after these two days.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SKILLS FRAMEWORK  ·  TSC</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Skills Framework Alignment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TSC Title</a:t>
            </a:r>
          </a:p>
          <a:p>
            <a:pPr algn="l">
              <a:spcAft>
                <a:spcPts val="300"/>
              </a:spcAft>
            </a:pPr>
            <a:r>
              <a:rPr sz="1200" b="0">
                <a:solidFill>
                  <a:srgbClr val="5B6372"/>
                </a:solidFill>
                <a:latin typeface="Arial"/>
              </a:rPr>
              <a:t>Responsible AI and Generative AI Practices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TSC Code</a:t>
            </a:r>
          </a:p>
          <a:p>
            <a:pPr algn="l">
              <a:spcAft>
                <a:spcPts val="300"/>
              </a:spcAft>
            </a:pPr>
            <a:r>
              <a:rPr sz="1200" b="0">
                <a:solidFill>
                  <a:srgbClr val="5B6372"/>
                </a:solidFill>
                <a:latin typeface="Arial"/>
              </a:rPr>
              <a:t>ICT-INT-0055-1.1</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Proficiency Level</a:t>
            </a:r>
          </a:p>
          <a:p>
            <a:pPr algn="l">
              <a:spcAft>
                <a:spcPts val="300"/>
              </a:spcAft>
            </a:pPr>
            <a:r>
              <a:rPr sz="1200" b="0">
                <a:solidFill>
                  <a:srgbClr val="5B6372"/>
                </a:solidFill>
                <a:latin typeface="Arial"/>
              </a:rPr>
              <a:t>Level 1</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Knowledge</a:t>
            </a:r>
          </a:p>
          <a:p>
            <a:pPr algn="l">
              <a:spcAft>
                <a:spcPts val="300"/>
              </a:spcAft>
            </a:pPr>
            <a:r>
              <a:rPr sz="1200" b="0">
                <a:solidFill>
                  <a:srgbClr val="5B6372"/>
                </a:solidFill>
                <a:latin typeface="Arial"/>
              </a:rPr>
              <a:t>Ethical frameworks and guidelines for AI-powered tools, including legal requirements for data use.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Ability</a:t>
            </a:r>
          </a:p>
          <a:p>
            <a:pPr algn="l">
              <a:spcAft>
                <a:spcPts val="300"/>
              </a:spcAft>
            </a:pPr>
            <a:r>
              <a:rPr sz="1200" b="0">
                <a:solidFill>
                  <a:srgbClr val="5B6372"/>
                </a:solidFill>
                <a:latin typeface="Arial"/>
              </a:rPr>
              <a:t>Evaluate ethical frameworks and guidelines in AI development and deployment.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Ability</a:t>
            </a:r>
          </a:p>
          <a:p>
            <a:pPr algn="l">
              <a:spcAft>
                <a:spcPts val="300"/>
              </a:spcAft>
            </a:pPr>
            <a:r>
              <a:rPr sz="1200" b="0">
                <a:solidFill>
                  <a:srgbClr val="5B6372"/>
                </a:solidFill>
                <a:latin typeface="Arial"/>
              </a:rPr>
              <a:t>Develop and champion strategies that apply governance principles to reduce risk in deployment.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2 Days, 8 hours/day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Foundations, Business Risks and Building the Governance Framework</a:t>
            </a:r>
          </a:p>
          <a:p>
            <a:pPr>
              <a:spcAft>
                <a:spcPts val="1000"/>
              </a:spcAft>
            </a:pPr>
            <a:r>
              <a:rPr sz="1400" b="0">
                <a:solidFill>
                  <a:srgbClr val="5B6372"/>
                </a:solidFill>
                <a:latin typeface="Arial"/>
              </a:rPr>
              <a:t>–  Digital Attendance (AM) · Introductions · Learning Outcomes</a:t>
            </a:r>
          </a:p>
          <a:p>
            <a:pPr>
              <a:spcAft>
                <a:spcPts val="1000"/>
              </a:spcAft>
            </a:pPr>
            <a:r>
              <a:rPr sz="1400" b="0">
                <a:solidFill>
                  <a:srgbClr val="5B6372"/>
                </a:solidFill>
                <a:latin typeface="Arial"/>
              </a:rPr>
              <a:t>–  Topic 1: Foundations and Business Risks (Labs 1–4)</a:t>
            </a:r>
          </a:p>
          <a:p>
            <a:pPr>
              <a:spcAft>
                <a:spcPts val="1000"/>
              </a:spcAft>
            </a:pPr>
            <a:r>
              <a:rPr sz="1400" b="0">
                <a:solidFill>
                  <a:srgbClr val="5B6372"/>
                </a:solidFill>
                <a:latin typeface="Arial"/>
              </a:rPr>
              <a:t>–  Lunch Break · Digital Attendance (PM)</a:t>
            </a:r>
          </a:p>
          <a:p>
            <a:pPr>
              <a:spcAft>
                <a:spcPts val="1000"/>
              </a:spcAft>
            </a:pPr>
            <a:r>
              <a:rPr sz="1400" b="0">
                <a:solidFill>
                  <a:srgbClr val="5B6372"/>
                </a:solidFill>
                <a:latin typeface="Arial"/>
              </a:rPr>
              <a:t>–  Topic 2: Building the Governance Framework (Labs 5–8)</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Lifecycle Controls, Agentic AI Security and the Implementation Roadmap</a:t>
            </a:r>
          </a:p>
          <a:p>
            <a:pPr>
              <a:spcAft>
                <a:spcPts val="1000"/>
              </a:spcAft>
            </a:pPr>
            <a:r>
              <a:rPr sz="1400" b="0">
                <a:solidFill>
                  <a:srgbClr val="5B6372"/>
                </a:solidFill>
                <a:latin typeface="Arial"/>
              </a:rPr>
              <a:t>–  Digital Attendance (AM) · Day 1 recap</a:t>
            </a:r>
          </a:p>
          <a:p>
            <a:pPr>
              <a:spcAft>
                <a:spcPts val="1000"/>
              </a:spcAft>
            </a:pPr>
            <a:r>
              <a:rPr sz="1400" b="0">
                <a:solidFill>
                  <a:srgbClr val="5B6372"/>
                </a:solidFill>
                <a:latin typeface="Arial"/>
              </a:rPr>
              <a:t>–  Topic 3: Governance Controls Across the AI Lifecycle (Labs 9–12)</a:t>
            </a:r>
          </a:p>
          <a:p>
            <a:pPr>
              <a:spcAft>
                <a:spcPts val="1000"/>
              </a:spcAft>
            </a:pPr>
            <a:r>
              <a:rPr sz="1400" b="0">
                <a:solidFill>
                  <a:srgbClr val="5B6372"/>
                </a:solidFill>
                <a:latin typeface="Arial"/>
              </a:rPr>
              <a:t>–  Lunch Break · Digital Attendance (PM)</a:t>
            </a:r>
          </a:p>
          <a:p>
            <a:pPr>
              <a:spcAft>
                <a:spcPts val="1000"/>
              </a:spcAft>
            </a:pPr>
            <a:r>
              <a:rPr sz="1400" b="0">
                <a:solidFill>
                  <a:srgbClr val="5B6372"/>
                </a:solidFill>
                <a:latin typeface="Arial"/>
              </a:rPr>
              <a:t>–  Topic 4: Agentic AI Security, Risk Assessment &amp; Roadmap (Labs 13–16)</a:t>
            </a:r>
          </a:p>
          <a:p>
            <a:pPr>
              <a:spcAft>
                <a:spcPts val="1000"/>
              </a:spcAft>
            </a:pPr>
            <a:r>
              <a:rPr sz="1400" b="0">
                <a:solidFill>
                  <a:srgbClr val="5B6372"/>
                </a:solidFill>
                <a:latin typeface="Arial"/>
              </a:rPr>
              <a:t>–  TRAQOM Survey · Digital Attendance (Assessment) · Final Assessment (WA + CS)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LO1 · Analyse foundations &amp; risks</a:t>
            </a:r>
          </a:p>
          <a:p>
            <a:pPr algn="l">
              <a:spcAft>
                <a:spcPts val="300"/>
              </a:spcAft>
            </a:pPr>
            <a:r>
              <a:rPr sz="1300" b="0">
                <a:solidFill>
                  <a:srgbClr val="5B6372"/>
                </a:solidFill>
                <a:latin typeface="Arial"/>
              </a:rPr>
              <a:t>Analyse AI security governance foundations and the business risks that AI, generative AI and agentic AI introduce.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LO2 · Evaluate frameworks &amp; build structure</a:t>
            </a:r>
          </a:p>
          <a:p>
            <a:pPr algn="l">
              <a:spcAft>
                <a:spcPts val="300"/>
              </a:spcAft>
            </a:pPr>
            <a:r>
              <a:rPr sz="1300" b="0">
                <a:solidFill>
                  <a:srgbClr val="5B6372"/>
                </a:solidFill>
                <a:latin typeface="Arial"/>
              </a:rPr>
              <a:t>Evaluate AI governance frameworks and build a governance structure of policies, roles, risk ownership and accountability.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LO3 · Develop lifecycle controls</a:t>
            </a:r>
          </a:p>
          <a:p>
            <a:pPr algn="l">
              <a:spcAft>
                <a:spcPts val="300"/>
              </a:spcAft>
            </a:pPr>
            <a:r>
              <a:rPr sz="1300" b="0">
                <a:solidFill>
                  <a:srgbClr val="5B6372"/>
                </a:solidFill>
                <a:latin typeface="Arial"/>
              </a:rPr>
              <a:t>Develop and apply governance controls across the AI lifecycle, from data and development to deployment and decommissioning.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LO4 · Implement agentic controls &amp; roadmap</a:t>
            </a:r>
          </a:p>
          <a:p>
            <a:pPr algn="l">
              <a:spcAft>
                <a:spcPts val="300"/>
              </a:spcAft>
            </a:pPr>
            <a:r>
              <a:rPr sz="1300" b="0">
                <a:solidFill>
                  <a:srgbClr val="5B6372"/>
                </a:solidFill>
                <a:latin typeface="Arial"/>
              </a:rPr>
              <a:t>Implement agentic AI security controls, run an AI risk assessment and produce a prioritised implementation roadmap.</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TOPICS  ·  16 HANDS-ON LABS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01 — AI Security Governance Foundations and Business Risks</a:t>
            </a:r>
          </a:p>
          <a:p>
            <a:pPr algn="l">
              <a:spcAft>
                <a:spcPts val="300"/>
              </a:spcAft>
            </a:pPr>
            <a:r>
              <a:rPr sz="1300" b="0">
                <a:solidFill>
                  <a:srgbClr val="5B6372"/>
                </a:solidFill>
                <a:latin typeface="Arial"/>
              </a:rPr>
              <a:t>Why AI changes the risk picture · the AI threat landscape · GenAI and agentic risk · the business case</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Topic 02 — Building an AI Governance Framework: Policies, Roles and Risk Ownership</a:t>
            </a:r>
          </a:p>
          <a:p>
            <a:pPr algn="l">
              <a:spcAft>
                <a:spcPts val="300"/>
              </a:spcAft>
            </a:pPr>
            <a:r>
              <a:rPr sz="1200" b="0">
                <a:solidFill>
                  <a:srgbClr val="5B6372"/>
                </a:solidFill>
                <a:latin typeface="Arial"/>
              </a:rPr>
              <a:t>NIST AI RMF · MGF for GenAI · PDPA duties · policy architecture · roles, RACI and the AI inventory</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03 — Governance Controls Across the AI Lifecycle</a:t>
            </a:r>
          </a:p>
          <a:p>
            <a:pPr algn="l">
              <a:spcAft>
                <a:spcPts val="300"/>
              </a:spcAft>
            </a:pPr>
            <a:r>
              <a:rPr sz="1100" b="0">
                <a:solidFill>
                  <a:srgbClr val="5B6372"/>
                </a:solidFill>
                <a:latin typeface="Arial"/>
              </a:rPr>
              <a:t>Data governance · secure development · testing and red-teaming · deployment · monitoring · incident response · decommissioning</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04 — Security Controls for Agentic AI, Risk Assessment and Implementation Roadmap</a:t>
            </a:r>
          </a:p>
          <a:p>
            <a:pPr algn="l">
              <a:spcAft>
                <a:spcPts val="300"/>
              </a:spcAft>
            </a:pPr>
            <a:r>
              <a:rPr sz="1100" b="0">
                <a:solidFill>
                  <a:srgbClr val="5B6372"/>
                </a:solidFill>
                <a:latin typeface="Arial"/>
              </a:rPr>
              <a:t>Agentic threat model · identity and least agency · guardrails and sandboxing · CSA agentic RMF profile · risk assessment · roadmap</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START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Clear your desk</a:t>
            </a:r>
          </a:p>
          <a:p>
            <a:pPr algn="l">
              <a:spcAft>
                <a:spcPts val="300"/>
              </a:spcAft>
            </a:pPr>
            <a:r>
              <a:rPr sz="120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recording</a:t>
            </a:r>
          </a:p>
          <a:p>
            <a:pPr algn="l">
              <a:spcAft>
                <a:spcPts val="300"/>
              </a:spcAft>
            </a:pPr>
            <a:r>
              <a:rPr sz="1200" b="0">
                <a:solidFill>
                  <a:srgbClr val="5B6372"/>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discussion</a:t>
            </a:r>
          </a:p>
          <a:p>
            <a:pPr algn="l">
              <a:spcAft>
                <a:spcPts val="300"/>
              </a:spcAft>
            </a:pPr>
            <a:r>
              <a:rPr sz="1200" b="0">
                <a:solidFill>
                  <a:srgbClr val="5B6372"/>
                </a:solidFill>
                <a:latin typeface="Arial"/>
              </a:rPr>
              <a:t>Work individually — 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Black or blue pen</a:t>
            </a:r>
          </a:p>
          <a:p>
            <a:pPr algn="l">
              <a:spcAft>
                <a:spcPts val="300"/>
              </a:spcAft>
            </a:pPr>
            <a:r>
              <a:rPr sz="1200" b="0">
                <a:solidFill>
                  <a:srgbClr val="5B6372"/>
                </a:solidFill>
                <a:latin typeface="Arial"/>
              </a:rPr>
              <a:t>Use a black or 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correction fluid</a:t>
            </a:r>
          </a:p>
          <a:p>
            <a:pPr algn="l">
              <a:spcAft>
                <a:spcPts val="300"/>
              </a:spcAft>
            </a:pPr>
            <a:r>
              <a:rPr sz="1200" b="0">
                <a:solidFill>
                  <a:srgbClr val="5B6372"/>
                </a:solidFill>
                <a:latin typeface="Arial"/>
              </a:rPr>
              <a:t>No liquid paper or correction tape may be used.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Stop on time</a:t>
            </a:r>
          </a:p>
          <a:p>
            <a:pPr algn="l">
              <a:spcAft>
                <a:spcPts val="300"/>
              </a:spcAft>
            </a:pPr>
            <a:r>
              <a:rPr sz="1200" b="0">
                <a:solidFill>
                  <a:srgbClr val="5B6372"/>
                </a:solidFill>
                <a:latin typeface="Arial"/>
              </a:rPr>
              <a:t>Scripts are collected when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Written Assessment (WA)</a:t>
            </a:r>
          </a:p>
          <a:p>
            <a:pPr algn="l">
              <a:spcAft>
                <a:spcPts val="300"/>
              </a:spcAft>
            </a:pPr>
            <a:r>
              <a:rPr sz="1200" b="0">
                <a:solidFill>
                  <a:srgbClr val="5B6372"/>
                </a:solidFill>
                <a:latin typeface="Arial"/>
              </a:rPr>
              <a:t>Short-Answer Questions (SAQ) · 1 hour · open book. Tests the underpinning governance knowledge taught in the slides.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Case Study (CS)</a:t>
            </a:r>
          </a:p>
          <a:p>
            <a:pPr algn="l">
              <a:spcAft>
                <a:spcPts val="300"/>
              </a:spcAft>
            </a:pPr>
            <a:r>
              <a:rPr sz="1200" b="0">
                <a:solidFill>
                  <a:srgbClr val="5B6372"/>
                </a:solidFill>
                <a:latin typeface="Arial"/>
              </a:rPr>
              <a:t>One coherent governance case study · 1 hour · open book. Tests the abilities you built in the labs.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Open book</a:t>
            </a:r>
          </a:p>
          <a:p>
            <a:pPr algn="l">
              <a:spcAft>
                <a:spcPts val="300"/>
              </a:spcAft>
            </a:pPr>
            <a:r>
              <a:rPr sz="1200" b="0">
                <a:solidFill>
                  <a:srgbClr val="5B6372"/>
                </a:solidFill>
                <a:latin typeface="Arial"/>
              </a:rPr>
              <a:t>You may use the course slides, the Learner Guide, your lab outputs and approved materials only.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Eligibility</a:t>
            </a:r>
          </a:p>
          <a:p>
            <a:pPr algn="l">
              <a:spcAft>
                <a:spcPts val="300"/>
              </a:spcAft>
            </a:pPr>
            <a:r>
              <a:rPr sz="1200" b="0">
                <a:solidFill>
                  <a:srgbClr val="5B6372"/>
                </a:solidFill>
                <a:latin typeface="Arial"/>
              </a:rPr>
              <a:t>A minimum of 75% attendance is required to be eligible for assessment and funding.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Result</a:t>
            </a:r>
          </a:p>
          <a:p>
            <a:pPr algn="l">
              <a:spcAft>
                <a:spcPts val="300"/>
              </a:spcAft>
            </a:pPr>
            <a:r>
              <a:rPr sz="1200" b="0">
                <a:solidFill>
                  <a:srgbClr val="5B6372"/>
                </a:solidFill>
                <a:latin typeface="Arial"/>
              </a:rPr>
              <a:t>You are assessed as Competent (C) or Not Yet Competent (NYC) on each instrument.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Appeals</a:t>
            </a:r>
          </a:p>
          <a:p>
            <a:pPr algn="l">
              <a:spcAft>
                <a:spcPts val="300"/>
              </a:spcAft>
            </a:pPr>
            <a:r>
              <a:rPr sz="1200" b="0">
                <a:solidFill>
                  <a:srgbClr val="5B6372"/>
                </a:solidFill>
                <a:latin typeface="Arial"/>
              </a:rPr>
              <a:t>An appeal process is available if you wish to contest an assessment outcome.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TRAQOM survey</a:t>
            </a:r>
          </a:p>
        </p:txBody>
      </p:sp>
      <p:sp>
        <p:nvSpPr>
          <p:cNvPr id="12" name="TextBox 11"/>
          <p:cNvSpPr txBox="1"/>
          <p:nvPr/>
        </p:nvSpPr>
        <p:spPr>
          <a:xfrm>
            <a:off x="850392"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Scan the QR on the LMS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3054096"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Scan the SSG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Sit the WA then the CS</a:t>
            </a:r>
          </a:p>
        </p:txBody>
      </p:sp>
      <p:sp>
        <p:nvSpPr>
          <p:cNvPr id="26" name="TextBox 25"/>
          <p:cNvSpPr txBox="1"/>
          <p:nvPr/>
        </p:nvSpPr>
        <p:spPr>
          <a:xfrm>
            <a:off x="5257800"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Open book · 1 hour each</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61504"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Upload your answers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65208"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Assessment Summary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digital attendance or the TRAQOM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WSQ FUNDING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Attendance</a:t>
            </a:r>
          </a:p>
          <a:p>
            <a:pPr algn="l">
              <a:spcAft>
                <a:spcPts val="300"/>
              </a:spcAft>
            </a:pPr>
            <a:r>
              <a:rPr sz="1300" b="0">
                <a:solidFill>
                  <a:srgbClr val="5B6372"/>
                </a:solidFill>
                <a:latin typeface="Arial"/>
              </a:rPr>
              <a:t>A minimum attendance rate of 75%, based on the SSG Digital Attendance record.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Assessment</a:t>
            </a:r>
          </a:p>
          <a:p>
            <a:pPr algn="l">
              <a:spcAft>
                <a:spcPts val="300"/>
              </a:spcAft>
            </a:pPr>
            <a:r>
              <a:rPr sz="1300" b="0">
                <a:solidFill>
                  <a:srgbClr val="5B6372"/>
                </a:solidFill>
                <a:latin typeface="Arial"/>
              </a:rPr>
              <a:t>Complete both assessment components and be assessed as 'Competent'.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Scan the SSG QR code for AM, PM and Assessment on every training day.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TRAQOM survey</a:t>
            </a:r>
          </a:p>
          <a:p>
            <a:pPr algn="l">
              <a:spcAft>
                <a:spcPts val="300"/>
              </a:spcAft>
            </a:pPr>
            <a:r>
              <a:rPr sz="1300" b="0">
                <a:solidFill>
                  <a:srgbClr val="5B6372"/>
                </a:solidFill>
                <a:latin typeface="Arial"/>
              </a:rPr>
              <a:t>Complete the mandatory TRAQOM course feedback survey on the LMS.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ENVIRONMENT · ALL BROWSER-BASED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Lab Tools You'll 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Cybersecurity Threat Simulator</a:t>
            </a:r>
          </a:p>
          <a:p>
            <a:pPr algn="l">
              <a:spcAft>
                <a:spcPts val="300"/>
              </a:spcAft>
            </a:pPr>
            <a:r>
              <a:rPr sz="1200" b="0">
                <a:solidFill>
                  <a:srgbClr val="5B6372"/>
                </a:solidFill>
                <a:latin typeface="Arial"/>
              </a:rPr>
              <a:t>alfredang.github.io/cybersecuritysimulator — ten threat modules: phishing, XSS, SQL injection, passwords, social engineering, data leakage.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Hacklab — Ethical Hacking Simulator</a:t>
            </a:r>
          </a:p>
          <a:p>
            <a:pPr algn="l">
              <a:spcAft>
                <a:spcPts val="300"/>
              </a:spcAft>
            </a:pPr>
            <a:r>
              <a:rPr sz="1200" b="0">
                <a:solidFill>
                  <a:srgbClr val="5B6372"/>
                </a:solidFill>
                <a:latin typeface="Arial"/>
              </a:rPr>
              <a:t>alfredang.github.io/ethnicalhacking — eleven scripted labs across recon, scanning, enumeration and forensics, in a safe simulated terminal.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FauxBank — Pentest Sandbox</a:t>
            </a:r>
          </a:p>
          <a:p>
            <a:pPr algn="l">
              <a:spcAft>
                <a:spcPts val="300"/>
              </a:spcAft>
            </a:pPr>
            <a:r>
              <a:rPr sz="1200" b="0">
                <a:solidFill>
                  <a:srgbClr val="5B6372"/>
                </a:solidFill>
                <a:latin typeface="Arial"/>
              </a:rPr>
              <a:t>pentest-fauxbank.vercel.app — a fictional bank for guided pentest, a simulated scanner and report generation.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Cryptography Toolkit</a:t>
            </a:r>
          </a:p>
          <a:p>
            <a:pPr algn="l">
              <a:spcAft>
                <a:spcPts val="300"/>
              </a:spcAft>
            </a:pPr>
            <a:r>
              <a:rPr sz="1200" b="0">
                <a:solidFill>
                  <a:srgbClr val="5B6372"/>
                </a:solidFill>
                <a:latin typeface="Arial"/>
              </a:rPr>
              <a:t>alfredang.github.io/cryptography-toolkit — AES, RSA and ECDSA for the data-protection lab.</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All browser-based</a:t>
            </a:r>
          </a:p>
          <a:p>
            <a:pPr algn="l">
              <a:spcAft>
                <a:spcPts val="300"/>
              </a:spcAft>
            </a:pPr>
            <a:r>
              <a:rPr sz="1200" b="0">
                <a:solidFill>
                  <a:srgbClr val="5B6372"/>
                </a:solidFill>
                <a:latin typeface="Arial"/>
              </a:rPr>
              <a:t>Zero install, no real network traffic, fictional data only — safe to run on the training network.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Never against real systems</a:t>
            </a:r>
          </a:p>
          <a:p>
            <a:pPr algn="l">
              <a:spcAft>
                <a:spcPts val="300"/>
              </a:spcAft>
            </a:pPr>
            <a:r>
              <a:rPr sz="1200" b="0">
                <a:solidFill>
                  <a:srgbClr val="5B6372"/>
                </a:solidFill>
                <a:latin typeface="Arial"/>
              </a:rPr>
              <a:t>These techniques are for authorised testing only. Never apply them to a system you do not have written authorisation to test.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ALL BROWSER-BASED · FICTIONAL DATA ONLY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Lab Tools — What You'll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93792" cy="190195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ol-threatsim.png"/>
          <p:cNvPicPr>
            <a:picLocks noChangeAspect="1"/>
          </p:cNvPicPr>
          <p:nvPr/>
        </p:nvPicPr>
        <p:blipFill>
          <a:blip r:embed="rId2"/>
          <a:stretch>
            <a:fillRect/>
          </a:stretch>
        </p:blipFill>
        <p:spPr>
          <a:xfrm>
            <a:off x="905256" y="1920240"/>
            <a:ext cx="2331720" cy="1627632"/>
          </a:xfrm>
          <a:prstGeom prst="rect">
            <a:avLst/>
          </a:prstGeom>
        </p:spPr>
      </p:pic>
      <p:sp>
        <p:nvSpPr>
          <p:cNvPr id="9" name="Rectangle 8"/>
          <p:cNvSpPr/>
          <p:nvPr/>
        </p:nvSpPr>
        <p:spPr>
          <a:xfrm>
            <a:off x="777240" y="1783080"/>
            <a:ext cx="82296" cy="19019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01568" y="2002536"/>
            <a:ext cx="2441448" cy="457200"/>
          </a:xfrm>
          <a:prstGeom prst="rect">
            <a:avLst/>
          </a:prstGeom>
          <a:noFill/>
        </p:spPr>
        <p:txBody>
          <a:bodyPr wrap="square" anchor="t">
            <a:spAutoFit/>
          </a:bodyPr>
          <a:lstStyle/>
          <a:p>
            <a:pPr algn="l">
              <a:spcAft>
                <a:spcPts val="400"/>
              </a:spcAft>
            </a:pPr>
            <a:r>
              <a:rPr sz="1500" b="1">
                <a:solidFill>
                  <a:srgbClr val="161B26"/>
                </a:solidFill>
                <a:latin typeface="Arial"/>
              </a:rPr>
              <a:t>Cybersecurity Threat Simulator</a:t>
            </a:r>
          </a:p>
        </p:txBody>
      </p:sp>
      <p:sp>
        <p:nvSpPr>
          <p:cNvPr id="11" name="TextBox 10"/>
          <p:cNvSpPr txBox="1"/>
          <p:nvPr/>
        </p:nvSpPr>
        <p:spPr>
          <a:xfrm>
            <a:off x="3401568" y="2496312"/>
            <a:ext cx="2441448" cy="1033272"/>
          </a:xfrm>
          <a:prstGeom prst="rect">
            <a:avLst/>
          </a:prstGeom>
          <a:noFill/>
        </p:spPr>
        <p:txBody>
          <a:bodyPr wrap="square" anchor="t">
            <a:spAutoFit/>
          </a:bodyPr>
          <a:lstStyle/>
          <a:p>
            <a:pPr algn="l">
              <a:spcAft>
                <a:spcPts val="400"/>
              </a:spcAft>
            </a:pPr>
            <a:r>
              <a:rPr sz="900" b="0">
                <a:solidFill>
                  <a:srgbClr val="5B6372"/>
                </a:solidFill>
                <a:latin typeface="Arial"/>
              </a:rPr>
              <a:t>Ten threat modules: phishing, SQL injection, XSS, passwords, social engineering and data leakage. Used in Lab 2 (mapping the AI threat landscape).</a:t>
            </a:r>
          </a:p>
        </p:txBody>
      </p:sp>
      <p:sp>
        <p:nvSpPr>
          <p:cNvPr id="12" name="Rectangle 11"/>
          <p:cNvSpPr/>
          <p:nvPr/>
        </p:nvSpPr>
        <p:spPr>
          <a:xfrm>
            <a:off x="6217920" y="1783080"/>
            <a:ext cx="5193792" cy="190195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tool-fauxbank.png"/>
          <p:cNvPicPr>
            <a:picLocks noChangeAspect="1"/>
          </p:cNvPicPr>
          <p:nvPr/>
        </p:nvPicPr>
        <p:blipFill>
          <a:blip r:embed="rId3"/>
          <a:stretch>
            <a:fillRect/>
          </a:stretch>
        </p:blipFill>
        <p:spPr>
          <a:xfrm>
            <a:off x="6345936" y="1920240"/>
            <a:ext cx="2331720" cy="1627632"/>
          </a:xfrm>
          <a:prstGeom prst="rect">
            <a:avLst/>
          </a:prstGeom>
        </p:spPr>
      </p:pic>
      <p:sp>
        <p:nvSpPr>
          <p:cNvPr id="14" name="Rectangle 13"/>
          <p:cNvSpPr/>
          <p:nvPr/>
        </p:nvSpPr>
        <p:spPr>
          <a:xfrm>
            <a:off x="6217920" y="1783080"/>
            <a:ext cx="82296" cy="19019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42248" y="2002536"/>
            <a:ext cx="2441448" cy="457200"/>
          </a:xfrm>
          <a:prstGeom prst="rect">
            <a:avLst/>
          </a:prstGeom>
          <a:noFill/>
        </p:spPr>
        <p:txBody>
          <a:bodyPr wrap="square" anchor="t">
            <a:spAutoFit/>
          </a:bodyPr>
          <a:lstStyle/>
          <a:p>
            <a:pPr algn="l">
              <a:spcAft>
                <a:spcPts val="400"/>
              </a:spcAft>
            </a:pPr>
            <a:r>
              <a:rPr sz="1500" b="1">
                <a:solidFill>
                  <a:srgbClr val="161B26"/>
                </a:solidFill>
                <a:latin typeface="Arial"/>
              </a:rPr>
              <a:t>FauxBank Pentest Sandbox</a:t>
            </a:r>
          </a:p>
        </p:txBody>
      </p:sp>
      <p:sp>
        <p:nvSpPr>
          <p:cNvPr id="16" name="TextBox 15"/>
          <p:cNvSpPr txBox="1"/>
          <p:nvPr/>
        </p:nvSpPr>
        <p:spPr>
          <a:xfrm>
            <a:off x="8842248" y="2496312"/>
            <a:ext cx="2441448" cy="1033272"/>
          </a:xfrm>
          <a:prstGeom prst="rect">
            <a:avLst/>
          </a:prstGeom>
          <a:noFill/>
        </p:spPr>
        <p:txBody>
          <a:bodyPr wrap="square" anchor="t">
            <a:spAutoFit/>
          </a:bodyPr>
          <a:lstStyle/>
          <a:p>
            <a:pPr algn="l">
              <a:spcAft>
                <a:spcPts val="400"/>
              </a:spcAft>
            </a:pPr>
            <a:r>
              <a:rPr sz="900" b="0">
                <a:solidFill>
                  <a:srgbClr val="5B6372"/>
                </a:solidFill>
                <a:latin typeface="Arial"/>
              </a:rPr>
              <a:t>A fictional bank for guided pentest — IDOR, injection and broken access control — with a simulated scanner and report generation. Used in Lab 10 (pre-deployment red team).</a:t>
            </a:r>
          </a:p>
        </p:txBody>
      </p:sp>
      <p:sp>
        <p:nvSpPr>
          <p:cNvPr id="17" name="Rectangle 16"/>
          <p:cNvSpPr/>
          <p:nvPr/>
        </p:nvSpPr>
        <p:spPr>
          <a:xfrm>
            <a:off x="777240" y="3867912"/>
            <a:ext cx="5193792" cy="190195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ool-hacklab.png"/>
          <p:cNvPicPr>
            <a:picLocks noChangeAspect="1"/>
          </p:cNvPicPr>
          <p:nvPr/>
        </p:nvPicPr>
        <p:blipFill>
          <a:blip r:embed="rId4"/>
          <a:stretch>
            <a:fillRect/>
          </a:stretch>
        </p:blipFill>
        <p:spPr>
          <a:xfrm>
            <a:off x="905256" y="4005072"/>
            <a:ext cx="2331720" cy="1627632"/>
          </a:xfrm>
          <a:prstGeom prst="rect">
            <a:avLst/>
          </a:prstGeom>
        </p:spPr>
      </p:pic>
      <p:sp>
        <p:nvSpPr>
          <p:cNvPr id="19" name="Rectangle 18"/>
          <p:cNvSpPr/>
          <p:nvPr/>
        </p:nvSpPr>
        <p:spPr>
          <a:xfrm>
            <a:off x="777240" y="3867912"/>
            <a:ext cx="82296" cy="19019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01568" y="4087368"/>
            <a:ext cx="2441448" cy="457200"/>
          </a:xfrm>
          <a:prstGeom prst="rect">
            <a:avLst/>
          </a:prstGeom>
          <a:noFill/>
        </p:spPr>
        <p:txBody>
          <a:bodyPr wrap="square" anchor="t">
            <a:spAutoFit/>
          </a:bodyPr>
          <a:lstStyle/>
          <a:p>
            <a:pPr algn="l">
              <a:spcAft>
                <a:spcPts val="400"/>
              </a:spcAft>
            </a:pPr>
            <a:r>
              <a:rPr sz="1500" b="1">
                <a:solidFill>
                  <a:srgbClr val="161B26"/>
                </a:solidFill>
                <a:latin typeface="Arial"/>
              </a:rPr>
              <a:t>Hacklab Ethical Hacking Simulator</a:t>
            </a:r>
          </a:p>
        </p:txBody>
      </p:sp>
      <p:sp>
        <p:nvSpPr>
          <p:cNvPr id="21" name="TextBox 20"/>
          <p:cNvSpPr txBox="1"/>
          <p:nvPr/>
        </p:nvSpPr>
        <p:spPr>
          <a:xfrm>
            <a:off x="3401568" y="4581144"/>
            <a:ext cx="2441448" cy="1033272"/>
          </a:xfrm>
          <a:prstGeom prst="rect">
            <a:avLst/>
          </a:prstGeom>
          <a:noFill/>
        </p:spPr>
        <p:txBody>
          <a:bodyPr wrap="square" anchor="t">
            <a:spAutoFit/>
          </a:bodyPr>
          <a:lstStyle/>
          <a:p>
            <a:pPr algn="l">
              <a:spcAft>
                <a:spcPts val="400"/>
              </a:spcAft>
            </a:pPr>
            <a:r>
              <a:rPr sz="900" b="0">
                <a:solidFill>
                  <a:srgbClr val="5B6372"/>
                </a:solidFill>
                <a:latin typeface="Arial"/>
              </a:rPr>
              <a:t>Eleven scripted labs across recon, scanning, enumeration and forensics in a safe simulated terminal. Used in Lab 10 (reconnaissance stage).</a:t>
            </a:r>
          </a:p>
        </p:txBody>
      </p:sp>
      <p:sp>
        <p:nvSpPr>
          <p:cNvPr id="22" name="Rectangle 21"/>
          <p:cNvSpPr/>
          <p:nvPr/>
        </p:nvSpPr>
        <p:spPr>
          <a:xfrm>
            <a:off x="6217920" y="3867912"/>
            <a:ext cx="5193792" cy="190195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tool-crypto.png"/>
          <p:cNvPicPr>
            <a:picLocks noChangeAspect="1"/>
          </p:cNvPicPr>
          <p:nvPr/>
        </p:nvPicPr>
        <p:blipFill>
          <a:blip r:embed="rId5"/>
          <a:stretch>
            <a:fillRect/>
          </a:stretch>
        </p:blipFill>
        <p:spPr>
          <a:xfrm>
            <a:off x="6345936" y="4005072"/>
            <a:ext cx="2331720" cy="1627632"/>
          </a:xfrm>
          <a:prstGeom prst="rect">
            <a:avLst/>
          </a:prstGeom>
        </p:spPr>
      </p:pic>
      <p:sp>
        <p:nvSpPr>
          <p:cNvPr id="24" name="Rectangle 23"/>
          <p:cNvSpPr/>
          <p:nvPr/>
        </p:nvSpPr>
        <p:spPr>
          <a:xfrm>
            <a:off x="6217920" y="3867912"/>
            <a:ext cx="82296" cy="19019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42248" y="4087368"/>
            <a:ext cx="2441448" cy="457200"/>
          </a:xfrm>
          <a:prstGeom prst="rect">
            <a:avLst/>
          </a:prstGeom>
          <a:noFill/>
        </p:spPr>
        <p:txBody>
          <a:bodyPr wrap="square" anchor="t">
            <a:spAutoFit/>
          </a:bodyPr>
          <a:lstStyle/>
          <a:p>
            <a:pPr algn="l">
              <a:spcAft>
                <a:spcPts val="400"/>
              </a:spcAft>
            </a:pPr>
            <a:r>
              <a:rPr sz="1500" b="1">
                <a:solidFill>
                  <a:srgbClr val="161B26"/>
                </a:solidFill>
                <a:latin typeface="Arial"/>
              </a:rPr>
              <a:t>Cryptography Toolkit</a:t>
            </a:r>
          </a:p>
        </p:txBody>
      </p:sp>
      <p:sp>
        <p:nvSpPr>
          <p:cNvPr id="26" name="TextBox 25"/>
          <p:cNvSpPr txBox="1"/>
          <p:nvPr/>
        </p:nvSpPr>
        <p:spPr>
          <a:xfrm>
            <a:off x="8842248" y="4581144"/>
            <a:ext cx="2441448" cy="1033272"/>
          </a:xfrm>
          <a:prstGeom prst="rect">
            <a:avLst/>
          </a:prstGeom>
          <a:noFill/>
        </p:spPr>
        <p:txBody>
          <a:bodyPr wrap="square" anchor="t">
            <a:spAutoFit/>
          </a:bodyPr>
          <a:lstStyle/>
          <a:p>
            <a:pPr algn="l">
              <a:spcAft>
                <a:spcPts val="400"/>
              </a:spcAft>
            </a:pPr>
            <a:r>
              <a:rPr sz="1100" b="0">
                <a:solidFill>
                  <a:srgbClr val="5B6372"/>
                </a:solidFill>
                <a:latin typeface="Arial"/>
              </a:rPr>
              <a:t>AES, RSA and ECDSA — encryption, key generation and digital signatures. Used in Lab 9 (governing the training data).</a:t>
            </a:r>
          </a:p>
        </p:txBody>
      </p:sp>
      <p:sp>
        <p:nvSpPr>
          <p:cNvPr id="27" name="Rectangle 26"/>
          <p:cNvSpPr/>
          <p:nvPr/>
        </p:nvSpPr>
        <p:spPr>
          <a:xfrm>
            <a:off x="777240" y="5806440"/>
            <a:ext cx="10634472"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806440"/>
            <a:ext cx="82296" cy="5120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4128" y="5843016"/>
            <a:ext cx="10241280" cy="438912"/>
          </a:xfrm>
          <a:prstGeom prst="rect">
            <a:avLst/>
          </a:prstGeom>
          <a:noFill/>
        </p:spPr>
        <p:txBody>
          <a:bodyPr wrap="square" anchor="ctr">
            <a:spAutoFit/>
          </a:bodyPr>
          <a:lstStyle/>
          <a:p>
            <a:pPr algn="l">
              <a:spcAft>
                <a:spcPts val="400"/>
              </a:spcAft>
            </a:pPr>
            <a:r>
              <a:rPr sz="1000" b="0">
                <a:solidFill>
                  <a:srgbClr val="161B26"/>
                </a:solidFill>
                <a:latin typeface="Arial"/>
              </a:rPr>
              <a:t>No installation and no real network traffic. These techniques are for authorised testing only — never apply them to a system you do not have written authorisation to test.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CASE STUDY · NOVABANK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Running Case Study — NovaBank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One organisation, sixteen labs</a:t>
            </a:r>
          </a:p>
          <a:p>
            <a:pPr algn="l">
              <a:spcAft>
                <a:spcPts val="300"/>
              </a:spcAft>
            </a:pPr>
            <a:r>
              <a:rPr sz="1200" b="0">
                <a:solidFill>
                  <a:srgbClr val="5B6372"/>
                </a:solidFill>
                <a:latin typeface="Arial"/>
              </a:rPr>
              <a:t>Every lab builds on the last for the same fictional Singapore retail bank, so your outputs compose into one governance programme.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Day 1 · Discover and frame</a:t>
            </a:r>
          </a:p>
          <a:p>
            <a:pPr algn="l">
              <a:spcAft>
                <a:spcPts val="300"/>
              </a:spcAft>
            </a:pPr>
            <a:r>
              <a:rPr sz="1200" b="0">
                <a:solidFill>
                  <a:srgbClr val="5B6372"/>
                </a:solidFill>
                <a:latin typeface="Arial"/>
              </a:rPr>
              <a:t>You inventory the AI estate, map the threats, analyse an agent design and build the business case.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Day 1 · Build the framework</a:t>
            </a:r>
          </a:p>
          <a:p>
            <a:pPr algn="l">
              <a:spcAft>
                <a:spcPts val="300"/>
              </a:spcAft>
            </a:pPr>
            <a:r>
              <a:rPr sz="1200" b="0">
                <a:solidFill>
                  <a:srgbClr val="5B6372"/>
                </a:solidFill>
                <a:latin typeface="Arial"/>
              </a:rPr>
              <a:t>You run a NIST gap assessment, draft the policy set, design the operating model and apply the PDPA.</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Day 2 · Control the lifecycle</a:t>
            </a:r>
          </a:p>
          <a:p>
            <a:pPr algn="l">
              <a:spcAft>
                <a:spcPts val="300"/>
              </a:spcAft>
            </a:pPr>
            <a:r>
              <a:rPr sz="1200" b="0">
                <a:solidFill>
                  <a:srgbClr val="5B6372"/>
                </a:solidFill>
                <a:latin typeface="Arial"/>
              </a:rPr>
              <a:t>You govern the data, red-team the system, design deployment gates and monitoring, and run an incident.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Day 2 · Secure the agents</a:t>
            </a:r>
          </a:p>
          <a:p>
            <a:pPr algn="l">
              <a:spcAft>
                <a:spcPts val="300"/>
              </a:spcAft>
            </a:pPr>
            <a:r>
              <a:rPr sz="1200" b="0">
                <a:solidFill>
                  <a:srgbClr val="5B6372"/>
                </a:solidFill>
                <a:latin typeface="Arial"/>
              </a:rPr>
              <a:t>You design the agentic control stack, apply the CSA agentic profile, assess risk and build the roadmap.</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You leave with artefacts</a:t>
            </a:r>
          </a:p>
          <a:p>
            <a:pPr algn="l">
              <a:spcAft>
                <a:spcPts val="300"/>
              </a:spcAft>
            </a:pPr>
            <a:r>
              <a:rPr sz="1200" b="0">
                <a:solidFill>
                  <a:srgbClr val="5B6372"/>
                </a:solidFill>
                <a:latin typeface="Arial"/>
              </a:rPr>
              <a:t>An inventory, a policy set, a RACI, a risk assessment and a 12-month roadmap you can adapt to your own organisation.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17320"/>
          </a:xfrm>
          <a:prstGeom prst="rect">
            <a:avLst/>
          </a:prstGeom>
          <a:noFill/>
        </p:spPr>
        <p:txBody>
          <a:bodyPr wrap="square" anchor="t">
            <a:spAutoFit/>
          </a:bodyPr>
          <a:lstStyle/>
          <a:p>
            <a:pPr algn="l">
              <a:spcAft>
                <a:spcPts val="400"/>
              </a:spcAft>
            </a:pPr>
            <a:r>
              <a:rPr sz="4000" b="1">
                <a:solidFill>
                  <a:srgbClr val="161B26"/>
                </a:solidFill>
                <a:latin typeface="Arial"/>
              </a:rPr>
              <a:t>Why AI Changes the Security and Governance Picture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advClick="1">
    <p:push dir="l"/>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SHIFT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Security governance asks 'is the system protected?'</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AI security governance also asks: where did the data come from, what did the model learn, who decided, can we explain it — and what is the agent allowed to do on its own?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DEFINITION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Is AI Security Governance?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 system, not a document</a:t>
            </a:r>
          </a:p>
          <a:p>
            <a:pPr algn="l">
              <a:spcAft>
                <a:spcPts val="300"/>
              </a:spcAft>
            </a:pPr>
            <a:r>
              <a:rPr sz="1300" b="0">
                <a:solidFill>
                  <a:srgbClr val="5B6372"/>
                </a:solidFill>
                <a:latin typeface="Arial"/>
              </a:rPr>
              <a:t>The policies, roles, controls and evidence that keep AI systems secure, lawful and accountable across their whole life.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Built on what you have</a:t>
            </a:r>
          </a:p>
          <a:p>
            <a:pPr algn="l">
              <a:spcAft>
                <a:spcPts val="300"/>
              </a:spcAft>
            </a:pPr>
            <a:r>
              <a:rPr sz="1300" b="0">
                <a:solidFill>
                  <a:srgbClr val="5B6372"/>
                </a:solidFill>
                <a:latin typeface="Arial"/>
              </a:rPr>
              <a:t>It extends information-security and data-protection governance — it does not replace them, and building it in parallel is a known failure mode.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questions it must answer</a:t>
            </a:r>
          </a:p>
          <a:p>
            <a:pPr algn="l">
              <a:spcAft>
                <a:spcPts val="300"/>
              </a:spcAft>
            </a:pPr>
            <a:r>
              <a:rPr sz="1300" b="0">
                <a:solidFill>
                  <a:srgbClr val="5B6372"/>
                </a:solidFill>
                <a:latin typeface="Arial"/>
              </a:rPr>
              <a:t>What AI do we run? Who is accountable for each system? What happens when one of them behaves badly?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Evidence is the output</a:t>
            </a:r>
          </a:p>
          <a:p>
            <a:pPr algn="l">
              <a:spcAft>
                <a:spcPts val="300"/>
              </a:spcAft>
            </a:pPr>
            <a:r>
              <a:rPr sz="1300" b="0">
                <a:solidFill>
                  <a:srgbClr val="5B6372"/>
                </a:solidFill>
                <a:latin typeface="Arial"/>
              </a:rPr>
              <a:t>Governance that cannot produce evidence to a regulator, an auditor or a customer is not governance — it is intention.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WHY THE OLD MODEL DOES NOT FIT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Traditional IT Governance vs AI Security Governance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Dimension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Traditional IT system</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AI system</a:t>
            </a:r>
          </a:p>
        </p:txBody>
      </p:sp>
      <p:sp>
        <p:nvSpPr>
          <p:cNvPr id="13" name="Rectangle 12"/>
          <p:cNvSpPr/>
          <p:nvPr/>
        </p:nvSpPr>
        <p:spPr>
          <a:xfrm>
            <a:off x="777240" y="2258568"/>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Behaviour</a:t>
            </a:r>
          </a:p>
        </p:txBody>
      </p:sp>
      <p:sp>
        <p:nvSpPr>
          <p:cNvPr id="15" name="Rectangle 14"/>
          <p:cNvSpPr/>
          <p:nvPr/>
        </p:nvSpPr>
        <p:spPr>
          <a:xfrm>
            <a:off x="3542202" y="2258568"/>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Deterministic — same input, same output</a:t>
            </a:r>
          </a:p>
        </p:txBody>
      </p:sp>
      <p:sp>
        <p:nvSpPr>
          <p:cNvPr id="17" name="Rectangle 16"/>
          <p:cNvSpPr/>
          <p:nvPr/>
        </p:nvSpPr>
        <p:spPr>
          <a:xfrm>
            <a:off x="7476957" y="2258568"/>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14092"/>
          </a:xfrm>
          <a:prstGeom prst="rect">
            <a:avLst/>
          </a:prstGeom>
          <a:noFill/>
        </p:spPr>
        <p:txBody>
          <a:bodyPr wrap="square" anchor="ctr">
            <a:spAutoFit/>
          </a:bodyPr>
          <a:lstStyle/>
          <a:p>
            <a:pPr algn="l">
              <a:spcAft>
                <a:spcPts val="400"/>
              </a:spcAft>
            </a:pPr>
            <a:r>
              <a:rPr sz="950" b="0">
                <a:solidFill>
                  <a:srgbClr val="5B6372"/>
                </a:solidFill>
                <a:latin typeface="Arial"/>
              </a:rPr>
              <a:t>Probabilistic — the same input can produce different output</a:t>
            </a:r>
          </a:p>
        </p:txBody>
      </p:sp>
      <p:sp>
        <p:nvSpPr>
          <p:cNvPr id="19" name="Rectangle 18"/>
          <p:cNvSpPr/>
          <p:nvPr/>
        </p:nvSpPr>
        <p:spPr>
          <a:xfrm>
            <a:off x="777240" y="2672660"/>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672660"/>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Attack surface</a:t>
            </a:r>
          </a:p>
        </p:txBody>
      </p:sp>
      <p:sp>
        <p:nvSpPr>
          <p:cNvPr id="21" name="Rectangle 20"/>
          <p:cNvSpPr/>
          <p:nvPr/>
        </p:nvSpPr>
        <p:spPr>
          <a:xfrm>
            <a:off x="3542202" y="2672660"/>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67266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Code, config, infrastructure, credentials</a:t>
            </a:r>
          </a:p>
        </p:txBody>
      </p:sp>
      <p:sp>
        <p:nvSpPr>
          <p:cNvPr id="23" name="Rectangle 22"/>
          <p:cNvSpPr/>
          <p:nvPr/>
        </p:nvSpPr>
        <p:spPr>
          <a:xfrm>
            <a:off x="7476957" y="2672660"/>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672660"/>
            <a:ext cx="3678723" cy="414092"/>
          </a:xfrm>
          <a:prstGeom prst="rect">
            <a:avLst/>
          </a:prstGeom>
          <a:noFill/>
        </p:spPr>
        <p:txBody>
          <a:bodyPr wrap="square" anchor="ctr">
            <a:spAutoFit/>
          </a:bodyPr>
          <a:lstStyle/>
          <a:p>
            <a:pPr algn="l">
              <a:spcAft>
                <a:spcPts val="400"/>
              </a:spcAft>
            </a:pPr>
            <a:r>
              <a:rPr sz="950" b="0">
                <a:solidFill>
                  <a:srgbClr val="5B6372"/>
                </a:solidFill>
                <a:latin typeface="Arial"/>
              </a:rPr>
              <a:t>Plus training data, model, prompts, context and tools</a:t>
            </a:r>
          </a:p>
        </p:txBody>
      </p:sp>
      <p:sp>
        <p:nvSpPr>
          <p:cNvPr id="25" name="Rectangle 24"/>
          <p:cNvSpPr/>
          <p:nvPr/>
        </p:nvSpPr>
        <p:spPr>
          <a:xfrm>
            <a:off x="777240" y="3086752"/>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086752"/>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Change control</a:t>
            </a:r>
          </a:p>
        </p:txBody>
      </p:sp>
      <p:sp>
        <p:nvSpPr>
          <p:cNvPr id="27" name="Rectangle 26"/>
          <p:cNvSpPr/>
          <p:nvPr/>
        </p:nvSpPr>
        <p:spPr>
          <a:xfrm>
            <a:off x="3542202" y="3086752"/>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086752"/>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Releases go through CAB</a:t>
            </a:r>
          </a:p>
        </p:txBody>
      </p:sp>
      <p:sp>
        <p:nvSpPr>
          <p:cNvPr id="29" name="Rectangle 28"/>
          <p:cNvSpPr/>
          <p:nvPr/>
        </p:nvSpPr>
        <p:spPr>
          <a:xfrm>
            <a:off x="7476957" y="3086752"/>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086752"/>
            <a:ext cx="3678723" cy="414092"/>
          </a:xfrm>
          <a:prstGeom prst="rect">
            <a:avLst/>
          </a:prstGeom>
          <a:noFill/>
        </p:spPr>
        <p:txBody>
          <a:bodyPr wrap="square" anchor="ctr">
            <a:spAutoFit/>
          </a:bodyPr>
          <a:lstStyle/>
          <a:p>
            <a:pPr algn="l">
              <a:spcAft>
                <a:spcPts val="400"/>
              </a:spcAft>
            </a:pPr>
            <a:r>
              <a:rPr sz="950" b="0">
                <a:solidFill>
                  <a:srgbClr val="5B6372"/>
                </a:solidFill>
                <a:latin typeface="Arial"/>
              </a:rPr>
              <a:t>Model, prompt and retrieval changes often bypass CAB entirely</a:t>
            </a:r>
          </a:p>
        </p:txBody>
      </p:sp>
      <p:sp>
        <p:nvSpPr>
          <p:cNvPr id="31" name="Rectangle 30"/>
          <p:cNvSpPr/>
          <p:nvPr/>
        </p:nvSpPr>
        <p:spPr>
          <a:xfrm>
            <a:off x="777240" y="3500844"/>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500844"/>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Failure mode</a:t>
            </a:r>
          </a:p>
        </p:txBody>
      </p:sp>
      <p:sp>
        <p:nvSpPr>
          <p:cNvPr id="33" name="Rectangle 32"/>
          <p:cNvSpPr/>
          <p:nvPr/>
        </p:nvSpPr>
        <p:spPr>
          <a:xfrm>
            <a:off x="3542202" y="3500844"/>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500844"/>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It crashes or returns an error</a:t>
            </a:r>
          </a:p>
        </p:txBody>
      </p:sp>
      <p:sp>
        <p:nvSpPr>
          <p:cNvPr id="35" name="Rectangle 34"/>
          <p:cNvSpPr/>
          <p:nvPr/>
        </p:nvSpPr>
        <p:spPr>
          <a:xfrm>
            <a:off x="7476957" y="3500844"/>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500844"/>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It answers confidently and incorrectly</a:t>
            </a:r>
          </a:p>
        </p:txBody>
      </p:sp>
      <p:sp>
        <p:nvSpPr>
          <p:cNvPr id="37" name="Rectangle 36"/>
          <p:cNvSpPr/>
          <p:nvPr/>
        </p:nvSpPr>
        <p:spPr>
          <a:xfrm>
            <a:off x="777240" y="3914936"/>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3914936"/>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Explainability</a:t>
            </a:r>
          </a:p>
        </p:txBody>
      </p:sp>
      <p:sp>
        <p:nvSpPr>
          <p:cNvPr id="39" name="Rectangle 38"/>
          <p:cNvSpPr/>
          <p:nvPr/>
        </p:nvSpPr>
        <p:spPr>
          <a:xfrm>
            <a:off x="3542202" y="3914936"/>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3914936"/>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Read the code</a:t>
            </a:r>
          </a:p>
        </p:txBody>
      </p:sp>
      <p:sp>
        <p:nvSpPr>
          <p:cNvPr id="41" name="Rectangle 40"/>
          <p:cNvSpPr/>
          <p:nvPr/>
        </p:nvSpPr>
        <p:spPr>
          <a:xfrm>
            <a:off x="7476957" y="3914936"/>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3914936"/>
            <a:ext cx="3678723" cy="414092"/>
          </a:xfrm>
          <a:prstGeom prst="rect">
            <a:avLst/>
          </a:prstGeom>
          <a:noFill/>
        </p:spPr>
        <p:txBody>
          <a:bodyPr wrap="square" anchor="ctr">
            <a:spAutoFit/>
          </a:bodyPr>
          <a:lstStyle/>
          <a:p>
            <a:pPr algn="l">
              <a:spcAft>
                <a:spcPts val="400"/>
              </a:spcAft>
            </a:pPr>
            <a:r>
              <a:rPr sz="1050" b="0">
                <a:solidFill>
                  <a:srgbClr val="5B6372"/>
                </a:solidFill>
                <a:latin typeface="Arial"/>
              </a:rPr>
              <a:t>May require dedicated explainability technique</a:t>
            </a:r>
          </a:p>
        </p:txBody>
      </p:sp>
      <p:sp>
        <p:nvSpPr>
          <p:cNvPr id="43" name="Rectangle 42"/>
          <p:cNvSpPr/>
          <p:nvPr/>
        </p:nvSpPr>
        <p:spPr>
          <a:xfrm>
            <a:off x="777240" y="4329028"/>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329028"/>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Testing</a:t>
            </a:r>
          </a:p>
        </p:txBody>
      </p:sp>
      <p:sp>
        <p:nvSpPr>
          <p:cNvPr id="45" name="Rectangle 44"/>
          <p:cNvSpPr/>
          <p:nvPr/>
        </p:nvSpPr>
        <p:spPr>
          <a:xfrm>
            <a:off x="3542202" y="4329028"/>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32902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Does it meet the spec?</a:t>
            </a:r>
          </a:p>
        </p:txBody>
      </p:sp>
      <p:sp>
        <p:nvSpPr>
          <p:cNvPr id="47" name="Rectangle 46"/>
          <p:cNvSpPr/>
          <p:nvPr/>
        </p:nvSpPr>
        <p:spPr>
          <a:xfrm>
            <a:off x="7476957" y="4329028"/>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329028"/>
            <a:ext cx="3678723" cy="414092"/>
          </a:xfrm>
          <a:prstGeom prst="rect">
            <a:avLst/>
          </a:prstGeom>
          <a:noFill/>
        </p:spPr>
        <p:txBody>
          <a:bodyPr wrap="square" anchor="ctr">
            <a:spAutoFit/>
          </a:bodyPr>
          <a:lstStyle/>
          <a:p>
            <a:pPr algn="l">
              <a:spcAft>
                <a:spcPts val="400"/>
              </a:spcAft>
            </a:pPr>
            <a:r>
              <a:rPr sz="950" b="0">
                <a:solidFill>
                  <a:srgbClr val="5B6372"/>
                </a:solidFill>
                <a:latin typeface="Arial"/>
              </a:rPr>
              <a:t>Plus: is it fair, robust, private, and jailbreak-resistant?</a:t>
            </a:r>
          </a:p>
        </p:txBody>
      </p:sp>
      <p:sp>
        <p:nvSpPr>
          <p:cNvPr id="49" name="Rectangle 48"/>
          <p:cNvSpPr/>
          <p:nvPr/>
        </p:nvSpPr>
        <p:spPr>
          <a:xfrm>
            <a:off x="777240" y="4743120"/>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05256" y="4743120"/>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Autonomy</a:t>
            </a:r>
          </a:p>
        </p:txBody>
      </p:sp>
      <p:sp>
        <p:nvSpPr>
          <p:cNvPr id="51" name="Rectangle 50"/>
          <p:cNvSpPr/>
          <p:nvPr/>
        </p:nvSpPr>
        <p:spPr>
          <a:xfrm>
            <a:off x="3542202" y="4743120"/>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70218" y="474312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None — it does what it is told</a:t>
            </a:r>
          </a:p>
        </p:txBody>
      </p:sp>
      <p:sp>
        <p:nvSpPr>
          <p:cNvPr id="53" name="Rectangle 52"/>
          <p:cNvSpPr/>
          <p:nvPr/>
        </p:nvSpPr>
        <p:spPr>
          <a:xfrm>
            <a:off x="7476957" y="4743120"/>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04973" y="474312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An agent decides what to do next, and acts</a:t>
            </a:r>
          </a:p>
        </p:txBody>
      </p:sp>
      <p:sp>
        <p:nvSpPr>
          <p:cNvPr id="55" name="Rectangle 54"/>
          <p:cNvSpPr/>
          <p:nvPr/>
        </p:nvSpPr>
        <p:spPr>
          <a:xfrm>
            <a:off x="777240" y="535838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0"/>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8"/>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Every row on the right is a control gap in an organisation that has only classical IT governance — which is most organisations.</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LO1 · THE EXPANDED ATTACK SURFACE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Five New Assets You Must Protect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 · Training and fine-tuning data</a:t>
            </a:r>
          </a:p>
          <a:p>
            <a:pPr algn="l">
              <a:spcAft>
                <a:spcPts val="300"/>
              </a:spcAft>
            </a:pPr>
            <a:r>
              <a:rPr sz="1200" b="0">
                <a:solidFill>
                  <a:srgbClr val="5B6372"/>
                </a:solidFill>
                <a:latin typeface="Arial"/>
              </a:rPr>
              <a:t>Poisoned or unlawfully sourced data becomes permanent model behaviour. Provenance matters before training, not after.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 · The model itself</a:t>
            </a:r>
          </a:p>
          <a:p>
            <a:pPr algn="l">
              <a:spcAft>
                <a:spcPts val="300"/>
              </a:spcAft>
            </a:pPr>
            <a:r>
              <a:rPr sz="1200" b="0">
                <a:solidFill>
                  <a:srgbClr val="5B6372"/>
                </a:solidFill>
                <a:latin typeface="Arial"/>
              </a:rPr>
              <a:t>Weights are intellectual property and can be stolen, extracted or inverted to reveal training data.</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 · Prompts and context</a:t>
            </a:r>
          </a:p>
          <a:p>
            <a:pPr algn="l">
              <a:spcAft>
                <a:spcPts val="300"/>
              </a:spcAft>
            </a:pPr>
            <a:r>
              <a:rPr sz="1200" b="0">
                <a:solidFill>
                  <a:srgbClr val="5B6372"/>
                </a:solidFill>
                <a:latin typeface="Arial"/>
              </a:rPr>
              <a:t>The system prompt is a security control. Whatever enters the context window can influence behaviour.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 · The inference endpoint</a:t>
            </a:r>
          </a:p>
          <a:p>
            <a:pPr algn="l">
              <a:spcAft>
                <a:spcPts val="300"/>
              </a:spcAft>
            </a:pPr>
            <a:r>
              <a:rPr sz="1200" b="0">
                <a:solidFill>
                  <a:srgbClr val="5B6372"/>
                </a:solidFill>
                <a:latin typeface="Arial"/>
              </a:rPr>
              <a:t>An unauthenticated or over-permissive endpoint is an open door with a very large blast radius.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 · The tools an agent can call</a:t>
            </a:r>
          </a:p>
          <a:p>
            <a:pPr algn="l">
              <a:spcAft>
                <a:spcPts val="300"/>
              </a:spcAft>
            </a:pPr>
            <a:r>
              <a:rPr sz="1200" b="0">
                <a:solidFill>
                  <a:srgbClr val="5B6372"/>
                </a:solidFill>
                <a:latin typeface="Arial"/>
              </a:rPr>
              <a:t>This is the one most organisations miss. The agent's risk is set by what its tools can do, not by what the model says.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Plus the humans</a:t>
            </a:r>
          </a:p>
          <a:p>
            <a:pPr algn="l">
              <a:spcAft>
                <a:spcPts val="300"/>
              </a:spcAft>
            </a:pPr>
            <a:r>
              <a:rPr sz="1200" b="0">
                <a:solidFill>
                  <a:srgbClr val="5B6372"/>
                </a:solidFill>
                <a:latin typeface="Arial"/>
              </a:rPr>
              <a:t>Over-reliance on confident output is a control failure, not a user error — design the human check deliberately.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LO1 · MAPPING WHAT YOU ALREADY KNOW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Traditional Threats and Their AI-Era Variants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Traditional threat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AI-era variant</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What changes</a:t>
            </a:r>
          </a:p>
        </p:txBody>
      </p:sp>
      <p:sp>
        <p:nvSpPr>
          <p:cNvPr id="13" name="Rectangle 12"/>
          <p:cNvSpPr/>
          <p:nvPr/>
        </p:nvSpPr>
        <p:spPr>
          <a:xfrm>
            <a:off x="777240" y="2258568"/>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Phishing</a:t>
            </a:r>
          </a:p>
        </p:txBody>
      </p:sp>
      <p:sp>
        <p:nvSpPr>
          <p:cNvPr id="15" name="Rectangle 14"/>
          <p:cNvSpPr/>
          <p:nvPr/>
        </p:nvSpPr>
        <p:spPr>
          <a:xfrm>
            <a:off x="3542202" y="2258568"/>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GenAI spear-phishing and deepfakes</a:t>
            </a:r>
          </a:p>
        </p:txBody>
      </p:sp>
      <p:sp>
        <p:nvSpPr>
          <p:cNvPr id="17" name="Rectangle 16"/>
          <p:cNvSpPr/>
          <p:nvPr/>
        </p:nvSpPr>
        <p:spPr>
          <a:xfrm>
            <a:off x="7476957" y="2258568"/>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14092"/>
          </a:xfrm>
          <a:prstGeom prst="rect">
            <a:avLst/>
          </a:prstGeom>
          <a:noFill/>
        </p:spPr>
        <p:txBody>
          <a:bodyPr wrap="square" anchor="ctr">
            <a:spAutoFit/>
          </a:bodyPr>
          <a:lstStyle/>
          <a:p>
            <a:pPr algn="l">
              <a:spcAft>
                <a:spcPts val="400"/>
              </a:spcAft>
            </a:pPr>
            <a:r>
              <a:rPr sz="950" b="0">
                <a:solidFill>
                  <a:srgbClr val="5B6372"/>
                </a:solidFill>
                <a:latin typeface="Arial"/>
              </a:rPr>
              <a:t>Volume and quality: personalised at scale, near-zero cost</a:t>
            </a:r>
          </a:p>
        </p:txBody>
      </p:sp>
      <p:sp>
        <p:nvSpPr>
          <p:cNvPr id="19" name="Rectangle 18"/>
          <p:cNvSpPr/>
          <p:nvPr/>
        </p:nvSpPr>
        <p:spPr>
          <a:xfrm>
            <a:off x="777240" y="2672660"/>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672660"/>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SQL injection</a:t>
            </a:r>
          </a:p>
        </p:txBody>
      </p:sp>
      <p:sp>
        <p:nvSpPr>
          <p:cNvPr id="21" name="Rectangle 20"/>
          <p:cNvSpPr/>
          <p:nvPr/>
        </p:nvSpPr>
        <p:spPr>
          <a:xfrm>
            <a:off x="3542202" y="2672660"/>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67266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Prompt injection</a:t>
            </a:r>
          </a:p>
        </p:txBody>
      </p:sp>
      <p:sp>
        <p:nvSpPr>
          <p:cNvPr id="23" name="Rectangle 22"/>
          <p:cNvSpPr/>
          <p:nvPr/>
        </p:nvSpPr>
        <p:spPr>
          <a:xfrm>
            <a:off x="7476957" y="2672660"/>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672660"/>
            <a:ext cx="3678723" cy="414092"/>
          </a:xfrm>
          <a:prstGeom prst="rect">
            <a:avLst/>
          </a:prstGeom>
          <a:noFill/>
        </p:spPr>
        <p:txBody>
          <a:bodyPr wrap="square" anchor="ctr">
            <a:spAutoFit/>
          </a:bodyPr>
          <a:lstStyle/>
          <a:p>
            <a:pPr algn="l">
              <a:spcAft>
                <a:spcPts val="400"/>
              </a:spcAft>
            </a:pPr>
            <a:r>
              <a:rPr sz="950" b="0">
                <a:solidFill>
                  <a:srgbClr val="5B6372"/>
                </a:solidFill>
                <a:latin typeface="Arial"/>
              </a:rPr>
              <a:t>Data and instructions share one channel; no parameterisation exists</a:t>
            </a:r>
          </a:p>
        </p:txBody>
      </p:sp>
      <p:sp>
        <p:nvSpPr>
          <p:cNvPr id="25" name="Rectangle 24"/>
          <p:cNvSpPr/>
          <p:nvPr/>
        </p:nvSpPr>
        <p:spPr>
          <a:xfrm>
            <a:off x="777240" y="3086752"/>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086752"/>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XSS</a:t>
            </a:r>
          </a:p>
        </p:txBody>
      </p:sp>
      <p:sp>
        <p:nvSpPr>
          <p:cNvPr id="27" name="Rectangle 26"/>
          <p:cNvSpPr/>
          <p:nvPr/>
        </p:nvSpPr>
        <p:spPr>
          <a:xfrm>
            <a:off x="3542202" y="3086752"/>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086752"/>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Unsafe rendering of model output</a:t>
            </a:r>
          </a:p>
        </p:txBody>
      </p:sp>
      <p:sp>
        <p:nvSpPr>
          <p:cNvPr id="29" name="Rectangle 28"/>
          <p:cNvSpPr/>
          <p:nvPr/>
        </p:nvSpPr>
        <p:spPr>
          <a:xfrm>
            <a:off x="7476957" y="3086752"/>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086752"/>
            <a:ext cx="3678723" cy="414092"/>
          </a:xfrm>
          <a:prstGeom prst="rect">
            <a:avLst/>
          </a:prstGeom>
          <a:noFill/>
        </p:spPr>
        <p:txBody>
          <a:bodyPr wrap="square" anchor="ctr">
            <a:spAutoFit/>
          </a:bodyPr>
          <a:lstStyle/>
          <a:p>
            <a:pPr algn="l">
              <a:spcAft>
                <a:spcPts val="400"/>
              </a:spcAft>
            </a:pPr>
            <a:r>
              <a:rPr sz="950" b="0">
                <a:solidFill>
                  <a:srgbClr val="5B6372"/>
                </a:solidFill>
                <a:latin typeface="Arial"/>
              </a:rPr>
              <a:t>Markdown links and HTML in output can auto-fetch attacker URLs</a:t>
            </a:r>
          </a:p>
        </p:txBody>
      </p:sp>
      <p:sp>
        <p:nvSpPr>
          <p:cNvPr id="31" name="Rectangle 30"/>
          <p:cNvSpPr/>
          <p:nvPr/>
        </p:nvSpPr>
        <p:spPr>
          <a:xfrm>
            <a:off x="777240" y="3500844"/>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500844"/>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Weak credentials</a:t>
            </a:r>
          </a:p>
        </p:txBody>
      </p:sp>
      <p:sp>
        <p:nvSpPr>
          <p:cNvPr id="33" name="Rectangle 32"/>
          <p:cNvSpPr/>
          <p:nvPr/>
        </p:nvSpPr>
        <p:spPr>
          <a:xfrm>
            <a:off x="3542202" y="3500844"/>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500844"/>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Over-scoped agent identity</a:t>
            </a:r>
          </a:p>
        </p:txBody>
      </p:sp>
      <p:sp>
        <p:nvSpPr>
          <p:cNvPr id="35" name="Rectangle 34"/>
          <p:cNvSpPr/>
          <p:nvPr/>
        </p:nvSpPr>
        <p:spPr>
          <a:xfrm>
            <a:off x="7476957" y="3500844"/>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500844"/>
            <a:ext cx="3678723" cy="414092"/>
          </a:xfrm>
          <a:prstGeom prst="rect">
            <a:avLst/>
          </a:prstGeom>
          <a:noFill/>
        </p:spPr>
        <p:txBody>
          <a:bodyPr wrap="square" anchor="ctr">
            <a:spAutoFit/>
          </a:bodyPr>
          <a:lstStyle/>
          <a:p>
            <a:pPr algn="l">
              <a:spcAft>
                <a:spcPts val="400"/>
              </a:spcAft>
            </a:pPr>
            <a:r>
              <a:rPr sz="950" b="0">
                <a:solidFill>
                  <a:srgbClr val="5B6372"/>
                </a:solidFill>
                <a:latin typeface="Arial"/>
              </a:rPr>
              <a:t>One shared service account with broad read access to everything</a:t>
            </a:r>
          </a:p>
        </p:txBody>
      </p:sp>
      <p:sp>
        <p:nvSpPr>
          <p:cNvPr id="37" name="Rectangle 36"/>
          <p:cNvSpPr/>
          <p:nvPr/>
        </p:nvSpPr>
        <p:spPr>
          <a:xfrm>
            <a:off x="777240" y="3914936"/>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3914936"/>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Malware</a:t>
            </a:r>
          </a:p>
        </p:txBody>
      </p:sp>
      <p:sp>
        <p:nvSpPr>
          <p:cNvPr id="39" name="Rectangle 38"/>
          <p:cNvSpPr/>
          <p:nvPr/>
        </p:nvSpPr>
        <p:spPr>
          <a:xfrm>
            <a:off x="3542202" y="3914936"/>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3914936"/>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Poisoned package or model artefact</a:t>
            </a:r>
          </a:p>
        </p:txBody>
      </p:sp>
      <p:sp>
        <p:nvSpPr>
          <p:cNvPr id="41" name="Rectangle 40"/>
          <p:cNvSpPr/>
          <p:nvPr/>
        </p:nvSpPr>
        <p:spPr>
          <a:xfrm>
            <a:off x="7476957" y="3914936"/>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3914936"/>
            <a:ext cx="3678723" cy="414092"/>
          </a:xfrm>
          <a:prstGeom prst="rect">
            <a:avLst/>
          </a:prstGeom>
          <a:noFill/>
        </p:spPr>
        <p:txBody>
          <a:bodyPr wrap="square" anchor="ctr">
            <a:spAutoFit/>
          </a:bodyPr>
          <a:lstStyle/>
          <a:p>
            <a:pPr algn="l">
              <a:spcAft>
                <a:spcPts val="400"/>
              </a:spcAft>
            </a:pPr>
            <a:r>
              <a:rPr sz="950" b="0">
                <a:solidFill>
                  <a:srgbClr val="5B6372"/>
                </a:solidFill>
                <a:latin typeface="Arial"/>
              </a:rPr>
              <a:t>Supply chain now includes models, embeddings and MCP servers</a:t>
            </a:r>
          </a:p>
        </p:txBody>
      </p:sp>
      <p:sp>
        <p:nvSpPr>
          <p:cNvPr id="43" name="Rectangle 42"/>
          <p:cNvSpPr/>
          <p:nvPr/>
        </p:nvSpPr>
        <p:spPr>
          <a:xfrm>
            <a:off x="777240" y="4329028"/>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329028"/>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Insider data theft</a:t>
            </a:r>
          </a:p>
        </p:txBody>
      </p:sp>
      <p:sp>
        <p:nvSpPr>
          <p:cNvPr id="45" name="Rectangle 44"/>
          <p:cNvSpPr/>
          <p:nvPr/>
        </p:nvSpPr>
        <p:spPr>
          <a:xfrm>
            <a:off x="3542202" y="4329028"/>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32902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Training-data and context leakage</a:t>
            </a:r>
          </a:p>
        </p:txBody>
      </p:sp>
      <p:sp>
        <p:nvSpPr>
          <p:cNvPr id="47" name="Rectangle 46"/>
          <p:cNvSpPr/>
          <p:nvPr/>
        </p:nvSpPr>
        <p:spPr>
          <a:xfrm>
            <a:off x="7476957" y="4329028"/>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329028"/>
            <a:ext cx="3678723" cy="414092"/>
          </a:xfrm>
          <a:prstGeom prst="rect">
            <a:avLst/>
          </a:prstGeom>
          <a:noFill/>
        </p:spPr>
        <p:txBody>
          <a:bodyPr wrap="square" anchor="ctr">
            <a:spAutoFit/>
          </a:bodyPr>
          <a:lstStyle/>
          <a:p>
            <a:pPr algn="l">
              <a:spcAft>
                <a:spcPts val="400"/>
              </a:spcAft>
            </a:pPr>
            <a:r>
              <a:rPr sz="950" b="0">
                <a:solidFill>
                  <a:srgbClr val="5B6372"/>
                </a:solidFill>
                <a:latin typeface="Arial"/>
              </a:rPr>
              <a:t>The model memorises; the context window carries it out</a:t>
            </a:r>
          </a:p>
        </p:txBody>
      </p:sp>
      <p:sp>
        <p:nvSpPr>
          <p:cNvPr id="49" name="Rectangle 48"/>
          <p:cNvSpPr/>
          <p:nvPr/>
        </p:nvSpPr>
        <p:spPr>
          <a:xfrm>
            <a:off x="777240" y="4743120"/>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05256" y="4743120"/>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Ransomware</a:t>
            </a:r>
          </a:p>
        </p:txBody>
      </p:sp>
      <p:sp>
        <p:nvSpPr>
          <p:cNvPr id="51" name="Rectangle 50"/>
          <p:cNvSpPr/>
          <p:nvPr/>
        </p:nvSpPr>
        <p:spPr>
          <a:xfrm>
            <a:off x="3542202" y="4743120"/>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70218" y="474312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Agent with write access at machine speed</a:t>
            </a:r>
          </a:p>
        </p:txBody>
      </p:sp>
      <p:sp>
        <p:nvSpPr>
          <p:cNvPr id="53" name="Rectangle 52"/>
          <p:cNvSpPr/>
          <p:nvPr/>
        </p:nvSpPr>
        <p:spPr>
          <a:xfrm>
            <a:off x="7476957" y="4743120"/>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04973" y="474312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No human pace limit on destructive action</a:t>
            </a:r>
          </a:p>
        </p:txBody>
      </p:sp>
      <p:sp>
        <p:nvSpPr>
          <p:cNvPr id="55" name="Rectangle 54"/>
          <p:cNvSpPr/>
          <p:nvPr/>
        </p:nvSpPr>
        <p:spPr>
          <a:xfrm>
            <a:off x="777240" y="535838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0"/>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8"/>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Your existing security knowledge transfers. What changes is the channel, the speed and the fact that the instruction and the data arrive together.</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NIST AI 600-1 GENERATIVE AI PROFILE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12 NIST Generative AI Risks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2154936" cy="731520"/>
          </a:xfrm>
          <a:prstGeom prst="rect">
            <a:avLst/>
          </a:prstGeom>
          <a:noFill/>
        </p:spPr>
        <p:txBody>
          <a:bodyPr wrap="square" anchor="ctr">
            <a:spAutoFit/>
          </a:bodyPr>
          <a:lstStyle/>
          <a:p>
            <a:pPr algn="l">
              <a:spcAft>
                <a:spcPts val="300"/>
              </a:spcAft>
            </a:pPr>
            <a:r>
              <a:rPr sz="1200" b="1">
                <a:solidFill>
                  <a:srgbClr val="161B26"/>
                </a:solidFill>
                <a:latin typeface="Arial"/>
              </a:rPr>
              <a:t>CBRN information</a:t>
            </a:r>
          </a:p>
          <a:p>
            <a:pPr algn="l">
              <a:spcAft>
                <a:spcPts val="300"/>
              </a:spcAft>
            </a:pPr>
            <a:r>
              <a:rPr sz="800" b="0">
                <a:solidFill>
                  <a:srgbClr val="5B6372"/>
                </a:solidFill>
                <a:latin typeface="Arial"/>
              </a:rPr>
              <a:t>Access to materially lowered barriers for weapons-related information.</a:t>
            </a:r>
          </a:p>
        </p:txBody>
      </p:sp>
      <p:sp>
        <p:nvSpPr>
          <p:cNvPr id="12" name="Rectangle 11"/>
          <p:cNvSpPr/>
          <p:nvPr/>
        </p:nvSpPr>
        <p:spPr>
          <a:xfrm>
            <a:off x="4413504" y="1783080"/>
            <a:ext cx="3361944"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911096"/>
            <a:ext cx="2154936" cy="731520"/>
          </a:xfrm>
          <a:prstGeom prst="rect">
            <a:avLst/>
          </a:prstGeom>
          <a:noFill/>
        </p:spPr>
        <p:txBody>
          <a:bodyPr wrap="square" anchor="ctr">
            <a:spAutoFit/>
          </a:bodyPr>
          <a:lstStyle/>
          <a:p>
            <a:pPr algn="l">
              <a:spcAft>
                <a:spcPts val="300"/>
              </a:spcAft>
            </a:pPr>
            <a:r>
              <a:rPr sz="1200" b="1">
                <a:solidFill>
                  <a:srgbClr val="161B26"/>
                </a:solidFill>
                <a:latin typeface="Arial"/>
              </a:rPr>
              <a:t>Confabulation</a:t>
            </a:r>
          </a:p>
          <a:p>
            <a:pPr algn="l">
              <a:spcAft>
                <a:spcPts val="300"/>
              </a:spcAft>
            </a:pPr>
            <a:r>
              <a:rPr sz="800" b="0">
                <a:solidFill>
                  <a:srgbClr val="5B6372"/>
                </a:solidFill>
                <a:latin typeface="Arial"/>
              </a:rPr>
              <a:t>Confidently stated false content — the risk most likely to reach your customers.</a:t>
            </a:r>
          </a:p>
        </p:txBody>
      </p:sp>
      <p:sp>
        <p:nvSpPr>
          <p:cNvPr id="17" name="Rectangle 16"/>
          <p:cNvSpPr/>
          <p:nvPr/>
        </p:nvSpPr>
        <p:spPr>
          <a:xfrm>
            <a:off x="8049768" y="1783080"/>
            <a:ext cx="3361944"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196596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911096"/>
            <a:ext cx="2154936" cy="731520"/>
          </a:xfrm>
          <a:prstGeom prst="rect">
            <a:avLst/>
          </a:prstGeom>
          <a:noFill/>
        </p:spPr>
        <p:txBody>
          <a:bodyPr wrap="square" anchor="ctr">
            <a:spAutoFit/>
          </a:bodyPr>
          <a:lstStyle/>
          <a:p>
            <a:pPr algn="l">
              <a:spcAft>
                <a:spcPts val="300"/>
              </a:spcAft>
            </a:pPr>
            <a:r>
              <a:rPr sz="1200" b="1">
                <a:solidFill>
                  <a:srgbClr val="161B26"/>
                </a:solidFill>
                <a:latin typeface="Arial"/>
              </a:rPr>
              <a:t>Dangerous or violent content</a:t>
            </a:r>
          </a:p>
          <a:p>
            <a:pPr algn="l">
              <a:spcAft>
                <a:spcPts val="300"/>
              </a:spcAft>
            </a:pPr>
            <a:r>
              <a:rPr sz="800" b="0">
                <a:solidFill>
                  <a:srgbClr val="5B6372"/>
                </a:solidFill>
                <a:latin typeface="Arial"/>
              </a:rPr>
              <a:t>Generation of content that recommends or facilitates harm.</a:t>
            </a:r>
          </a:p>
        </p:txBody>
      </p:sp>
      <p:sp>
        <p:nvSpPr>
          <p:cNvPr id="22" name="Rectangle 21"/>
          <p:cNvSpPr/>
          <p:nvPr/>
        </p:nvSpPr>
        <p:spPr>
          <a:xfrm>
            <a:off x="777240" y="2935224"/>
            <a:ext cx="3361944"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063240"/>
            <a:ext cx="2154936" cy="731520"/>
          </a:xfrm>
          <a:prstGeom prst="rect">
            <a:avLst/>
          </a:prstGeom>
          <a:noFill/>
        </p:spPr>
        <p:txBody>
          <a:bodyPr wrap="square" anchor="ctr">
            <a:spAutoFit/>
          </a:bodyPr>
          <a:lstStyle/>
          <a:p>
            <a:pPr algn="l">
              <a:spcAft>
                <a:spcPts val="300"/>
              </a:spcAft>
            </a:pPr>
            <a:r>
              <a:rPr sz="1200" b="1">
                <a:solidFill>
                  <a:srgbClr val="161B26"/>
                </a:solidFill>
                <a:latin typeface="Arial"/>
              </a:rPr>
              <a:t>Data privacy</a:t>
            </a:r>
          </a:p>
          <a:p>
            <a:pPr algn="l">
              <a:spcAft>
                <a:spcPts val="300"/>
              </a:spcAft>
            </a:pPr>
            <a:r>
              <a:rPr sz="800" b="0">
                <a:solidFill>
                  <a:srgbClr val="5B6372"/>
                </a:solidFill>
                <a:latin typeface="Arial"/>
              </a:rPr>
              <a:t>Leakage or inference of personal data from training data, prompts or outputs.</a:t>
            </a:r>
          </a:p>
        </p:txBody>
      </p:sp>
      <p:sp>
        <p:nvSpPr>
          <p:cNvPr id="27" name="Rectangle 26"/>
          <p:cNvSpPr/>
          <p:nvPr/>
        </p:nvSpPr>
        <p:spPr>
          <a:xfrm>
            <a:off x="4413504" y="2935224"/>
            <a:ext cx="3361944"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2935224"/>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31181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3063240"/>
            <a:ext cx="2154936" cy="731520"/>
          </a:xfrm>
          <a:prstGeom prst="rect">
            <a:avLst/>
          </a:prstGeom>
          <a:noFill/>
        </p:spPr>
        <p:txBody>
          <a:bodyPr wrap="square" anchor="ctr">
            <a:spAutoFit/>
          </a:bodyPr>
          <a:lstStyle/>
          <a:p>
            <a:pPr algn="l">
              <a:spcAft>
                <a:spcPts val="300"/>
              </a:spcAft>
            </a:pPr>
            <a:r>
              <a:rPr sz="1400" b="1">
                <a:solidFill>
                  <a:srgbClr val="161B26"/>
                </a:solidFill>
                <a:latin typeface="Arial"/>
              </a:rPr>
              <a:t>Environmental impact</a:t>
            </a:r>
          </a:p>
          <a:p>
            <a:pPr algn="l">
              <a:spcAft>
                <a:spcPts val="300"/>
              </a:spcAft>
            </a:pPr>
            <a:r>
              <a:rPr sz="1000" b="0">
                <a:solidFill>
                  <a:srgbClr val="5B6372"/>
                </a:solidFill>
                <a:latin typeface="Arial"/>
              </a:rPr>
              <a:t>Energy and resource cost of training and serving at scale.</a:t>
            </a:r>
          </a:p>
        </p:txBody>
      </p:sp>
      <p:sp>
        <p:nvSpPr>
          <p:cNvPr id="32" name="Rectangle 31"/>
          <p:cNvSpPr/>
          <p:nvPr/>
        </p:nvSpPr>
        <p:spPr>
          <a:xfrm>
            <a:off x="8049768" y="2935224"/>
            <a:ext cx="3361944"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3063240"/>
            <a:ext cx="2154936" cy="731520"/>
          </a:xfrm>
          <a:prstGeom prst="rect">
            <a:avLst/>
          </a:prstGeom>
          <a:noFill/>
        </p:spPr>
        <p:txBody>
          <a:bodyPr wrap="square" anchor="ctr">
            <a:spAutoFit/>
          </a:bodyPr>
          <a:lstStyle/>
          <a:p>
            <a:pPr algn="l">
              <a:spcAft>
                <a:spcPts val="300"/>
              </a:spcAft>
            </a:pPr>
            <a:r>
              <a:rPr sz="1200" b="1">
                <a:solidFill>
                  <a:srgbClr val="161B26"/>
                </a:solidFill>
                <a:latin typeface="Arial"/>
              </a:rPr>
              <a:t>Harmful bias &amp; homogenisation</a:t>
            </a:r>
          </a:p>
          <a:p>
            <a:pPr algn="l">
              <a:spcAft>
                <a:spcPts val="300"/>
              </a:spcAft>
            </a:pPr>
            <a:r>
              <a:rPr sz="800" b="0">
                <a:solidFill>
                  <a:srgbClr val="5B6372"/>
                </a:solidFill>
                <a:latin typeface="Arial"/>
              </a:rPr>
              <a:t>Discriminatory outputs; monoculture from one model used everywhere.</a:t>
            </a:r>
          </a:p>
        </p:txBody>
      </p:sp>
      <p:sp>
        <p:nvSpPr>
          <p:cNvPr id="37" name="Rectangle 36"/>
          <p:cNvSpPr/>
          <p:nvPr/>
        </p:nvSpPr>
        <p:spPr>
          <a:xfrm>
            <a:off x="777240" y="4087368"/>
            <a:ext cx="3361944"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4215384"/>
            <a:ext cx="2154936" cy="731520"/>
          </a:xfrm>
          <a:prstGeom prst="rect">
            <a:avLst/>
          </a:prstGeom>
          <a:noFill/>
        </p:spPr>
        <p:txBody>
          <a:bodyPr wrap="square" anchor="ctr">
            <a:spAutoFit/>
          </a:bodyPr>
          <a:lstStyle/>
          <a:p>
            <a:pPr algn="l">
              <a:spcAft>
                <a:spcPts val="300"/>
              </a:spcAft>
            </a:pPr>
            <a:r>
              <a:rPr sz="1200" b="1">
                <a:solidFill>
                  <a:srgbClr val="161B26"/>
                </a:solidFill>
                <a:latin typeface="Arial"/>
              </a:rPr>
              <a:t>Human-AI configuration</a:t>
            </a:r>
          </a:p>
          <a:p>
            <a:pPr algn="l">
              <a:spcAft>
                <a:spcPts val="300"/>
              </a:spcAft>
            </a:pPr>
            <a:r>
              <a:rPr sz="800" b="0">
                <a:solidFill>
                  <a:srgbClr val="5B6372"/>
                </a:solidFill>
                <a:latin typeface="Arial"/>
              </a:rPr>
              <a:t>Over-reliance, poor handoff, and humans rubber-stamping model output.</a:t>
            </a:r>
          </a:p>
        </p:txBody>
      </p:sp>
      <p:sp>
        <p:nvSpPr>
          <p:cNvPr id="42" name="Rectangle 41"/>
          <p:cNvSpPr/>
          <p:nvPr/>
        </p:nvSpPr>
        <p:spPr>
          <a:xfrm>
            <a:off x="4413504" y="4087368"/>
            <a:ext cx="3361944"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413504" y="4087368"/>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669536" y="42702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669536"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5401056" y="4215384"/>
            <a:ext cx="2154936" cy="731520"/>
          </a:xfrm>
          <a:prstGeom prst="rect">
            <a:avLst/>
          </a:prstGeom>
          <a:noFill/>
        </p:spPr>
        <p:txBody>
          <a:bodyPr wrap="square" anchor="ctr">
            <a:spAutoFit/>
          </a:bodyPr>
          <a:lstStyle/>
          <a:p>
            <a:pPr algn="l">
              <a:spcAft>
                <a:spcPts val="300"/>
              </a:spcAft>
            </a:pPr>
            <a:r>
              <a:rPr sz="1400" b="1">
                <a:solidFill>
                  <a:srgbClr val="161B26"/>
                </a:solidFill>
                <a:latin typeface="Arial"/>
              </a:rPr>
              <a:t>Information integrity</a:t>
            </a:r>
          </a:p>
          <a:p>
            <a:pPr algn="l">
              <a:spcAft>
                <a:spcPts val="300"/>
              </a:spcAft>
            </a:pPr>
            <a:r>
              <a:rPr sz="1000" b="0">
                <a:solidFill>
                  <a:srgbClr val="5B6372"/>
                </a:solidFill>
                <a:latin typeface="Arial"/>
              </a:rPr>
              <a:t>Synthetic content degrading trust in what is real.</a:t>
            </a:r>
          </a:p>
        </p:txBody>
      </p:sp>
      <p:sp>
        <p:nvSpPr>
          <p:cNvPr id="47" name="Rectangle 46"/>
          <p:cNvSpPr/>
          <p:nvPr/>
        </p:nvSpPr>
        <p:spPr>
          <a:xfrm>
            <a:off x="8049768" y="4087368"/>
            <a:ext cx="3361944"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049768"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305800"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305800"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51" name="TextBox 50"/>
          <p:cNvSpPr txBox="1"/>
          <p:nvPr/>
        </p:nvSpPr>
        <p:spPr>
          <a:xfrm>
            <a:off x="9037320" y="4215384"/>
            <a:ext cx="2154936" cy="731520"/>
          </a:xfrm>
          <a:prstGeom prst="rect">
            <a:avLst/>
          </a:prstGeom>
          <a:noFill/>
        </p:spPr>
        <p:txBody>
          <a:bodyPr wrap="square" anchor="ctr">
            <a:spAutoFit/>
          </a:bodyPr>
          <a:lstStyle/>
          <a:p>
            <a:pPr algn="l">
              <a:spcAft>
                <a:spcPts val="300"/>
              </a:spcAft>
            </a:pPr>
            <a:r>
              <a:rPr sz="1400" b="1">
                <a:solidFill>
                  <a:srgbClr val="161B26"/>
                </a:solidFill>
                <a:latin typeface="Arial"/>
              </a:rPr>
              <a:t>Information security</a:t>
            </a:r>
          </a:p>
          <a:p>
            <a:pPr algn="l">
              <a:spcAft>
                <a:spcPts val="300"/>
              </a:spcAft>
            </a:pPr>
            <a:r>
              <a:rPr sz="1000" b="0">
                <a:solidFill>
                  <a:srgbClr val="5B6372"/>
                </a:solidFill>
                <a:latin typeface="Arial"/>
              </a:rPr>
              <a:t>Prompt injection, model extraction, expanded attack surface.</a:t>
            </a:r>
          </a:p>
        </p:txBody>
      </p:sp>
      <p:sp>
        <p:nvSpPr>
          <p:cNvPr id="52" name="Rectangle 51"/>
          <p:cNvSpPr/>
          <p:nvPr/>
        </p:nvSpPr>
        <p:spPr>
          <a:xfrm>
            <a:off x="777240" y="5239512"/>
            <a:ext cx="3361944"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239512"/>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033272" y="542239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56" name="TextBox 55"/>
          <p:cNvSpPr txBox="1"/>
          <p:nvPr/>
        </p:nvSpPr>
        <p:spPr>
          <a:xfrm>
            <a:off x="1764792" y="5367528"/>
            <a:ext cx="2154936" cy="731520"/>
          </a:xfrm>
          <a:prstGeom prst="rect">
            <a:avLst/>
          </a:prstGeom>
          <a:noFill/>
        </p:spPr>
        <p:txBody>
          <a:bodyPr wrap="square" anchor="ctr">
            <a:spAutoFit/>
          </a:bodyPr>
          <a:lstStyle/>
          <a:p>
            <a:pPr algn="l">
              <a:spcAft>
                <a:spcPts val="300"/>
              </a:spcAft>
            </a:pPr>
            <a:r>
              <a:rPr sz="1400" b="1">
                <a:solidFill>
                  <a:srgbClr val="161B26"/>
                </a:solidFill>
                <a:latin typeface="Arial"/>
              </a:rPr>
              <a:t>Intellectual property</a:t>
            </a:r>
          </a:p>
          <a:p>
            <a:pPr algn="l">
              <a:spcAft>
                <a:spcPts val="300"/>
              </a:spcAft>
            </a:pPr>
            <a:r>
              <a:rPr sz="1000" b="0">
                <a:solidFill>
                  <a:srgbClr val="5B6372"/>
                </a:solidFill>
                <a:latin typeface="Arial"/>
              </a:rPr>
              <a:t>Training on, or reproducing, protected material.</a:t>
            </a:r>
          </a:p>
        </p:txBody>
      </p:sp>
      <p:sp>
        <p:nvSpPr>
          <p:cNvPr id="57" name="Rectangle 56"/>
          <p:cNvSpPr/>
          <p:nvPr/>
        </p:nvSpPr>
        <p:spPr>
          <a:xfrm>
            <a:off x="4413504" y="5239512"/>
            <a:ext cx="3361944"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413504"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4669536"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669536"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11</a:t>
            </a:r>
          </a:p>
        </p:txBody>
      </p:sp>
      <p:sp>
        <p:nvSpPr>
          <p:cNvPr id="61" name="TextBox 60"/>
          <p:cNvSpPr txBox="1"/>
          <p:nvPr/>
        </p:nvSpPr>
        <p:spPr>
          <a:xfrm>
            <a:off x="5401056" y="5367528"/>
            <a:ext cx="2154936" cy="731520"/>
          </a:xfrm>
          <a:prstGeom prst="rect">
            <a:avLst/>
          </a:prstGeom>
          <a:noFill/>
        </p:spPr>
        <p:txBody>
          <a:bodyPr wrap="square" anchor="ctr">
            <a:spAutoFit/>
          </a:bodyPr>
          <a:lstStyle/>
          <a:p>
            <a:pPr algn="l">
              <a:spcAft>
                <a:spcPts val="300"/>
              </a:spcAft>
            </a:pPr>
            <a:r>
              <a:rPr sz="1200" b="1">
                <a:solidFill>
                  <a:srgbClr val="161B26"/>
                </a:solidFill>
                <a:latin typeface="Arial"/>
              </a:rPr>
              <a:t>Obscene or abusive content</a:t>
            </a:r>
          </a:p>
          <a:p>
            <a:pPr algn="l">
              <a:spcAft>
                <a:spcPts val="300"/>
              </a:spcAft>
            </a:pPr>
            <a:r>
              <a:rPr sz="800" b="0">
                <a:solidFill>
                  <a:srgbClr val="5B6372"/>
                </a:solidFill>
                <a:latin typeface="Arial"/>
              </a:rPr>
              <a:t>Generation of non-consensual or degrading material.</a:t>
            </a:r>
          </a:p>
        </p:txBody>
      </p:sp>
      <p:sp>
        <p:nvSpPr>
          <p:cNvPr id="62" name="Rectangle 61"/>
          <p:cNvSpPr/>
          <p:nvPr/>
        </p:nvSpPr>
        <p:spPr>
          <a:xfrm>
            <a:off x="8049768" y="5239512"/>
            <a:ext cx="3361944"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8049768"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8305800"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305800"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12</a:t>
            </a:r>
          </a:p>
        </p:txBody>
      </p:sp>
      <p:sp>
        <p:nvSpPr>
          <p:cNvPr id="66" name="TextBox 65"/>
          <p:cNvSpPr txBox="1"/>
          <p:nvPr/>
        </p:nvSpPr>
        <p:spPr>
          <a:xfrm>
            <a:off x="9037320" y="5367528"/>
            <a:ext cx="2154936" cy="731520"/>
          </a:xfrm>
          <a:prstGeom prst="rect">
            <a:avLst/>
          </a:prstGeom>
          <a:noFill/>
        </p:spPr>
        <p:txBody>
          <a:bodyPr wrap="square" anchor="ctr">
            <a:spAutoFit/>
          </a:bodyPr>
          <a:lstStyle/>
          <a:p>
            <a:pPr algn="l">
              <a:spcAft>
                <a:spcPts val="300"/>
              </a:spcAft>
            </a:pPr>
            <a:r>
              <a:rPr sz="1200" b="1">
                <a:solidFill>
                  <a:srgbClr val="161B26"/>
                </a:solidFill>
                <a:latin typeface="Arial"/>
              </a:rPr>
              <a:t>Value chain &amp; components</a:t>
            </a:r>
          </a:p>
          <a:p>
            <a:pPr algn="l">
              <a:spcAft>
                <a:spcPts val="300"/>
              </a:spcAft>
            </a:pPr>
            <a:r>
              <a:rPr sz="800" b="0">
                <a:solidFill>
                  <a:srgbClr val="5B6372"/>
                </a:solidFill>
                <a:latin typeface="Arial"/>
              </a:rPr>
              <a:t>Third-party models, data and packages you did not build and cannot fully inspect.</a:t>
            </a:r>
          </a:p>
        </p:txBody>
      </p:sp>
      <p:sp>
        <p:nvSpPr>
          <p:cNvPr id="67" name="TextBox 6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68" name="TextBox 6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9" name="TextBox 6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LO1 · THE PATTERN BEHIND THE 2025–26 AGENT BREACHES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lethal trifecta</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Private data access  +  exposure to untrusted content  +  the ability to communicate externally. An agent with all three can be steered by an attacker into leaking data through entirely permitted actions.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LO1 · THE ECHOLEAK PATTERN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a Prompt-Injection Data Leak Actually Happens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Attacker plants text</a:t>
            </a:r>
          </a:p>
        </p:txBody>
      </p:sp>
      <p:sp>
        <p:nvSpPr>
          <p:cNvPr id="12" name="TextBox 11"/>
          <p:cNvSpPr txBox="1"/>
          <p:nvPr/>
        </p:nvSpPr>
        <p:spPr>
          <a:xfrm>
            <a:off x="850392" y="3785616"/>
            <a:ext cx="1673352" cy="402336"/>
          </a:xfrm>
          <a:prstGeom prst="rect">
            <a:avLst/>
          </a:prstGeom>
          <a:noFill/>
        </p:spPr>
        <p:txBody>
          <a:bodyPr wrap="square" anchor="ctr">
            <a:spAutoFit/>
          </a:bodyPr>
          <a:lstStyle/>
          <a:p>
            <a:pPr algn="ctr">
              <a:spcAft>
                <a:spcPts val="0"/>
              </a:spcAft>
            </a:pPr>
            <a:r>
              <a:rPr sz="800" b="0">
                <a:solidFill>
                  <a:srgbClr val="5B6372"/>
                </a:solidFill>
                <a:latin typeface="Arial"/>
              </a:rPr>
              <a:t>In an e-mail, a web page, a document or a shared file</a:t>
            </a:r>
          </a:p>
        </p:txBody>
      </p:sp>
      <p:cxnSp>
        <p:nvCxnSpPr>
          <p:cNvPr id="13" name="Connector 12"/>
          <p:cNvCxnSpPr/>
          <p:nvPr/>
        </p:nvCxnSpPr>
        <p:spPr>
          <a:xfrm>
            <a:off x="2651760"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Agent ingests it</a:t>
            </a:r>
          </a:p>
        </p:txBody>
      </p:sp>
      <p:sp>
        <p:nvSpPr>
          <p:cNvPr id="19" name="TextBox 18"/>
          <p:cNvSpPr txBox="1"/>
          <p:nvPr/>
        </p:nvSpPr>
        <p:spPr>
          <a:xfrm>
            <a:off x="3054096" y="3785616"/>
            <a:ext cx="1673352" cy="402336"/>
          </a:xfrm>
          <a:prstGeom prst="rect">
            <a:avLst/>
          </a:prstGeom>
          <a:noFill/>
        </p:spPr>
        <p:txBody>
          <a:bodyPr wrap="square" anchor="ctr">
            <a:spAutoFit/>
          </a:bodyPr>
          <a:lstStyle/>
          <a:p>
            <a:pPr algn="ctr">
              <a:spcAft>
                <a:spcPts val="0"/>
              </a:spcAft>
            </a:pPr>
            <a:r>
              <a:rPr sz="800" b="0">
                <a:solidFill>
                  <a:srgbClr val="5B6372"/>
                </a:solidFill>
                <a:latin typeface="Arial"/>
              </a:rPr>
              <a:t>Retrieval pulls the content into the context window as ordinary data</a:t>
            </a:r>
          </a:p>
        </p:txBody>
      </p:sp>
      <p:cxnSp>
        <p:nvCxnSpPr>
          <p:cNvPr id="20" name="Connector 19"/>
          <p:cNvCxnSpPr/>
          <p:nvPr/>
        </p:nvCxnSpPr>
        <p:spPr>
          <a:xfrm>
            <a:off x="4855464"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Model reads it as instruction</a:t>
            </a:r>
          </a:p>
        </p:txBody>
      </p:sp>
      <p:sp>
        <p:nvSpPr>
          <p:cNvPr id="26" name="TextBox 25"/>
          <p:cNvSpPr txBox="1"/>
          <p:nvPr/>
        </p:nvSpPr>
        <p:spPr>
          <a:xfrm>
            <a:off x="5257800" y="3785616"/>
            <a:ext cx="1673352" cy="402336"/>
          </a:xfrm>
          <a:prstGeom prst="rect">
            <a:avLst/>
          </a:prstGeom>
          <a:noFill/>
        </p:spPr>
        <p:txBody>
          <a:bodyPr wrap="square" anchor="ctr">
            <a:spAutoFit/>
          </a:bodyPr>
          <a:lstStyle/>
          <a:p>
            <a:pPr algn="ctr">
              <a:spcAft>
                <a:spcPts val="0"/>
              </a:spcAft>
            </a:pPr>
            <a:r>
              <a:rPr sz="800" b="0">
                <a:solidFill>
                  <a:srgbClr val="5B6372"/>
                </a:solidFill>
                <a:latin typeface="Arial"/>
              </a:rPr>
              <a:t>There is no separation between data and instructions in a prompt</a:t>
            </a:r>
          </a:p>
        </p:txBody>
      </p:sp>
      <p:cxnSp>
        <p:nvCxnSpPr>
          <p:cNvPr id="27" name="Connector 26"/>
          <p:cNvCxnSpPr/>
          <p:nvPr/>
        </p:nvCxnSpPr>
        <p:spPr>
          <a:xfrm>
            <a:off x="7059168"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Agent acts</a:t>
            </a:r>
          </a:p>
        </p:txBody>
      </p:sp>
      <p:sp>
        <p:nvSpPr>
          <p:cNvPr id="33" name="TextBox 32"/>
          <p:cNvSpPr txBox="1"/>
          <p:nvPr/>
        </p:nvSpPr>
        <p:spPr>
          <a:xfrm>
            <a:off x="7461504" y="3785616"/>
            <a:ext cx="1673352" cy="402336"/>
          </a:xfrm>
          <a:prstGeom prst="rect">
            <a:avLst/>
          </a:prstGeom>
          <a:noFill/>
        </p:spPr>
        <p:txBody>
          <a:bodyPr wrap="square" anchor="ctr">
            <a:spAutoFit/>
          </a:bodyPr>
          <a:lstStyle/>
          <a:p>
            <a:pPr algn="ctr">
              <a:spcAft>
                <a:spcPts val="0"/>
              </a:spcAft>
            </a:pPr>
            <a:r>
              <a:rPr sz="800" b="0">
                <a:solidFill>
                  <a:srgbClr val="5B6372"/>
                </a:solidFill>
                <a:latin typeface="Arial"/>
              </a:rPr>
              <a:t>It calls a permitted tool — send e-mail, fetch a URL, render a link</a:t>
            </a:r>
          </a:p>
        </p:txBody>
      </p:sp>
      <p:cxnSp>
        <p:nvCxnSpPr>
          <p:cNvPr id="34" name="Connector 33"/>
          <p:cNvCxnSpPr/>
          <p:nvPr/>
        </p:nvCxnSpPr>
        <p:spPr>
          <a:xfrm>
            <a:off x="9262872"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Data leaves</a:t>
            </a:r>
          </a:p>
        </p:txBody>
      </p:sp>
      <p:sp>
        <p:nvSpPr>
          <p:cNvPr id="40" name="TextBox 39"/>
          <p:cNvSpPr txBox="1"/>
          <p:nvPr/>
        </p:nvSpPr>
        <p:spPr>
          <a:xfrm>
            <a:off x="9665208" y="3785616"/>
            <a:ext cx="1673352" cy="402336"/>
          </a:xfrm>
          <a:prstGeom prst="rect">
            <a:avLst/>
          </a:prstGeom>
          <a:noFill/>
        </p:spPr>
        <p:txBody>
          <a:bodyPr wrap="square" anchor="ctr">
            <a:spAutoFit/>
          </a:bodyPr>
          <a:lstStyle/>
          <a:p>
            <a:pPr algn="ctr">
              <a:spcAft>
                <a:spcPts val="0"/>
              </a:spcAft>
            </a:pPr>
            <a:r>
              <a:rPr sz="800" b="0">
                <a:solidFill>
                  <a:srgbClr val="5B6372"/>
                </a:solidFill>
                <a:latin typeface="Arial"/>
              </a:rPr>
              <a:t>Through an authorised channel, with no exploit and no alert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F59E0B"/>
                </a:solidFill>
                <a:latin typeface="Arial"/>
              </a:rPr>
              <a:t>WHY FILTERS DON'T SAVE YOU</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Every step uses permitted functionality. Nothing is 'hacked'. This is why the fix is architectural — break a leg of the trifecta — rather than adding another output filter.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WHERE TO LOOK FIRST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Where AI Risk Concentrates in a Typical Business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Shadow AI dominates because it is invisible to every control you already run. Illustrative teaching figures — the pattern, not the precise number, is the point: your first control is an inventory, not a firewall.</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LO1 · WHY THIS IS A BOARD ISSUE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Business Impact — Speaking the Board's Language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Regulatory</a:t>
            </a:r>
          </a:p>
          <a:p>
            <a:pPr algn="l">
              <a:spcAft>
                <a:spcPts val="300"/>
              </a:spcAft>
            </a:pPr>
            <a:r>
              <a:rPr sz="1200" b="0">
                <a:solidFill>
                  <a:srgbClr val="5B6372"/>
                </a:solidFill>
                <a:latin typeface="Arial"/>
              </a:rPr>
              <a:t>PDPA enforcement, MAS supervisory action, and the cost of proving compliance you cannot currently evidence.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Contractual</a:t>
            </a:r>
          </a:p>
          <a:p>
            <a:pPr algn="l">
              <a:spcAft>
                <a:spcPts val="300"/>
              </a:spcAft>
            </a:pPr>
            <a:r>
              <a:rPr sz="1200" b="0">
                <a:solidFill>
                  <a:srgbClr val="5B6372"/>
                </a:solidFill>
                <a:latin typeface="Arial"/>
              </a:rPr>
              <a:t>Client contracts increasingly require AI assurance. No assurance, no renewal.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Intellectual property</a:t>
            </a:r>
          </a:p>
          <a:p>
            <a:pPr algn="l">
              <a:spcAft>
                <a:spcPts val="300"/>
              </a:spcAft>
            </a:pPr>
            <a:r>
              <a:rPr sz="1200" b="0">
                <a:solidFill>
                  <a:srgbClr val="5B6372"/>
                </a:solidFill>
                <a:latin typeface="Arial"/>
              </a:rPr>
              <a:t>Confidential strategy, code and customer data pasted into tools that retain and train on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Operational</a:t>
            </a:r>
          </a:p>
          <a:p>
            <a:pPr algn="l">
              <a:spcAft>
                <a:spcPts val="300"/>
              </a:spcAft>
            </a:pPr>
            <a:r>
              <a:rPr sz="1200" b="0">
                <a:solidFill>
                  <a:srgbClr val="5B6372"/>
                </a:solidFill>
                <a:latin typeface="Arial"/>
              </a:rPr>
              <a:t>An agent that acts wrongly at machine speed causes damage faster than a human can notice.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Decision quality</a:t>
            </a:r>
          </a:p>
          <a:p>
            <a:pPr algn="l">
              <a:spcAft>
                <a:spcPts val="300"/>
              </a:spcAft>
            </a:pPr>
            <a:r>
              <a:rPr sz="1200" b="0">
                <a:solidFill>
                  <a:srgbClr val="5B6372"/>
                </a:solidFill>
                <a:latin typeface="Arial"/>
              </a:rPr>
              <a:t>Confident, wrong output relied upon in credit, hiring or fraud decisions about real people.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Reputational</a:t>
            </a:r>
          </a:p>
          <a:p>
            <a:pPr algn="l">
              <a:spcAft>
                <a:spcPts val="300"/>
              </a:spcAft>
            </a:pPr>
            <a:r>
              <a:rPr sz="1200" b="0">
                <a:solidFill>
                  <a:srgbClr val="5B6372"/>
                </a:solidFill>
                <a:latin typeface="Arial"/>
              </a:rPr>
              <a:t>'Bank's AI leaked customer data' is a headline that outlives the technical fix.</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FRAMEWORKS</a:t>
            </a:r>
          </a:p>
        </p:txBody>
      </p:sp>
      <p:sp>
        <p:nvSpPr>
          <p:cNvPr id="6" name="TextBox 5"/>
          <p:cNvSpPr txBox="1"/>
          <p:nvPr/>
        </p:nvSpPr>
        <p:spPr>
          <a:xfrm>
            <a:off x="1143000" y="2743200"/>
            <a:ext cx="10424160" cy="1417320"/>
          </a:xfrm>
          <a:prstGeom prst="rect">
            <a:avLst/>
          </a:prstGeom>
          <a:noFill/>
        </p:spPr>
        <p:txBody>
          <a:bodyPr wrap="square" anchor="t">
            <a:spAutoFit/>
          </a:bodyPr>
          <a:lstStyle/>
          <a:p>
            <a:pPr algn="l">
              <a:spcAft>
                <a:spcPts val="400"/>
              </a:spcAft>
            </a:pPr>
            <a:r>
              <a:rPr sz="4000" b="1">
                <a:solidFill>
                  <a:srgbClr val="161B26"/>
                </a:solidFill>
                <a:latin typeface="Arial"/>
              </a:rPr>
              <a:t>The Governance Frameworks You Will Apply</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advClick="1">
    <p:push dir="l"/>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THE FRAMEWORK YOU WILL ASSESS AGAINST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NIST AI RMF 1.0 — The Four Functions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906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906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3063240"/>
            <a:ext cx="2151126" cy="969264"/>
          </a:xfrm>
          <a:prstGeom prst="rect">
            <a:avLst/>
          </a:prstGeom>
          <a:noFill/>
        </p:spPr>
        <p:txBody>
          <a:bodyPr wrap="square" anchor="ctr">
            <a:spAutoFit/>
          </a:bodyPr>
          <a:lstStyle/>
          <a:p>
            <a:pPr algn="ctr">
              <a:spcAft>
                <a:spcPts val="0"/>
              </a:spcAft>
            </a:pPr>
            <a:r>
              <a:rPr sz="1300" b="1">
                <a:solidFill>
                  <a:srgbClr val="161B26"/>
                </a:solidFill>
                <a:latin typeface="Arial"/>
              </a:rPr>
              <a:t>GOVERN</a:t>
            </a:r>
          </a:p>
        </p:txBody>
      </p:sp>
      <p:sp>
        <p:nvSpPr>
          <p:cNvPr id="12" name="TextBox 11"/>
          <p:cNvSpPr txBox="1"/>
          <p:nvPr/>
        </p:nvSpPr>
        <p:spPr>
          <a:xfrm>
            <a:off x="850392" y="3785616"/>
            <a:ext cx="2224278" cy="402336"/>
          </a:xfrm>
          <a:prstGeom prst="rect">
            <a:avLst/>
          </a:prstGeom>
          <a:noFill/>
        </p:spPr>
        <p:txBody>
          <a:bodyPr wrap="square" anchor="ctr">
            <a:spAutoFit/>
          </a:bodyPr>
          <a:lstStyle/>
          <a:p>
            <a:pPr algn="ctr">
              <a:spcAft>
                <a:spcPts val="0"/>
              </a:spcAft>
            </a:pPr>
            <a:r>
              <a:rPr sz="900" b="0">
                <a:solidFill>
                  <a:srgbClr val="5B6372"/>
                </a:solidFill>
                <a:latin typeface="Arial"/>
              </a:rPr>
              <a:t>Policies, roles, culture, third-party risk — cross-cutting</a:t>
            </a:r>
          </a:p>
        </p:txBody>
      </p:sp>
      <p:cxnSp>
        <p:nvCxnSpPr>
          <p:cNvPr id="13" name="Connector 12"/>
          <p:cNvCxnSpPr/>
          <p:nvPr/>
        </p:nvCxnSpPr>
        <p:spPr>
          <a:xfrm>
            <a:off x="320268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53187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3187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3369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369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41598" y="3063240"/>
            <a:ext cx="2151126" cy="969264"/>
          </a:xfrm>
          <a:prstGeom prst="rect">
            <a:avLst/>
          </a:prstGeom>
          <a:noFill/>
        </p:spPr>
        <p:txBody>
          <a:bodyPr wrap="square" anchor="ctr">
            <a:spAutoFit/>
          </a:bodyPr>
          <a:lstStyle/>
          <a:p>
            <a:pPr algn="ctr">
              <a:spcAft>
                <a:spcPts val="0"/>
              </a:spcAft>
            </a:pPr>
            <a:r>
              <a:rPr sz="1300" b="1">
                <a:solidFill>
                  <a:srgbClr val="161B26"/>
                </a:solidFill>
                <a:latin typeface="Arial"/>
              </a:rPr>
              <a:t>MAP</a:t>
            </a:r>
          </a:p>
        </p:txBody>
      </p:sp>
      <p:sp>
        <p:nvSpPr>
          <p:cNvPr id="19" name="TextBox 18"/>
          <p:cNvSpPr txBox="1"/>
          <p:nvPr/>
        </p:nvSpPr>
        <p:spPr>
          <a:xfrm>
            <a:off x="3605022" y="3785616"/>
            <a:ext cx="2224278" cy="402336"/>
          </a:xfrm>
          <a:prstGeom prst="rect">
            <a:avLst/>
          </a:prstGeom>
          <a:noFill/>
        </p:spPr>
        <p:txBody>
          <a:bodyPr wrap="square" anchor="ctr">
            <a:spAutoFit/>
          </a:bodyPr>
          <a:lstStyle/>
          <a:p>
            <a:pPr algn="ctr">
              <a:spcAft>
                <a:spcPts val="0"/>
              </a:spcAft>
            </a:pPr>
            <a:r>
              <a:rPr sz="900" b="0">
                <a:solidFill>
                  <a:srgbClr val="5B6372"/>
                </a:solidFill>
                <a:latin typeface="Arial"/>
              </a:rPr>
              <a:t>Frame the context: purpose, actors, risk tolerance</a:t>
            </a:r>
          </a:p>
        </p:txBody>
      </p:sp>
      <p:cxnSp>
        <p:nvCxnSpPr>
          <p:cNvPr id="20" name="Connector 19"/>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8650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8650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8832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8832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96228" y="3063240"/>
            <a:ext cx="2151126" cy="969264"/>
          </a:xfrm>
          <a:prstGeom prst="rect">
            <a:avLst/>
          </a:prstGeom>
          <a:noFill/>
        </p:spPr>
        <p:txBody>
          <a:bodyPr wrap="square" anchor="ctr">
            <a:spAutoFit/>
          </a:bodyPr>
          <a:lstStyle/>
          <a:p>
            <a:pPr algn="ctr">
              <a:spcAft>
                <a:spcPts val="0"/>
              </a:spcAft>
            </a:pPr>
            <a:r>
              <a:rPr sz="1300" b="1">
                <a:solidFill>
                  <a:srgbClr val="161B26"/>
                </a:solidFill>
                <a:latin typeface="Arial"/>
              </a:rPr>
              <a:t>MEASURE</a:t>
            </a:r>
          </a:p>
        </p:txBody>
      </p:sp>
      <p:sp>
        <p:nvSpPr>
          <p:cNvPr id="26" name="TextBox 25"/>
          <p:cNvSpPr txBox="1"/>
          <p:nvPr/>
        </p:nvSpPr>
        <p:spPr>
          <a:xfrm>
            <a:off x="6359652" y="3785616"/>
            <a:ext cx="2224278" cy="402336"/>
          </a:xfrm>
          <a:prstGeom prst="rect">
            <a:avLst/>
          </a:prstGeom>
          <a:noFill/>
        </p:spPr>
        <p:txBody>
          <a:bodyPr wrap="square" anchor="ctr">
            <a:spAutoFit/>
          </a:bodyPr>
          <a:lstStyle/>
          <a:p>
            <a:pPr algn="ctr">
              <a:spcAft>
                <a:spcPts val="0"/>
              </a:spcAft>
            </a:pPr>
            <a:r>
              <a:rPr sz="900" b="0">
                <a:solidFill>
                  <a:srgbClr val="5B6372"/>
                </a:solidFill>
                <a:latin typeface="Arial"/>
              </a:rPr>
              <a:t>Select metrics, test, evaluate, review independently</a:t>
            </a:r>
          </a:p>
        </p:txBody>
      </p:sp>
      <p:cxnSp>
        <p:nvCxnSpPr>
          <p:cNvPr id="27" name="Connector 26"/>
          <p:cNvCxnSpPr/>
          <p:nvPr/>
        </p:nvCxnSpPr>
        <p:spPr>
          <a:xfrm>
            <a:off x="871194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4113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4113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4295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4295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150858" y="3063240"/>
            <a:ext cx="2151126" cy="969264"/>
          </a:xfrm>
          <a:prstGeom prst="rect">
            <a:avLst/>
          </a:prstGeom>
          <a:noFill/>
        </p:spPr>
        <p:txBody>
          <a:bodyPr wrap="square" anchor="ctr">
            <a:spAutoFit/>
          </a:bodyPr>
          <a:lstStyle/>
          <a:p>
            <a:pPr algn="ctr">
              <a:spcAft>
                <a:spcPts val="0"/>
              </a:spcAft>
            </a:pPr>
            <a:r>
              <a:rPr sz="1300" b="1">
                <a:solidFill>
                  <a:srgbClr val="161B26"/>
                </a:solidFill>
                <a:latin typeface="Arial"/>
              </a:rPr>
              <a:t>MANAGE</a:t>
            </a:r>
          </a:p>
        </p:txBody>
      </p:sp>
      <p:sp>
        <p:nvSpPr>
          <p:cNvPr id="33" name="TextBox 32"/>
          <p:cNvSpPr txBox="1"/>
          <p:nvPr/>
        </p:nvSpPr>
        <p:spPr>
          <a:xfrm>
            <a:off x="9114282" y="3785616"/>
            <a:ext cx="2224278" cy="402336"/>
          </a:xfrm>
          <a:prstGeom prst="rect">
            <a:avLst/>
          </a:prstGeom>
          <a:noFill/>
        </p:spPr>
        <p:txBody>
          <a:bodyPr wrap="square" anchor="ctr">
            <a:spAutoFit/>
          </a:bodyPr>
          <a:lstStyle/>
          <a:p>
            <a:pPr algn="ctr">
              <a:spcAft>
                <a:spcPts val="0"/>
              </a:spcAft>
            </a:pPr>
            <a:r>
              <a:rPr sz="900" b="0">
                <a:solidFill>
                  <a:srgbClr val="5B6372"/>
                </a:solidFill>
                <a:latin typeface="Arial"/>
              </a:rPr>
              <a:t>Prioritise, treat, monitor, respond, document residual risk</a:t>
            </a:r>
          </a:p>
        </p:txBody>
      </p:sp>
      <p:sp>
        <p:nvSpPr>
          <p:cNvPr id="34" name="Rectangle 33"/>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GOVERN IS NOT A STAGE</a:t>
            </a:r>
          </a:p>
        </p:txBody>
      </p:sp>
      <p:sp>
        <p:nvSpPr>
          <p:cNvPr id="37" name="TextBox 36"/>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GOVERN is infused through the other three. Compliance and evaluation aspects of GOVERN should be integrated into MAP, MEASURE and MANAGE — not done once at the start.</a:t>
            </a:r>
          </a:p>
        </p:txBody>
      </p:sp>
      <p:sp>
        <p:nvSpPr>
          <p:cNvPr id="75" name="TextBox 7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76" name="TextBox 7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77" name="TextBox 7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NIST AI 100-1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Seven Characteristics of Trustworthy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Valid and reliable</a:t>
            </a:r>
          </a:p>
          <a:p>
            <a:pPr algn="l">
              <a:spcAft>
                <a:spcPts val="300"/>
              </a:spcAft>
            </a:pPr>
            <a:r>
              <a:rPr sz="1100" b="0">
                <a:solidFill>
                  <a:srgbClr val="5B6372"/>
                </a:solidFill>
                <a:latin typeface="Arial"/>
              </a:rPr>
              <a:t>It does what it claims, repeatably, in the conditions it will actually meet.</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Safe</a:t>
            </a:r>
          </a:p>
          <a:p>
            <a:pPr algn="l">
              <a:spcAft>
                <a:spcPts val="300"/>
              </a:spcAft>
            </a:pPr>
            <a:r>
              <a:rPr sz="1100" b="0">
                <a:solidFill>
                  <a:srgbClr val="5B6372"/>
                </a:solidFill>
                <a:latin typeface="Arial"/>
              </a:rPr>
              <a:t>It does not create conditions endangering life, health, property or the environment.</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Secure and resilient</a:t>
            </a:r>
          </a:p>
          <a:p>
            <a:pPr algn="l">
              <a:spcAft>
                <a:spcPts val="300"/>
              </a:spcAft>
            </a:pPr>
            <a:r>
              <a:rPr sz="1100" b="0">
                <a:solidFill>
                  <a:srgbClr val="5B6372"/>
                </a:solidFill>
                <a:latin typeface="Arial"/>
              </a:rPr>
              <a:t>It withstands adversarial input and unexpected conditions, and recovers.</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Accountable and transparent</a:t>
            </a:r>
          </a:p>
          <a:p>
            <a:pPr algn="l">
              <a:spcAft>
                <a:spcPts val="300"/>
              </a:spcAft>
            </a:pPr>
            <a:r>
              <a:rPr sz="1100" b="0">
                <a:solidFill>
                  <a:srgbClr val="5B6372"/>
                </a:solidFill>
                <a:latin typeface="Arial"/>
              </a:rPr>
              <a:t>Someone is answerable, and information about the system is available to those who need it.</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Explainable and interpretable</a:t>
            </a:r>
          </a:p>
          <a:p>
            <a:pPr algn="l">
              <a:spcAft>
                <a:spcPts val="300"/>
              </a:spcAft>
            </a:pPr>
            <a:r>
              <a:rPr sz="1100" b="0">
                <a:solidFill>
                  <a:srgbClr val="5B6372"/>
                </a:solidFill>
                <a:latin typeface="Arial"/>
              </a:rPr>
              <a:t>The mechanism and the meaning of an output can be conveyed appropriately.</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Privacy-enhanced</a:t>
            </a:r>
          </a:p>
          <a:p>
            <a:pPr algn="l">
              <a:spcAft>
                <a:spcPts val="300"/>
              </a:spcAft>
            </a:pPr>
            <a:r>
              <a:rPr sz="1100" b="0">
                <a:solidFill>
                  <a:srgbClr val="5B6372"/>
                </a:solidFill>
                <a:latin typeface="Arial"/>
              </a:rPr>
              <a:t>Anonymity, confidentiality and control over personal data are safeguarded.</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Fair with harmful bias managed</a:t>
            </a:r>
          </a:p>
          <a:p>
            <a:pPr algn="l">
              <a:spcAft>
                <a:spcPts val="300"/>
              </a:spcAft>
            </a:pPr>
            <a:r>
              <a:rPr sz="1100" b="0">
                <a:solidFill>
                  <a:srgbClr val="5B6372"/>
                </a:solidFill>
                <a:latin typeface="Arial"/>
              </a:rPr>
              <a:t>Systemic, computational and human-cognitive bias are identified and managed.</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67528"/>
            <a:ext cx="3973068" cy="731520"/>
          </a:xfrm>
          <a:prstGeom prst="rect">
            <a:avLst/>
          </a:prstGeom>
          <a:noFill/>
        </p:spPr>
        <p:txBody>
          <a:bodyPr wrap="square" anchor="ctr">
            <a:spAutoFit/>
          </a:bodyPr>
          <a:lstStyle/>
          <a:p>
            <a:pPr algn="l">
              <a:spcAft>
                <a:spcPts val="300"/>
              </a:spcAft>
            </a:pPr>
            <a:r>
              <a:rPr sz="1300" b="1">
                <a:solidFill>
                  <a:srgbClr val="161B26"/>
                </a:solidFill>
                <a:latin typeface="Arial"/>
              </a:rPr>
              <a:t>They trade off</a:t>
            </a:r>
          </a:p>
          <a:p>
            <a:pPr algn="l">
              <a:spcAft>
                <a:spcPts val="300"/>
              </a:spcAft>
            </a:pPr>
            <a:r>
              <a:rPr sz="900" b="0">
                <a:solidFill>
                  <a:srgbClr val="5B6372"/>
                </a:solidFill>
                <a:latin typeface="Arial"/>
              </a:rPr>
              <a:t>These characteristics interact — optimising one can degrade another. Managing the trade-off is the governance work.</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THE FUNCTION MOST ORGANISATIONS SCORE WORST 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GOVERN — The Six Categories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GOVERN 1 · Policies &amp; processes</a:t>
            </a:r>
          </a:p>
          <a:p>
            <a:pPr algn="l">
              <a:spcAft>
                <a:spcPts val="300"/>
              </a:spcAft>
            </a:pPr>
            <a:r>
              <a:rPr sz="1100" b="0">
                <a:solidFill>
                  <a:srgbClr val="5B6372"/>
                </a:solidFill>
                <a:latin typeface="Arial"/>
              </a:rPr>
              <a:t>Legal requirements understood; trustworthiness in policy; risk tolerance; AI inventory (1.6); safe decommissioning (1.7).</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GOVERN 2 · Accountability</a:t>
            </a:r>
          </a:p>
          <a:p>
            <a:pPr algn="l">
              <a:spcAft>
                <a:spcPts val="300"/>
              </a:spcAft>
            </a:pPr>
            <a:r>
              <a:rPr sz="1100" b="0">
                <a:solidFill>
                  <a:srgbClr val="5B6372"/>
                </a:solidFill>
                <a:latin typeface="Arial"/>
              </a:rPr>
              <a:t>Roles and responsibilities documented (2.1); AI risk training (2.2); executive leadership takes responsibility (2.3).</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GOVERN 3 · Diverse teams</a:t>
            </a:r>
          </a:p>
          <a:p>
            <a:pPr algn="l">
              <a:spcAft>
                <a:spcPts val="300"/>
              </a:spcAft>
            </a:pPr>
            <a:r>
              <a:rPr sz="1100" b="0">
                <a:solidFill>
                  <a:srgbClr val="5B6372"/>
                </a:solidFill>
                <a:latin typeface="Arial"/>
              </a:rPr>
              <a:t>Decisions informed by diverse demographics, disciplines and expertise; human-AI oversight roles defined.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GOVERN 4 · Risk culture</a:t>
            </a:r>
          </a:p>
          <a:p>
            <a:pPr algn="l">
              <a:spcAft>
                <a:spcPts val="300"/>
              </a:spcAft>
            </a:pPr>
            <a:r>
              <a:rPr sz="1100" b="0">
                <a:solidFill>
                  <a:srgbClr val="5B6372"/>
                </a:solidFill>
                <a:latin typeface="Arial"/>
              </a:rPr>
              <a:t>Critical thinking and safety-first mindset; teams document and communicate impacts; testing and incident sharing enabled.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GOVERN 5 · Stakeholder engagement</a:t>
            </a:r>
          </a:p>
          <a:p>
            <a:pPr algn="l">
              <a:spcAft>
                <a:spcPts val="300"/>
              </a:spcAft>
            </a:pPr>
            <a:r>
              <a:rPr sz="1100" b="0">
                <a:solidFill>
                  <a:srgbClr val="5B6372"/>
                </a:solidFill>
                <a:latin typeface="Arial"/>
              </a:rPr>
              <a:t>Feedback from those outside the developing team is collected, prioritised and integrated.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GOVERN 6 · Third-party risk</a:t>
            </a:r>
          </a:p>
          <a:p>
            <a:pPr algn="l">
              <a:spcAft>
                <a:spcPts val="300"/>
              </a:spcAft>
            </a:pPr>
            <a:r>
              <a:rPr sz="1100" b="0">
                <a:solidFill>
                  <a:srgbClr val="5B6372"/>
                </a:solidFill>
                <a:latin typeface="Arial"/>
              </a:rPr>
              <a:t>Policies address third-party AI and data risk (6.1) and contingency for third-party failures (6.2).</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K3 · ETHICAL FRAMEWORKS AND GUIDELINES (SINGAPORE)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Singapore's MGF for Generative AI — Nine Dimensions  (K3)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2154936" cy="1115568"/>
          </a:xfrm>
          <a:prstGeom prst="rect">
            <a:avLst/>
          </a:prstGeom>
          <a:noFill/>
        </p:spPr>
        <p:txBody>
          <a:bodyPr wrap="square" anchor="ctr">
            <a:spAutoFit/>
          </a:bodyPr>
          <a:lstStyle/>
          <a:p>
            <a:pPr algn="l">
              <a:spcAft>
                <a:spcPts val="300"/>
              </a:spcAft>
            </a:pPr>
            <a:r>
              <a:rPr sz="1400" b="1">
                <a:solidFill>
                  <a:srgbClr val="161B26"/>
                </a:solidFill>
                <a:latin typeface="Arial"/>
              </a:rPr>
              <a:t>1 · Accountability</a:t>
            </a:r>
          </a:p>
          <a:p>
            <a:pPr algn="l">
              <a:spcAft>
                <a:spcPts val="300"/>
              </a:spcAft>
            </a:pPr>
            <a:r>
              <a:rPr sz="1000" b="0">
                <a:solidFill>
                  <a:srgbClr val="5B6372"/>
                </a:solidFill>
                <a:latin typeface="Arial"/>
              </a:rPr>
              <a:t>Allocate responsibility along the AI development chain so end-users have someone answerable.</a:t>
            </a:r>
          </a:p>
        </p:txBody>
      </p:sp>
      <p:sp>
        <p:nvSpPr>
          <p:cNvPr id="12" name="Rectangle 11"/>
          <p:cNvSpPr/>
          <p:nvPr/>
        </p:nvSpPr>
        <p:spPr>
          <a:xfrm>
            <a:off x="4413504" y="1783080"/>
            <a:ext cx="336194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911096"/>
            <a:ext cx="2154936" cy="1115568"/>
          </a:xfrm>
          <a:prstGeom prst="rect">
            <a:avLst/>
          </a:prstGeom>
          <a:noFill/>
        </p:spPr>
        <p:txBody>
          <a:bodyPr wrap="square" anchor="ctr">
            <a:spAutoFit/>
          </a:bodyPr>
          <a:lstStyle/>
          <a:p>
            <a:pPr algn="l">
              <a:spcAft>
                <a:spcPts val="300"/>
              </a:spcAft>
            </a:pPr>
            <a:r>
              <a:rPr sz="1400" b="1">
                <a:solidFill>
                  <a:srgbClr val="161B26"/>
                </a:solidFill>
                <a:latin typeface="Arial"/>
              </a:rPr>
              <a:t>2 · Data</a:t>
            </a:r>
          </a:p>
          <a:p>
            <a:pPr algn="l">
              <a:spcAft>
                <a:spcPts val="300"/>
              </a:spcAft>
            </a:pPr>
            <a:r>
              <a:rPr sz="1000" b="0">
                <a:solidFill>
                  <a:srgbClr val="5B6372"/>
                </a:solidFill>
                <a:latin typeface="Arial"/>
              </a:rPr>
              <a:t>Ensure data quality and trusted sources; give clarity on contentious data — personal data and copyright.</a:t>
            </a:r>
          </a:p>
        </p:txBody>
      </p:sp>
      <p:sp>
        <p:nvSpPr>
          <p:cNvPr id="17" name="Rectangle 16"/>
          <p:cNvSpPr/>
          <p:nvPr/>
        </p:nvSpPr>
        <p:spPr>
          <a:xfrm>
            <a:off x="8049768" y="1783080"/>
            <a:ext cx="336194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911096"/>
            <a:ext cx="2154936" cy="1115568"/>
          </a:xfrm>
          <a:prstGeom prst="rect">
            <a:avLst/>
          </a:prstGeom>
          <a:noFill/>
        </p:spPr>
        <p:txBody>
          <a:bodyPr wrap="square" anchor="ctr">
            <a:spAutoFit/>
          </a:bodyPr>
          <a:lstStyle/>
          <a:p>
            <a:pPr algn="l">
              <a:spcAft>
                <a:spcPts val="300"/>
              </a:spcAft>
            </a:pPr>
            <a:r>
              <a:rPr sz="1300" b="1">
                <a:solidFill>
                  <a:srgbClr val="161B26"/>
                </a:solidFill>
                <a:latin typeface="Arial"/>
              </a:rPr>
              <a:t>3 · Trusted development &amp; deployment</a:t>
            </a:r>
          </a:p>
          <a:p>
            <a:pPr algn="l">
              <a:spcAft>
                <a:spcPts val="300"/>
              </a:spcAft>
            </a:pPr>
            <a:r>
              <a:rPr sz="900" b="0">
                <a:solidFill>
                  <a:srgbClr val="5B6372"/>
                </a:solidFill>
                <a:latin typeface="Arial"/>
              </a:rPr>
              <a:t>Best practice in development and evaluation, plus 'food label'-type transparency on safety measures taken.</a:t>
            </a:r>
          </a:p>
        </p:txBody>
      </p:sp>
      <p:sp>
        <p:nvSpPr>
          <p:cNvPr id="22" name="Rectangle 21"/>
          <p:cNvSpPr/>
          <p:nvPr/>
        </p:nvSpPr>
        <p:spPr>
          <a:xfrm>
            <a:off x="777240" y="3319272"/>
            <a:ext cx="336194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447288"/>
            <a:ext cx="2154936" cy="1115568"/>
          </a:xfrm>
          <a:prstGeom prst="rect">
            <a:avLst/>
          </a:prstGeom>
          <a:noFill/>
        </p:spPr>
        <p:txBody>
          <a:bodyPr wrap="square" anchor="ctr">
            <a:spAutoFit/>
          </a:bodyPr>
          <a:lstStyle/>
          <a:p>
            <a:pPr algn="l">
              <a:spcAft>
                <a:spcPts val="300"/>
              </a:spcAft>
            </a:pPr>
            <a:r>
              <a:rPr sz="1400" b="1">
                <a:solidFill>
                  <a:srgbClr val="161B26"/>
                </a:solidFill>
                <a:latin typeface="Arial"/>
              </a:rPr>
              <a:t>4 · Incident reporting</a:t>
            </a:r>
          </a:p>
          <a:p>
            <a:pPr algn="l">
              <a:spcAft>
                <a:spcPts val="300"/>
              </a:spcAft>
            </a:pPr>
            <a:r>
              <a:rPr sz="1000" b="0">
                <a:solidFill>
                  <a:srgbClr val="5B6372"/>
                </a:solidFill>
                <a:latin typeface="Arial"/>
              </a:rPr>
              <a:t>Structures and processes for monitoring, timely notification and remediation.</a:t>
            </a:r>
          </a:p>
        </p:txBody>
      </p:sp>
      <p:sp>
        <p:nvSpPr>
          <p:cNvPr id="27" name="Rectangle 26"/>
          <p:cNvSpPr/>
          <p:nvPr/>
        </p:nvSpPr>
        <p:spPr>
          <a:xfrm>
            <a:off x="4413504" y="3319272"/>
            <a:ext cx="336194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3447288"/>
            <a:ext cx="2154936" cy="1115568"/>
          </a:xfrm>
          <a:prstGeom prst="rect">
            <a:avLst/>
          </a:prstGeom>
          <a:noFill/>
        </p:spPr>
        <p:txBody>
          <a:bodyPr wrap="square" anchor="ctr">
            <a:spAutoFit/>
          </a:bodyPr>
          <a:lstStyle/>
          <a:p>
            <a:pPr algn="l">
              <a:spcAft>
                <a:spcPts val="300"/>
              </a:spcAft>
            </a:pPr>
            <a:r>
              <a:rPr sz="1300" b="1">
                <a:solidFill>
                  <a:srgbClr val="161B26"/>
                </a:solidFill>
                <a:latin typeface="Arial"/>
              </a:rPr>
              <a:t>5 · Testing &amp; assurance</a:t>
            </a:r>
          </a:p>
          <a:p>
            <a:pPr algn="l">
              <a:spcAft>
                <a:spcPts val="300"/>
              </a:spcAft>
            </a:pPr>
            <a:r>
              <a:rPr sz="900" b="0">
                <a:solidFill>
                  <a:srgbClr val="5B6372"/>
                </a:solidFill>
                <a:latin typeface="Arial"/>
              </a:rPr>
              <a:t>Third-party testing for independent verification, and common standards so results are comparable.</a:t>
            </a:r>
          </a:p>
        </p:txBody>
      </p:sp>
      <p:sp>
        <p:nvSpPr>
          <p:cNvPr id="32" name="Rectangle 31"/>
          <p:cNvSpPr/>
          <p:nvPr/>
        </p:nvSpPr>
        <p:spPr>
          <a:xfrm>
            <a:off x="8049768" y="3319272"/>
            <a:ext cx="336194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3447288"/>
            <a:ext cx="2154936" cy="1115568"/>
          </a:xfrm>
          <a:prstGeom prst="rect">
            <a:avLst/>
          </a:prstGeom>
          <a:noFill/>
        </p:spPr>
        <p:txBody>
          <a:bodyPr wrap="square" anchor="ctr">
            <a:spAutoFit/>
          </a:bodyPr>
          <a:lstStyle/>
          <a:p>
            <a:pPr algn="l">
              <a:spcAft>
                <a:spcPts val="300"/>
              </a:spcAft>
            </a:pPr>
            <a:r>
              <a:rPr sz="1400" b="1">
                <a:solidFill>
                  <a:srgbClr val="161B26"/>
                </a:solidFill>
                <a:latin typeface="Arial"/>
              </a:rPr>
              <a:t>6 · Security</a:t>
            </a:r>
          </a:p>
          <a:p>
            <a:pPr algn="l">
              <a:spcAft>
                <a:spcPts val="300"/>
              </a:spcAft>
            </a:pPr>
            <a:r>
              <a:rPr sz="1000" b="0">
                <a:solidFill>
                  <a:srgbClr val="5B6372"/>
                </a:solidFill>
                <a:latin typeface="Arial"/>
              </a:rPr>
              <a:t>GenAI introduces new threat vectors through the models themselves; adapt existing InfoSec frameworks.</a:t>
            </a:r>
          </a:p>
        </p:txBody>
      </p:sp>
      <p:sp>
        <p:nvSpPr>
          <p:cNvPr id="37" name="Rectangle 36"/>
          <p:cNvSpPr/>
          <p:nvPr/>
        </p:nvSpPr>
        <p:spPr>
          <a:xfrm>
            <a:off x="777240" y="4855464"/>
            <a:ext cx="336194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4983480"/>
            <a:ext cx="2154936" cy="1115568"/>
          </a:xfrm>
          <a:prstGeom prst="rect">
            <a:avLst/>
          </a:prstGeom>
          <a:noFill/>
        </p:spPr>
        <p:txBody>
          <a:bodyPr wrap="square" anchor="ctr">
            <a:spAutoFit/>
          </a:bodyPr>
          <a:lstStyle/>
          <a:p>
            <a:pPr algn="l">
              <a:spcAft>
                <a:spcPts val="300"/>
              </a:spcAft>
            </a:pPr>
            <a:r>
              <a:rPr sz="1400" b="1">
                <a:solidFill>
                  <a:srgbClr val="161B26"/>
                </a:solidFill>
                <a:latin typeface="Arial"/>
              </a:rPr>
              <a:t>7 · Content provenance</a:t>
            </a:r>
          </a:p>
          <a:p>
            <a:pPr algn="l">
              <a:spcAft>
                <a:spcPts val="300"/>
              </a:spcAft>
            </a:pPr>
            <a:r>
              <a:rPr sz="1000" b="0">
                <a:solidFill>
                  <a:srgbClr val="5B6372"/>
                </a:solidFill>
                <a:latin typeface="Arial"/>
              </a:rPr>
              <a:t>Transparency about where and how content was generated — watermarking and cryptographic provenance.</a:t>
            </a:r>
          </a:p>
        </p:txBody>
      </p:sp>
      <p:sp>
        <p:nvSpPr>
          <p:cNvPr id="42" name="Rectangle 41"/>
          <p:cNvSpPr/>
          <p:nvPr/>
        </p:nvSpPr>
        <p:spPr>
          <a:xfrm>
            <a:off x="4413504" y="4855464"/>
            <a:ext cx="336194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413504" y="4855464"/>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669536" y="523036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669536"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5401056" y="4983480"/>
            <a:ext cx="2154936" cy="1115568"/>
          </a:xfrm>
          <a:prstGeom prst="rect">
            <a:avLst/>
          </a:prstGeom>
          <a:noFill/>
        </p:spPr>
        <p:txBody>
          <a:bodyPr wrap="square" anchor="ctr">
            <a:spAutoFit/>
          </a:bodyPr>
          <a:lstStyle/>
          <a:p>
            <a:pPr algn="l">
              <a:spcAft>
                <a:spcPts val="300"/>
              </a:spcAft>
            </a:pPr>
            <a:r>
              <a:rPr sz="1300" b="1">
                <a:solidFill>
                  <a:srgbClr val="161B26"/>
                </a:solidFill>
                <a:latin typeface="Arial"/>
              </a:rPr>
              <a:t>8 · Safety &amp; alignment R&amp;D</a:t>
            </a:r>
          </a:p>
          <a:p>
            <a:pPr algn="l">
              <a:spcAft>
                <a:spcPts val="300"/>
              </a:spcAft>
            </a:pPr>
            <a:r>
              <a:rPr sz="900" b="0">
                <a:solidFill>
                  <a:srgbClr val="5B6372"/>
                </a:solidFill>
                <a:latin typeface="Arial"/>
              </a:rPr>
              <a:t>Invest in alignment with human intention and values; global cooperation across AI safety institutes.</a:t>
            </a:r>
          </a:p>
        </p:txBody>
      </p:sp>
      <p:sp>
        <p:nvSpPr>
          <p:cNvPr id="47" name="Rectangle 46"/>
          <p:cNvSpPr/>
          <p:nvPr/>
        </p:nvSpPr>
        <p:spPr>
          <a:xfrm>
            <a:off x="8049768" y="4855464"/>
            <a:ext cx="3361944"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049768"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305800"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305800"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51" name="TextBox 50"/>
          <p:cNvSpPr txBox="1"/>
          <p:nvPr/>
        </p:nvSpPr>
        <p:spPr>
          <a:xfrm>
            <a:off x="9037320" y="4983480"/>
            <a:ext cx="2154936" cy="1115568"/>
          </a:xfrm>
          <a:prstGeom prst="rect">
            <a:avLst/>
          </a:prstGeom>
          <a:noFill/>
        </p:spPr>
        <p:txBody>
          <a:bodyPr wrap="square" anchor="ctr">
            <a:spAutoFit/>
          </a:bodyPr>
          <a:lstStyle/>
          <a:p>
            <a:pPr algn="l">
              <a:spcAft>
                <a:spcPts val="300"/>
              </a:spcAft>
            </a:pPr>
            <a:r>
              <a:rPr sz="1400" b="1">
                <a:solidFill>
                  <a:srgbClr val="161B26"/>
                </a:solidFill>
                <a:latin typeface="Arial"/>
              </a:rPr>
              <a:t>9 · AI for public good</a:t>
            </a:r>
          </a:p>
          <a:p>
            <a:pPr algn="l">
              <a:spcAft>
                <a:spcPts val="300"/>
              </a:spcAft>
            </a:pPr>
            <a:r>
              <a:rPr sz="1000" b="0">
                <a:solidFill>
                  <a:srgbClr val="5B6372"/>
                </a:solidFill>
                <a:latin typeface="Arial"/>
              </a:rPr>
              <a:t>Democratised access, public-sector adoption, upskilling and sustainability.</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advClick="1">
    <p:push dir="l"/>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SINGAPORE TESTING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AI Verify — Turning Claims Into Evidence  (A6)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Singapore's testing framework</a:t>
            </a:r>
          </a:p>
          <a:p>
            <a:pPr algn="l">
              <a:spcAft>
                <a:spcPts val="300"/>
              </a:spcAft>
            </a:pPr>
            <a:r>
              <a:rPr sz="1300" b="0">
                <a:solidFill>
                  <a:srgbClr val="5B6372"/>
                </a:solidFill>
                <a:latin typeface="Arial"/>
              </a:rPr>
              <a:t>An AI governance testing framework and toolkit from IMDA and the AI Verify Foundation.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Test, don't assert</a:t>
            </a:r>
          </a:p>
          <a:p>
            <a:pPr algn="l">
              <a:spcAft>
                <a:spcPts val="300"/>
              </a:spcAft>
            </a:pPr>
            <a:r>
              <a:rPr sz="1300" b="0">
                <a:solidFill>
                  <a:srgbClr val="5B6372"/>
                </a:solidFill>
                <a:latin typeface="Arial"/>
              </a:rPr>
              <a:t>It lets an organisation demonstrate through standardised tests that a system behaves as claimed.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Serves two MGF dimensions</a:t>
            </a:r>
          </a:p>
          <a:p>
            <a:pPr algn="l">
              <a:spcAft>
                <a:spcPts val="300"/>
              </a:spcAft>
            </a:pPr>
            <a:r>
              <a:rPr sz="1300" b="0">
                <a:solidFill>
                  <a:srgbClr val="5B6372"/>
                </a:solidFill>
                <a:latin typeface="Arial"/>
              </a:rPr>
              <a:t>It produces exactly the evidence that 'trusted development and deployment' and 'testing and assurance' call for.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Why it matters commercially</a:t>
            </a:r>
          </a:p>
          <a:p>
            <a:pPr algn="l">
              <a:spcAft>
                <a:spcPts val="300"/>
              </a:spcAft>
            </a:pPr>
            <a:r>
              <a:rPr sz="1300" b="0">
                <a:solidFill>
                  <a:srgbClr val="5B6372"/>
                </a:solidFill>
                <a:latin typeface="Arial"/>
              </a:rPr>
              <a:t>Independent verification is becoming a procurement requirement, not a differentiator.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A6 · EVALUATING ETHICAL FRAMEWORKS AND GUIDELINES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Frameworks Side by Side  (A6, K3)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Framework</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Origin</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What it gives you</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Use it for</a:t>
            </a:r>
          </a:p>
        </p:txBody>
      </p:sp>
      <p:sp>
        <p:nvSpPr>
          <p:cNvPr id="15" name="Rectangle 14"/>
          <p:cNvSpPr/>
          <p:nvPr/>
        </p:nvSpPr>
        <p:spPr>
          <a:xfrm>
            <a:off x="777240" y="2258568"/>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NIST AI RMF 1.0</a:t>
            </a:r>
          </a:p>
        </p:txBody>
      </p:sp>
      <p:sp>
        <p:nvSpPr>
          <p:cNvPr id="17" name="Rectangle 16"/>
          <p:cNvSpPr/>
          <p:nvPr/>
        </p:nvSpPr>
        <p:spPr>
          <a:xfrm>
            <a:off x="3542202" y="2258568"/>
            <a:ext cx="2623170"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414092"/>
          </a:xfrm>
          <a:prstGeom prst="rect">
            <a:avLst/>
          </a:prstGeom>
          <a:noFill/>
        </p:spPr>
        <p:txBody>
          <a:bodyPr wrap="square" anchor="ctr">
            <a:spAutoFit/>
          </a:bodyPr>
          <a:lstStyle/>
          <a:p>
            <a:pPr algn="l">
              <a:spcAft>
                <a:spcPts val="400"/>
              </a:spcAft>
            </a:pPr>
            <a:r>
              <a:rPr sz="1150" b="0">
                <a:solidFill>
                  <a:srgbClr val="5B6372"/>
                </a:solidFill>
                <a:latin typeface="Arial"/>
              </a:rPr>
              <a:t>NIST (US), voluntary</a:t>
            </a:r>
          </a:p>
        </p:txBody>
      </p:sp>
      <p:sp>
        <p:nvSpPr>
          <p:cNvPr id="19" name="Rectangle 18"/>
          <p:cNvSpPr/>
          <p:nvPr/>
        </p:nvSpPr>
        <p:spPr>
          <a:xfrm>
            <a:off x="6165372" y="2258568"/>
            <a:ext cx="2623170"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414092"/>
          </a:xfrm>
          <a:prstGeom prst="rect">
            <a:avLst/>
          </a:prstGeom>
          <a:noFill/>
        </p:spPr>
        <p:txBody>
          <a:bodyPr wrap="square" anchor="ctr">
            <a:spAutoFit/>
          </a:bodyPr>
          <a:lstStyle/>
          <a:p>
            <a:pPr algn="l">
              <a:spcAft>
                <a:spcPts val="400"/>
              </a:spcAft>
            </a:pPr>
            <a:r>
              <a:rPr sz="950" b="0">
                <a:solidFill>
                  <a:srgbClr val="5B6372"/>
                </a:solidFill>
                <a:latin typeface="Arial"/>
              </a:rPr>
              <a:t>GOVERN / MAP / MEASURE / MANAGE structure</a:t>
            </a:r>
          </a:p>
        </p:txBody>
      </p:sp>
      <p:sp>
        <p:nvSpPr>
          <p:cNvPr id="21" name="Rectangle 20"/>
          <p:cNvSpPr/>
          <p:nvPr/>
        </p:nvSpPr>
        <p:spPr>
          <a:xfrm>
            <a:off x="8788542" y="2258568"/>
            <a:ext cx="2623170"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414092"/>
          </a:xfrm>
          <a:prstGeom prst="rect">
            <a:avLst/>
          </a:prstGeom>
          <a:noFill/>
        </p:spPr>
        <p:txBody>
          <a:bodyPr wrap="square" anchor="ctr">
            <a:spAutoFit/>
          </a:bodyPr>
          <a:lstStyle/>
          <a:p>
            <a:pPr algn="l">
              <a:spcAft>
                <a:spcPts val="400"/>
              </a:spcAft>
            </a:pPr>
            <a:r>
              <a:rPr sz="950" b="0">
                <a:solidFill>
                  <a:srgbClr val="5B6372"/>
                </a:solidFill>
                <a:latin typeface="Arial"/>
              </a:rPr>
              <a:t>Your gap assessment and control structure</a:t>
            </a:r>
          </a:p>
        </p:txBody>
      </p:sp>
      <p:sp>
        <p:nvSpPr>
          <p:cNvPr id="23" name="Rectangle 22"/>
          <p:cNvSpPr/>
          <p:nvPr/>
        </p:nvSpPr>
        <p:spPr>
          <a:xfrm>
            <a:off x="777240" y="2672660"/>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672660"/>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NIST AI 600-1</a:t>
            </a:r>
          </a:p>
        </p:txBody>
      </p:sp>
      <p:sp>
        <p:nvSpPr>
          <p:cNvPr id="25" name="Rectangle 24"/>
          <p:cNvSpPr/>
          <p:nvPr/>
        </p:nvSpPr>
        <p:spPr>
          <a:xfrm>
            <a:off x="3542202" y="2672660"/>
            <a:ext cx="2623170"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672660"/>
            <a:ext cx="2367138" cy="414092"/>
          </a:xfrm>
          <a:prstGeom prst="rect">
            <a:avLst/>
          </a:prstGeom>
          <a:noFill/>
        </p:spPr>
        <p:txBody>
          <a:bodyPr wrap="square" anchor="ctr">
            <a:spAutoFit/>
          </a:bodyPr>
          <a:lstStyle/>
          <a:p>
            <a:pPr algn="l">
              <a:spcAft>
                <a:spcPts val="400"/>
              </a:spcAft>
            </a:pPr>
            <a:r>
              <a:rPr sz="1150" b="0">
                <a:solidFill>
                  <a:srgbClr val="5B6372"/>
                </a:solidFill>
                <a:latin typeface="Arial"/>
              </a:rPr>
              <a:t>NIST GenAI profile</a:t>
            </a:r>
          </a:p>
        </p:txBody>
      </p:sp>
      <p:sp>
        <p:nvSpPr>
          <p:cNvPr id="27" name="Rectangle 26"/>
          <p:cNvSpPr/>
          <p:nvPr/>
        </p:nvSpPr>
        <p:spPr>
          <a:xfrm>
            <a:off x="6165372" y="2672660"/>
            <a:ext cx="2623170"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672660"/>
            <a:ext cx="2367138" cy="414092"/>
          </a:xfrm>
          <a:prstGeom prst="rect">
            <a:avLst/>
          </a:prstGeom>
          <a:noFill/>
        </p:spPr>
        <p:txBody>
          <a:bodyPr wrap="square" anchor="ctr">
            <a:spAutoFit/>
          </a:bodyPr>
          <a:lstStyle/>
          <a:p>
            <a:pPr algn="l">
              <a:spcAft>
                <a:spcPts val="400"/>
              </a:spcAft>
            </a:pPr>
            <a:r>
              <a:rPr sz="950" b="0">
                <a:solidFill>
                  <a:srgbClr val="5B6372"/>
                </a:solidFill>
                <a:latin typeface="Arial"/>
              </a:rPr>
              <a:t>12 named GenAI risks + suggested actions</a:t>
            </a:r>
          </a:p>
        </p:txBody>
      </p:sp>
      <p:sp>
        <p:nvSpPr>
          <p:cNvPr id="29" name="Rectangle 28"/>
          <p:cNvSpPr/>
          <p:nvPr/>
        </p:nvSpPr>
        <p:spPr>
          <a:xfrm>
            <a:off x="8788542" y="2672660"/>
            <a:ext cx="2623170"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672660"/>
            <a:ext cx="2367138" cy="414092"/>
          </a:xfrm>
          <a:prstGeom prst="rect">
            <a:avLst/>
          </a:prstGeom>
          <a:noFill/>
        </p:spPr>
        <p:txBody>
          <a:bodyPr wrap="square" anchor="ctr">
            <a:spAutoFit/>
          </a:bodyPr>
          <a:lstStyle/>
          <a:p>
            <a:pPr algn="l">
              <a:spcAft>
                <a:spcPts val="400"/>
              </a:spcAft>
            </a:pPr>
            <a:r>
              <a:rPr sz="950" b="0">
                <a:solidFill>
                  <a:srgbClr val="5B6372"/>
                </a:solidFill>
                <a:latin typeface="Arial"/>
              </a:rPr>
              <a:t>Risk identification for generative systems</a:t>
            </a:r>
          </a:p>
        </p:txBody>
      </p:sp>
      <p:sp>
        <p:nvSpPr>
          <p:cNvPr id="31" name="Rectangle 30"/>
          <p:cNvSpPr/>
          <p:nvPr/>
        </p:nvSpPr>
        <p:spPr>
          <a:xfrm>
            <a:off x="777240" y="3086752"/>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086752"/>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MGF for GenAI</a:t>
            </a:r>
          </a:p>
        </p:txBody>
      </p:sp>
      <p:sp>
        <p:nvSpPr>
          <p:cNvPr id="33" name="Rectangle 32"/>
          <p:cNvSpPr/>
          <p:nvPr/>
        </p:nvSpPr>
        <p:spPr>
          <a:xfrm>
            <a:off x="3542202" y="3086752"/>
            <a:ext cx="2623170"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086752"/>
            <a:ext cx="2367138" cy="414092"/>
          </a:xfrm>
          <a:prstGeom prst="rect">
            <a:avLst/>
          </a:prstGeom>
          <a:noFill/>
        </p:spPr>
        <p:txBody>
          <a:bodyPr wrap="square" anchor="ctr">
            <a:spAutoFit/>
          </a:bodyPr>
          <a:lstStyle/>
          <a:p>
            <a:pPr algn="l">
              <a:spcAft>
                <a:spcPts val="400"/>
              </a:spcAft>
            </a:pPr>
            <a:r>
              <a:rPr sz="1150" b="0">
                <a:solidFill>
                  <a:srgbClr val="5B6372"/>
                </a:solidFill>
                <a:latin typeface="Arial"/>
              </a:rPr>
              <a:t>IMDA / AI Verify (SG)</a:t>
            </a:r>
          </a:p>
        </p:txBody>
      </p:sp>
      <p:sp>
        <p:nvSpPr>
          <p:cNvPr id="35" name="Rectangle 34"/>
          <p:cNvSpPr/>
          <p:nvPr/>
        </p:nvSpPr>
        <p:spPr>
          <a:xfrm>
            <a:off x="6165372" y="3086752"/>
            <a:ext cx="2623170"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086752"/>
            <a:ext cx="2367138" cy="414092"/>
          </a:xfrm>
          <a:prstGeom prst="rect">
            <a:avLst/>
          </a:prstGeom>
          <a:noFill/>
        </p:spPr>
        <p:txBody>
          <a:bodyPr wrap="square" anchor="ctr">
            <a:spAutoFit/>
          </a:bodyPr>
          <a:lstStyle/>
          <a:p>
            <a:pPr algn="l">
              <a:spcAft>
                <a:spcPts val="400"/>
              </a:spcAft>
            </a:pPr>
            <a:r>
              <a:rPr sz="950" b="0">
                <a:solidFill>
                  <a:srgbClr val="5B6372"/>
                </a:solidFill>
                <a:latin typeface="Arial"/>
              </a:rPr>
              <a:t>Nine dimensions of a trusted ecosystem</a:t>
            </a:r>
          </a:p>
        </p:txBody>
      </p:sp>
      <p:sp>
        <p:nvSpPr>
          <p:cNvPr id="37" name="Rectangle 36"/>
          <p:cNvSpPr/>
          <p:nvPr/>
        </p:nvSpPr>
        <p:spPr>
          <a:xfrm>
            <a:off x="8788542" y="3086752"/>
            <a:ext cx="2623170"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086752"/>
            <a:ext cx="2367138" cy="414092"/>
          </a:xfrm>
          <a:prstGeom prst="rect">
            <a:avLst/>
          </a:prstGeom>
          <a:noFill/>
        </p:spPr>
        <p:txBody>
          <a:bodyPr wrap="square" anchor="ctr">
            <a:spAutoFit/>
          </a:bodyPr>
          <a:lstStyle/>
          <a:p>
            <a:pPr algn="l">
              <a:spcAft>
                <a:spcPts val="400"/>
              </a:spcAft>
            </a:pPr>
            <a:r>
              <a:rPr sz="950" b="0">
                <a:solidFill>
                  <a:srgbClr val="5B6372"/>
                </a:solidFill>
                <a:latin typeface="Arial"/>
              </a:rPr>
              <a:t>Aligning to Singapore expectations</a:t>
            </a:r>
          </a:p>
        </p:txBody>
      </p:sp>
      <p:sp>
        <p:nvSpPr>
          <p:cNvPr id="39" name="Rectangle 38"/>
          <p:cNvSpPr/>
          <p:nvPr/>
        </p:nvSpPr>
        <p:spPr>
          <a:xfrm>
            <a:off x="777240" y="3500844"/>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500844"/>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AI Verify</a:t>
            </a:r>
          </a:p>
        </p:txBody>
      </p:sp>
      <p:sp>
        <p:nvSpPr>
          <p:cNvPr id="41" name="Rectangle 40"/>
          <p:cNvSpPr/>
          <p:nvPr/>
        </p:nvSpPr>
        <p:spPr>
          <a:xfrm>
            <a:off x="3542202" y="3500844"/>
            <a:ext cx="2623170"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500844"/>
            <a:ext cx="2367138" cy="414092"/>
          </a:xfrm>
          <a:prstGeom prst="rect">
            <a:avLst/>
          </a:prstGeom>
          <a:noFill/>
        </p:spPr>
        <p:txBody>
          <a:bodyPr wrap="square" anchor="ctr">
            <a:spAutoFit/>
          </a:bodyPr>
          <a:lstStyle/>
          <a:p>
            <a:pPr algn="l">
              <a:spcAft>
                <a:spcPts val="400"/>
              </a:spcAft>
            </a:pPr>
            <a:r>
              <a:rPr sz="1150" b="0">
                <a:solidFill>
                  <a:srgbClr val="5B6372"/>
                </a:solidFill>
                <a:latin typeface="Arial"/>
              </a:rPr>
              <a:t>IMDA / AI Verify (SG)</a:t>
            </a:r>
          </a:p>
        </p:txBody>
      </p:sp>
      <p:sp>
        <p:nvSpPr>
          <p:cNvPr id="43" name="Rectangle 42"/>
          <p:cNvSpPr/>
          <p:nvPr/>
        </p:nvSpPr>
        <p:spPr>
          <a:xfrm>
            <a:off x="6165372" y="3500844"/>
            <a:ext cx="2623170"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500844"/>
            <a:ext cx="2367138" cy="414092"/>
          </a:xfrm>
          <a:prstGeom prst="rect">
            <a:avLst/>
          </a:prstGeom>
          <a:noFill/>
        </p:spPr>
        <p:txBody>
          <a:bodyPr wrap="square" anchor="ctr">
            <a:spAutoFit/>
          </a:bodyPr>
          <a:lstStyle/>
          <a:p>
            <a:pPr algn="l">
              <a:spcAft>
                <a:spcPts val="400"/>
              </a:spcAft>
            </a:pPr>
            <a:r>
              <a:rPr sz="1150" b="0">
                <a:solidFill>
                  <a:srgbClr val="5B6372"/>
                </a:solidFill>
                <a:latin typeface="Arial"/>
              </a:rPr>
              <a:t>Testing framework and toolkit</a:t>
            </a:r>
          </a:p>
        </p:txBody>
      </p:sp>
      <p:sp>
        <p:nvSpPr>
          <p:cNvPr id="45" name="Rectangle 44"/>
          <p:cNvSpPr/>
          <p:nvPr/>
        </p:nvSpPr>
        <p:spPr>
          <a:xfrm>
            <a:off x="8788542" y="3500844"/>
            <a:ext cx="2623170"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500844"/>
            <a:ext cx="2367138" cy="414092"/>
          </a:xfrm>
          <a:prstGeom prst="rect">
            <a:avLst/>
          </a:prstGeom>
          <a:noFill/>
        </p:spPr>
        <p:txBody>
          <a:bodyPr wrap="square" anchor="ctr">
            <a:spAutoFit/>
          </a:bodyPr>
          <a:lstStyle/>
          <a:p>
            <a:pPr algn="l">
              <a:spcAft>
                <a:spcPts val="400"/>
              </a:spcAft>
            </a:pPr>
            <a:r>
              <a:rPr sz="1150" b="0">
                <a:solidFill>
                  <a:srgbClr val="5B6372"/>
                </a:solidFill>
                <a:latin typeface="Arial"/>
              </a:rPr>
              <a:t>Producing assurance evidence</a:t>
            </a:r>
          </a:p>
        </p:txBody>
      </p:sp>
      <p:sp>
        <p:nvSpPr>
          <p:cNvPr id="47" name="Rectangle 46"/>
          <p:cNvSpPr/>
          <p:nvPr/>
        </p:nvSpPr>
        <p:spPr>
          <a:xfrm>
            <a:off x="777240" y="3914936"/>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3914936"/>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PDPA + PDPC AI Guidelines</a:t>
            </a:r>
          </a:p>
        </p:txBody>
      </p:sp>
      <p:sp>
        <p:nvSpPr>
          <p:cNvPr id="49" name="Rectangle 48"/>
          <p:cNvSpPr/>
          <p:nvPr/>
        </p:nvSpPr>
        <p:spPr>
          <a:xfrm>
            <a:off x="3542202" y="3914936"/>
            <a:ext cx="2623170"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3914936"/>
            <a:ext cx="2367138" cy="414092"/>
          </a:xfrm>
          <a:prstGeom prst="rect">
            <a:avLst/>
          </a:prstGeom>
          <a:noFill/>
        </p:spPr>
        <p:txBody>
          <a:bodyPr wrap="square" anchor="ctr">
            <a:spAutoFit/>
          </a:bodyPr>
          <a:lstStyle/>
          <a:p>
            <a:pPr algn="l">
              <a:spcAft>
                <a:spcPts val="400"/>
              </a:spcAft>
            </a:pPr>
            <a:r>
              <a:rPr sz="1150" b="0">
                <a:solidFill>
                  <a:srgbClr val="5B6372"/>
                </a:solidFill>
                <a:latin typeface="Arial"/>
              </a:rPr>
              <a:t>PDPC (SG), law + guidance</a:t>
            </a:r>
          </a:p>
        </p:txBody>
      </p:sp>
      <p:sp>
        <p:nvSpPr>
          <p:cNvPr id="51" name="Rectangle 50"/>
          <p:cNvSpPr/>
          <p:nvPr/>
        </p:nvSpPr>
        <p:spPr>
          <a:xfrm>
            <a:off x="6165372" y="3914936"/>
            <a:ext cx="2623170"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3914936"/>
            <a:ext cx="2367138" cy="414092"/>
          </a:xfrm>
          <a:prstGeom prst="rect">
            <a:avLst/>
          </a:prstGeom>
          <a:noFill/>
        </p:spPr>
        <p:txBody>
          <a:bodyPr wrap="square" anchor="ctr">
            <a:spAutoFit/>
          </a:bodyPr>
          <a:lstStyle/>
          <a:p>
            <a:pPr algn="l">
              <a:spcAft>
                <a:spcPts val="400"/>
              </a:spcAft>
            </a:pPr>
            <a:r>
              <a:rPr sz="950" b="0">
                <a:solidFill>
                  <a:srgbClr val="5B6372"/>
                </a:solidFill>
                <a:latin typeface="Arial"/>
              </a:rPr>
              <a:t>Lawful basis, notification, accountability</a:t>
            </a:r>
          </a:p>
        </p:txBody>
      </p:sp>
      <p:sp>
        <p:nvSpPr>
          <p:cNvPr id="53" name="Rectangle 52"/>
          <p:cNvSpPr/>
          <p:nvPr/>
        </p:nvSpPr>
        <p:spPr>
          <a:xfrm>
            <a:off x="8788542" y="3914936"/>
            <a:ext cx="2623170"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3914936"/>
            <a:ext cx="2367138" cy="414092"/>
          </a:xfrm>
          <a:prstGeom prst="rect">
            <a:avLst/>
          </a:prstGeom>
          <a:noFill/>
        </p:spPr>
        <p:txBody>
          <a:bodyPr wrap="square" anchor="ctr">
            <a:spAutoFit/>
          </a:bodyPr>
          <a:lstStyle/>
          <a:p>
            <a:pPr algn="l">
              <a:spcAft>
                <a:spcPts val="400"/>
              </a:spcAft>
            </a:pPr>
            <a:r>
              <a:rPr sz="1050" b="0">
                <a:solidFill>
                  <a:srgbClr val="5B6372"/>
                </a:solidFill>
                <a:latin typeface="Arial"/>
              </a:rPr>
              <a:t>Anything touching personal data</a:t>
            </a:r>
          </a:p>
        </p:txBody>
      </p:sp>
      <p:sp>
        <p:nvSpPr>
          <p:cNvPr id="55" name="Rectangle 54"/>
          <p:cNvSpPr/>
          <p:nvPr/>
        </p:nvSpPr>
        <p:spPr>
          <a:xfrm>
            <a:off x="777240" y="4329028"/>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4329028"/>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CSA Agentic RMF Profile</a:t>
            </a:r>
          </a:p>
        </p:txBody>
      </p:sp>
      <p:sp>
        <p:nvSpPr>
          <p:cNvPr id="57" name="Rectangle 56"/>
          <p:cNvSpPr/>
          <p:nvPr/>
        </p:nvSpPr>
        <p:spPr>
          <a:xfrm>
            <a:off x="3542202" y="4329028"/>
            <a:ext cx="2623170"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70218" y="4329028"/>
            <a:ext cx="2367138" cy="414092"/>
          </a:xfrm>
          <a:prstGeom prst="rect">
            <a:avLst/>
          </a:prstGeom>
          <a:noFill/>
        </p:spPr>
        <p:txBody>
          <a:bodyPr wrap="square" anchor="ctr">
            <a:spAutoFit/>
          </a:bodyPr>
          <a:lstStyle/>
          <a:p>
            <a:pPr algn="l">
              <a:spcAft>
                <a:spcPts val="400"/>
              </a:spcAft>
            </a:pPr>
            <a:r>
              <a:rPr sz="1150" b="0">
                <a:solidFill>
                  <a:srgbClr val="5B6372"/>
                </a:solidFill>
                <a:latin typeface="Arial"/>
              </a:rPr>
              <a:t>Cloud Security Alliance</a:t>
            </a:r>
          </a:p>
        </p:txBody>
      </p:sp>
      <p:sp>
        <p:nvSpPr>
          <p:cNvPr id="59" name="Rectangle 58"/>
          <p:cNvSpPr/>
          <p:nvPr/>
        </p:nvSpPr>
        <p:spPr>
          <a:xfrm>
            <a:off x="6165372" y="4329028"/>
            <a:ext cx="2623170"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93388" y="4329028"/>
            <a:ext cx="2367138" cy="414092"/>
          </a:xfrm>
          <a:prstGeom prst="rect">
            <a:avLst/>
          </a:prstGeom>
          <a:noFill/>
        </p:spPr>
        <p:txBody>
          <a:bodyPr wrap="square" anchor="ctr">
            <a:spAutoFit/>
          </a:bodyPr>
          <a:lstStyle/>
          <a:p>
            <a:pPr algn="l">
              <a:spcAft>
                <a:spcPts val="400"/>
              </a:spcAft>
            </a:pPr>
            <a:r>
              <a:rPr sz="950" b="0">
                <a:solidFill>
                  <a:srgbClr val="5B6372"/>
                </a:solidFill>
                <a:latin typeface="Arial"/>
              </a:rPr>
              <a:t>Agentic extensions: AG-GV/MP/MS/MG</a:t>
            </a:r>
          </a:p>
        </p:txBody>
      </p:sp>
      <p:sp>
        <p:nvSpPr>
          <p:cNvPr id="61" name="Rectangle 60"/>
          <p:cNvSpPr/>
          <p:nvPr/>
        </p:nvSpPr>
        <p:spPr>
          <a:xfrm>
            <a:off x="8788542" y="4329028"/>
            <a:ext cx="2623170"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916558" y="4329028"/>
            <a:ext cx="2367138" cy="414092"/>
          </a:xfrm>
          <a:prstGeom prst="rect">
            <a:avLst/>
          </a:prstGeom>
          <a:noFill/>
        </p:spPr>
        <p:txBody>
          <a:bodyPr wrap="square" anchor="ctr">
            <a:spAutoFit/>
          </a:bodyPr>
          <a:lstStyle/>
          <a:p>
            <a:pPr algn="l">
              <a:spcAft>
                <a:spcPts val="400"/>
              </a:spcAft>
            </a:pPr>
            <a:r>
              <a:rPr sz="1150" b="0">
                <a:solidFill>
                  <a:srgbClr val="5B6372"/>
                </a:solidFill>
                <a:latin typeface="Arial"/>
              </a:rPr>
              <a:t>Governing agents specifically</a:t>
            </a:r>
          </a:p>
        </p:txBody>
      </p:sp>
      <p:sp>
        <p:nvSpPr>
          <p:cNvPr id="63" name="Rectangle 62"/>
          <p:cNvSpPr/>
          <p:nvPr/>
        </p:nvSpPr>
        <p:spPr>
          <a:xfrm>
            <a:off x="777240" y="4743120"/>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05256" y="4743120"/>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OWASP ASI Top 10</a:t>
            </a:r>
          </a:p>
        </p:txBody>
      </p:sp>
      <p:sp>
        <p:nvSpPr>
          <p:cNvPr id="65" name="Rectangle 64"/>
          <p:cNvSpPr/>
          <p:nvPr/>
        </p:nvSpPr>
        <p:spPr>
          <a:xfrm>
            <a:off x="3542202" y="4743120"/>
            <a:ext cx="2623170"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670218" y="4743120"/>
            <a:ext cx="2367138" cy="414092"/>
          </a:xfrm>
          <a:prstGeom prst="rect">
            <a:avLst/>
          </a:prstGeom>
          <a:noFill/>
        </p:spPr>
        <p:txBody>
          <a:bodyPr wrap="square" anchor="ctr">
            <a:spAutoFit/>
          </a:bodyPr>
          <a:lstStyle/>
          <a:p>
            <a:pPr algn="l">
              <a:spcAft>
                <a:spcPts val="400"/>
              </a:spcAft>
            </a:pPr>
            <a:r>
              <a:rPr sz="1150" b="0">
                <a:solidFill>
                  <a:srgbClr val="5B6372"/>
                </a:solidFill>
                <a:latin typeface="Arial"/>
              </a:rPr>
              <a:t>OWASP</a:t>
            </a:r>
          </a:p>
        </p:txBody>
      </p:sp>
      <p:sp>
        <p:nvSpPr>
          <p:cNvPr id="67" name="Rectangle 66"/>
          <p:cNvSpPr/>
          <p:nvPr/>
        </p:nvSpPr>
        <p:spPr>
          <a:xfrm>
            <a:off x="6165372" y="4743120"/>
            <a:ext cx="2623170"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293388" y="4743120"/>
            <a:ext cx="2367138" cy="414092"/>
          </a:xfrm>
          <a:prstGeom prst="rect">
            <a:avLst/>
          </a:prstGeom>
          <a:noFill/>
        </p:spPr>
        <p:txBody>
          <a:bodyPr wrap="square" anchor="ctr">
            <a:spAutoFit/>
          </a:bodyPr>
          <a:lstStyle/>
          <a:p>
            <a:pPr algn="l">
              <a:spcAft>
                <a:spcPts val="400"/>
              </a:spcAft>
            </a:pPr>
            <a:r>
              <a:rPr sz="1150" b="0">
                <a:solidFill>
                  <a:srgbClr val="5B6372"/>
                </a:solidFill>
                <a:latin typeface="Arial"/>
              </a:rPr>
              <a:t>Agentic threat taxonomy</a:t>
            </a:r>
          </a:p>
        </p:txBody>
      </p:sp>
      <p:sp>
        <p:nvSpPr>
          <p:cNvPr id="69" name="Rectangle 68"/>
          <p:cNvSpPr/>
          <p:nvPr/>
        </p:nvSpPr>
        <p:spPr>
          <a:xfrm>
            <a:off x="8788542" y="4743120"/>
            <a:ext cx="2623170"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916558" y="4743120"/>
            <a:ext cx="2367138" cy="414092"/>
          </a:xfrm>
          <a:prstGeom prst="rect">
            <a:avLst/>
          </a:prstGeom>
          <a:noFill/>
        </p:spPr>
        <p:txBody>
          <a:bodyPr wrap="square" anchor="ctr">
            <a:spAutoFit/>
          </a:bodyPr>
          <a:lstStyle/>
          <a:p>
            <a:pPr algn="l">
              <a:spcAft>
                <a:spcPts val="400"/>
              </a:spcAft>
            </a:pPr>
            <a:r>
              <a:rPr sz="1150" b="0">
                <a:solidFill>
                  <a:srgbClr val="5B6372"/>
                </a:solidFill>
                <a:latin typeface="Arial"/>
              </a:rPr>
              <a:t>Threat modelling an agent</a:t>
            </a:r>
          </a:p>
        </p:txBody>
      </p:sp>
      <p:sp>
        <p:nvSpPr>
          <p:cNvPr id="71" name="Rectangle 70"/>
          <p:cNvSpPr/>
          <p:nvPr/>
        </p:nvSpPr>
        <p:spPr>
          <a:xfrm>
            <a:off x="777240" y="535838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777240" y="5358380"/>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051560" y="5468108"/>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These are complementary, not competing. NIST gives structure, Singapore gives local expectation and law, CSA and OWASP give the agentic detail NIST does not yet cover.</a:t>
            </a:r>
          </a:p>
        </p:txBody>
      </p:sp>
      <p:sp>
        <p:nvSpPr>
          <p:cNvPr id="74" name="TextBox 7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75" name="TextBox 7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76" name="TextBox 7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advClick="1">
    <p:push dir="l"/>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K3 · LEGAL REQUIREMENTS FOR DATA PROTECTION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Does the PDPA Let You Use This Personal Data for AI?  (K3)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Do you have
meaningful consent
for this purpose?</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proceed on consent</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Ensure the notification was meaningful: the individual can understand what data is used and broadly how the system uses it to decide or recommend.</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is an exception available?</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Business Improvement Exception for improving or developing an existing product or service. Research Exception for commercial research with public benefit. Record the basis in writing.</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Whichever route you take, the Accountability Obligation still applies: you must be able to SHOW how you discharge your obligations — policies, the written basis, and the measures protecting individuals.</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LO2 · WHERE THE GAPS USUALLY ARE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Typical Organisational Maturity by RMF Function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7C3AED"/>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MEASURE scores lowest almost everywhere: organisations with mature InfoSec still rarely test AI systems for bias, robustness or jailbreak resistance. Indicative pattern for teaching — you will produce NovaBank's real scores in Lab 5.</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RESPONSIBLE AI</a:t>
            </a:r>
          </a:p>
        </p:txBody>
      </p:sp>
      <p:sp>
        <p:nvSpPr>
          <p:cNvPr id="6" name="TextBox 5"/>
          <p:cNvSpPr txBox="1"/>
          <p:nvPr/>
        </p:nvSpPr>
        <p:spPr>
          <a:xfrm>
            <a:off x="1143000" y="2743200"/>
            <a:ext cx="10424160" cy="1417320"/>
          </a:xfrm>
          <a:prstGeom prst="rect">
            <a:avLst/>
          </a:prstGeom>
          <a:noFill/>
        </p:spPr>
        <p:txBody>
          <a:bodyPr wrap="square" anchor="t">
            <a:spAutoFit/>
          </a:bodyPr>
          <a:lstStyle/>
          <a:p>
            <a:pPr algn="l">
              <a:spcAft>
                <a:spcPts val="400"/>
              </a:spcAft>
            </a:pPr>
            <a:r>
              <a:rPr sz="4000" b="1">
                <a:solidFill>
                  <a:srgbClr val="161B26"/>
                </a:solidFill>
                <a:latin typeface="Arial"/>
              </a:rPr>
              <a:t>Ethics, Bias, Privacy and Sustainability in AI Governance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WHY THIS SECTION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Security governance and responsible AI are the same programme.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 system can be perfectly secure and still be unfair, opaque, privacy-invasive or wasteful. The governance framework you build has to carry both — which is why this course assesses both.</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K5 · ETHICS IN AI DEVELOPMENT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Ethical Considerations Across AI Development  (K5)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Bias</a:t>
            </a:r>
          </a:p>
          <a:p>
            <a:pPr algn="l">
              <a:spcAft>
                <a:spcPts val="300"/>
              </a:spcAft>
            </a:pPr>
            <a:r>
              <a:rPr sz="1100" b="0">
                <a:solidFill>
                  <a:srgbClr val="5B6372"/>
                </a:solidFill>
                <a:latin typeface="Arial"/>
              </a:rPr>
              <a:t>Consider it at every stage — data provenance and representation, the fairness measure chosen at design, group-wise testing before release, and drift monitoring after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Privacy</a:t>
            </a:r>
          </a:p>
          <a:p>
            <a:pPr algn="l">
              <a:spcAft>
                <a:spcPts val="300"/>
              </a:spcAft>
            </a:pPr>
            <a:r>
              <a:rPr sz="1100" b="0">
                <a:solidFill>
                  <a:srgbClr val="5B6372"/>
                </a:solidFill>
                <a:latin typeface="Arial"/>
              </a:rPr>
              <a:t>Minimisation and purpose limitation before training; lawful basis under the PDPA; de-identification; access control; retention limits; and what happens on a deletion request.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Transparency</a:t>
            </a:r>
          </a:p>
          <a:p>
            <a:pPr algn="l">
              <a:spcAft>
                <a:spcPts val="300"/>
              </a:spcAft>
            </a:pPr>
            <a:r>
              <a:rPr sz="1100" b="0">
                <a:solidFill>
                  <a:srgbClr val="5B6372"/>
                </a:solidFill>
                <a:latin typeface="Arial"/>
              </a:rPr>
              <a:t>Disclose that AI is in use, what it does and its limits. Meaningful notification where personal data is used; explanation where a decision affects someone.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Accountability</a:t>
            </a:r>
          </a:p>
          <a:p>
            <a:pPr algn="l">
              <a:spcAft>
                <a:spcPts val="300"/>
              </a:spcAft>
            </a:pPr>
            <a:r>
              <a:rPr sz="1100" b="0">
                <a:solidFill>
                  <a:srgbClr val="5B6372"/>
                </a:solidFill>
                <a:latin typeface="Arial"/>
              </a:rPr>
              <a:t>A named human accountable for each system — NIST GOVERN 2.1 and 2.3, and the first MGF dimension. In practice: an inventory with owners and one Accountable per control.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They trade off</a:t>
            </a:r>
          </a:p>
          <a:p>
            <a:pPr algn="l">
              <a:spcAft>
                <a:spcPts val="300"/>
              </a:spcAft>
            </a:pPr>
            <a:r>
              <a:rPr sz="1100" b="0">
                <a:solidFill>
                  <a:srgbClr val="5B6372"/>
                </a:solidFill>
                <a:latin typeface="Arial"/>
              </a:rPr>
              <a:t>Stronger privacy usually costs accuracy; more explainability constrains model choice. Managing and RECORDING the trade-off is the governance work.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Proportionality</a:t>
            </a:r>
          </a:p>
          <a:p>
            <a:pPr algn="l">
              <a:spcAft>
                <a:spcPts val="300"/>
              </a:spcAft>
            </a:pPr>
            <a:r>
              <a:rPr sz="1100" b="0">
                <a:solidFill>
                  <a:srgbClr val="5B6372"/>
                </a:solidFill>
                <a:latin typeface="Arial"/>
              </a:rPr>
              <a:t>Risk-tier each system and scale assessment, testing and oversight to the tier, so effort follows risk and the process survives contact with the business.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K2 · ANALYSING BIAS AND FAIRNESS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Bias Enters an AI System  (K2, A4)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Historical data</a:t>
            </a:r>
          </a:p>
        </p:txBody>
      </p:sp>
      <p:sp>
        <p:nvSpPr>
          <p:cNvPr id="12" name="TextBox 11"/>
          <p:cNvSpPr txBox="1"/>
          <p:nvPr/>
        </p:nvSpPr>
        <p:spPr>
          <a:xfrm>
            <a:off x="850392"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Past decisions encoded as ground truth</a:t>
            </a:r>
          </a:p>
        </p:txBody>
      </p:sp>
      <p:cxnSp>
        <p:nvCxnSpPr>
          <p:cNvPr id="13" name="Connector 12"/>
          <p:cNvCxnSpPr/>
          <p:nvPr/>
        </p:nvCxnSpPr>
        <p:spPr>
          <a:xfrm>
            <a:off x="2651760"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Representation</a:t>
            </a:r>
          </a:p>
        </p:txBody>
      </p:sp>
      <p:sp>
        <p:nvSpPr>
          <p:cNvPr id="19" name="TextBox 18"/>
          <p:cNvSpPr txBox="1"/>
          <p:nvPr/>
        </p:nvSpPr>
        <p:spPr>
          <a:xfrm>
            <a:off x="3054096"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Under-represented groups modelled worse</a:t>
            </a:r>
          </a:p>
        </p:txBody>
      </p:sp>
      <p:cxnSp>
        <p:nvCxnSpPr>
          <p:cNvPr id="20" name="Connector 19"/>
          <p:cNvCxnSpPr/>
          <p:nvPr/>
        </p:nvCxnSpPr>
        <p:spPr>
          <a:xfrm>
            <a:off x="4855464"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Proxy features</a:t>
            </a:r>
          </a:p>
        </p:txBody>
      </p:sp>
      <p:sp>
        <p:nvSpPr>
          <p:cNvPr id="26" name="TextBox 25"/>
          <p:cNvSpPr txBox="1"/>
          <p:nvPr/>
        </p:nvSpPr>
        <p:spPr>
          <a:xfrm>
            <a:off x="5257800"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Postal code standing in for age or income</a:t>
            </a:r>
          </a:p>
        </p:txBody>
      </p:sp>
      <p:cxnSp>
        <p:nvCxnSpPr>
          <p:cNvPr id="27" name="Connector 26"/>
          <p:cNvCxnSpPr/>
          <p:nvPr/>
        </p:nvCxnSpPr>
        <p:spPr>
          <a:xfrm>
            <a:off x="7059168"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Measurement</a:t>
            </a:r>
          </a:p>
        </p:txBody>
      </p:sp>
      <p:sp>
        <p:nvSpPr>
          <p:cNvPr id="33" name="TextBox 32"/>
          <p:cNvSpPr txBox="1"/>
          <p:nvPr/>
        </p:nvSpPr>
        <p:spPr>
          <a:xfrm>
            <a:off x="7461504"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Some groups' data captured less accurately</a:t>
            </a:r>
          </a:p>
        </p:txBody>
      </p:sp>
      <p:cxnSp>
        <p:nvCxnSpPr>
          <p:cNvPr id="34" name="Connector 33"/>
          <p:cNvCxnSpPr/>
          <p:nvPr/>
        </p:nvCxnSpPr>
        <p:spPr>
          <a:xfrm>
            <a:off x="9262872"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Feedback loop</a:t>
            </a:r>
          </a:p>
        </p:txBody>
      </p:sp>
      <p:sp>
        <p:nvSpPr>
          <p:cNvPr id="40" name="TextBox 39"/>
          <p:cNvSpPr txBox="1"/>
          <p:nvPr/>
        </p:nvSpPr>
        <p:spPr>
          <a:xfrm>
            <a:off x="9665208"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Its own outputs become tomorrow's training data</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F59E0B"/>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Bias is rarely a biased developer. It is ordinary data and ordinary design choices reproducing an existing pattern — which is why it must be TESTED for, not assumed absent.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K2 / A8 · SOCIETAL AND CULTURAL IMPACT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Implications of Biased AI Algorithms  (K2, A8)</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On the individual</a:t>
            </a:r>
          </a:p>
          <a:p>
            <a:pPr algn="l">
              <a:spcAft>
                <a:spcPts val="300"/>
              </a:spcAft>
            </a:pPr>
            <a:r>
              <a:rPr sz="1100" b="0">
                <a:solidFill>
                  <a:srgbClr val="5B6372"/>
                </a:solidFill>
                <a:latin typeface="Arial"/>
              </a:rPr>
              <a:t>A concrete unfair outcome — a delayed appointment, a declined loan, a screened-out application — usually falling on the person least able to challenge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On groups and cultures</a:t>
            </a:r>
          </a:p>
          <a:p>
            <a:pPr algn="l">
              <a:spcAft>
                <a:spcPts val="300"/>
              </a:spcAft>
            </a:pPr>
            <a:r>
              <a:rPr sz="1100" b="0">
                <a:solidFill>
                  <a:srgbClr val="5B6372"/>
                </a:solidFill>
                <a:latin typeface="Arial"/>
              </a:rPr>
              <a:t>One model decides every case identically, so an error is applied SYSTEMATICALLY to a whole group rather than randomly. Scale turns small bias into population-level harm.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On minority groups</a:t>
            </a:r>
          </a:p>
          <a:p>
            <a:pPr algn="l">
              <a:spcAft>
                <a:spcPts val="300"/>
              </a:spcAft>
            </a:pPr>
            <a:r>
              <a:rPr sz="1100" b="0">
                <a:solidFill>
                  <a:srgbClr val="5B6372"/>
                </a:solidFill>
                <a:latin typeface="Arial"/>
              </a:rPr>
              <a:t>Smaller groups are under-represented in training data, so error rates are higher exactly where the ability to contest a decision is often lowest.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On language and culture</a:t>
            </a:r>
          </a:p>
          <a:p>
            <a:pPr algn="l">
              <a:spcAft>
                <a:spcPts val="300"/>
              </a:spcAft>
            </a:pPr>
            <a:r>
              <a:rPr sz="1100" b="0">
                <a:solidFill>
                  <a:srgbClr val="5B6372"/>
                </a:solidFill>
                <a:latin typeface="Arial"/>
              </a:rPr>
              <a:t>Systems perform best in the language and cultural context they were trained on — a live concern in multilingual Singapore.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On the organisation</a:t>
            </a:r>
          </a:p>
          <a:p>
            <a:pPr algn="l">
              <a:spcAft>
                <a:spcPts val="300"/>
              </a:spcAft>
            </a:pPr>
            <a:r>
              <a:rPr sz="1100" b="0">
                <a:solidFill>
                  <a:srgbClr val="5B6372"/>
                </a:solidFill>
                <a:latin typeface="Arial"/>
              </a:rPr>
              <a:t>Regulatory exposure, contractual and legal risk, loss of trust, and remediation cost far above the cost of testing beforehand.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Compounding</a:t>
            </a:r>
          </a:p>
          <a:p>
            <a:pPr algn="l">
              <a:spcAft>
                <a:spcPts val="300"/>
              </a:spcAft>
            </a:pPr>
            <a:r>
              <a:rPr sz="1100" b="0">
                <a:solidFill>
                  <a:srgbClr val="5B6372"/>
                </a:solidFill>
                <a:latin typeface="Arial"/>
              </a:rPr>
              <a:t>Feedback loops and algorithmic monoculture — many organisations using the same model — entrench the same bias across a whole market.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A4 · ASSESSING BIAS AND FAIRNESS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Fairness Is Not One Thing — Choose the Measure  (A4)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Fairness measure</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What it requires</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Use it when</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The catch</a:t>
            </a:r>
          </a:p>
        </p:txBody>
      </p:sp>
      <p:sp>
        <p:nvSpPr>
          <p:cNvPr id="15" name="Rectangle 14"/>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Demographic parity</a:t>
            </a:r>
          </a:p>
        </p:txBody>
      </p:sp>
      <p:sp>
        <p:nvSpPr>
          <p:cNvPr id="17" name="Rectangle 16"/>
          <p:cNvSpPr/>
          <p:nvPr/>
        </p:nvSpPr>
        <p:spPr>
          <a:xfrm>
            <a:off x="354220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Equal positive rates across groups</a:t>
            </a:r>
          </a:p>
        </p:txBody>
      </p:sp>
      <p:sp>
        <p:nvSpPr>
          <p:cNvPr id="19" name="Rectangle 18"/>
          <p:cNvSpPr/>
          <p:nvPr/>
        </p:nvSpPr>
        <p:spPr>
          <a:xfrm>
            <a:off x="616537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Outreach, access to opportunity</a:t>
            </a:r>
          </a:p>
        </p:txBody>
      </p:sp>
      <p:sp>
        <p:nvSpPr>
          <p:cNvPr id="21" name="Rectangle 20"/>
          <p:cNvSpPr/>
          <p:nvPr/>
        </p:nvSpPr>
        <p:spPr>
          <a:xfrm>
            <a:off x="878854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Ignores genuine differences in need</a:t>
            </a:r>
          </a:p>
        </p:txBody>
      </p:sp>
      <p:sp>
        <p:nvSpPr>
          <p:cNvPr id="23" name="Rectangle 22"/>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Equal opportunity</a:t>
            </a:r>
          </a:p>
        </p:txBody>
      </p:sp>
      <p:sp>
        <p:nvSpPr>
          <p:cNvPr id="25" name="Rectangle 24"/>
          <p:cNvSpPr/>
          <p:nvPr/>
        </p:nvSpPr>
        <p:spPr>
          <a:xfrm>
            <a:off x="354220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Equal true-positive rates across groups</a:t>
            </a:r>
          </a:p>
        </p:txBody>
      </p:sp>
      <p:sp>
        <p:nvSpPr>
          <p:cNvPr id="27" name="Rectangle 26"/>
          <p:cNvSpPr/>
          <p:nvPr/>
        </p:nvSpPr>
        <p:spPr>
          <a:xfrm>
            <a:off x="616537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Screening where a miss is the harm</a:t>
            </a:r>
          </a:p>
        </p:txBody>
      </p:sp>
      <p:sp>
        <p:nvSpPr>
          <p:cNvPr id="29" name="Rectangle 28"/>
          <p:cNvSpPr/>
          <p:nvPr/>
        </p:nvSpPr>
        <p:spPr>
          <a:xfrm>
            <a:off x="878854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Needs reliable ground-truth labels</a:t>
            </a:r>
          </a:p>
        </p:txBody>
      </p:sp>
      <p:sp>
        <p:nvSpPr>
          <p:cNvPr id="31" name="Rectangle 30"/>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Equalised odds</a:t>
            </a:r>
          </a:p>
        </p:txBody>
      </p:sp>
      <p:sp>
        <p:nvSpPr>
          <p:cNvPr id="33" name="Rectangle 32"/>
          <p:cNvSpPr/>
          <p:nvPr/>
        </p:nvSpPr>
        <p:spPr>
          <a:xfrm>
            <a:off x="354220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Equal true- AND false-positive rates</a:t>
            </a:r>
          </a:p>
        </p:txBody>
      </p:sp>
      <p:sp>
        <p:nvSpPr>
          <p:cNvPr id="35" name="Rectangle 34"/>
          <p:cNvSpPr/>
          <p:nvPr/>
        </p:nvSpPr>
        <p:spPr>
          <a:xfrm>
            <a:off x="616537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High-stakes decisions about people</a:t>
            </a:r>
          </a:p>
        </p:txBody>
      </p:sp>
      <p:sp>
        <p:nvSpPr>
          <p:cNvPr id="37" name="Rectangle 36"/>
          <p:cNvSpPr/>
          <p:nvPr/>
        </p:nvSpPr>
        <p:spPr>
          <a:xfrm>
            <a:off x="878854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The hardest to satisfy in practice</a:t>
            </a:r>
          </a:p>
        </p:txBody>
      </p:sp>
      <p:sp>
        <p:nvSpPr>
          <p:cNvPr id="39" name="Rectangle 38"/>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Calibration</a:t>
            </a:r>
          </a:p>
        </p:txBody>
      </p:sp>
      <p:sp>
        <p:nvSpPr>
          <p:cNvPr id="41" name="Rectangle 40"/>
          <p:cNvSpPr/>
          <p:nvPr/>
        </p:nvSpPr>
        <p:spPr>
          <a:xfrm>
            <a:off x="354220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 given score means the same for every group</a:t>
            </a:r>
          </a:p>
        </p:txBody>
      </p:sp>
      <p:sp>
        <p:nvSpPr>
          <p:cNvPr id="43" name="Rectangle 42"/>
          <p:cNvSpPr/>
          <p:nvPr/>
        </p:nvSpPr>
        <p:spPr>
          <a:xfrm>
            <a:off x="616537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Risk scoring and pricing</a:t>
            </a:r>
          </a:p>
        </p:txBody>
      </p:sp>
      <p:sp>
        <p:nvSpPr>
          <p:cNvPr id="45" name="Rectangle 44"/>
          <p:cNvSpPr/>
          <p:nvPr/>
        </p:nvSpPr>
        <p:spPr>
          <a:xfrm>
            <a:off x="878854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Can coexist with unequal error rates</a:t>
            </a:r>
          </a:p>
        </p:txBody>
      </p:sp>
      <p:sp>
        <p:nvSpPr>
          <p:cNvPr id="47" name="Rectangle 4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Individual fairness</a:t>
            </a:r>
          </a:p>
        </p:txBody>
      </p:sp>
      <p:sp>
        <p:nvSpPr>
          <p:cNvPr id="49" name="Rectangle 48"/>
          <p:cNvSpPr/>
          <p:nvPr/>
        </p:nvSpPr>
        <p:spPr>
          <a:xfrm>
            <a:off x="354220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Similar people treated similarly</a:t>
            </a:r>
          </a:p>
        </p:txBody>
      </p:sp>
      <p:sp>
        <p:nvSpPr>
          <p:cNvPr id="51" name="Rectangle 50"/>
          <p:cNvSpPr/>
          <p:nvPr/>
        </p:nvSpPr>
        <p:spPr>
          <a:xfrm>
            <a:off x="616537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Case-by-case review</a:t>
            </a:r>
          </a:p>
        </p:txBody>
      </p:sp>
      <p:sp>
        <p:nvSpPr>
          <p:cNvPr id="53" name="Rectangle 52"/>
          <p:cNvSpPr/>
          <p:nvPr/>
        </p:nvSpPr>
        <p:spPr>
          <a:xfrm>
            <a:off x="878854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Requires defining 'similar'</a:t>
            </a:r>
          </a:p>
        </p:txBody>
      </p:sp>
      <p:sp>
        <p:nvSpPr>
          <p:cNvPr id="55" name="Rectangle 54"/>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1"/>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These measures are mathematically incompatible — you cannot satisfy all of them at once. Choosing which one fits the use case, and recording why, is a governance decision, not a technical one.</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A5 · IMPLEMENTING MITIGATION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Mitigating Bias Across the Lifecycle  (A5)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Examine the data</a:t>
            </a:r>
          </a:p>
        </p:txBody>
      </p:sp>
      <p:sp>
        <p:nvSpPr>
          <p:cNvPr id="12" name="TextBox 11"/>
          <p:cNvSpPr txBox="1"/>
          <p:nvPr/>
        </p:nvSpPr>
        <p:spPr>
          <a:xfrm>
            <a:off x="850392"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Provenance, representation, proxy features</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Choose the measure</a:t>
            </a:r>
          </a:p>
        </p:txBody>
      </p:sp>
      <p:sp>
        <p:nvSpPr>
          <p:cNvPr id="19" name="TextBox 18"/>
          <p:cNvSpPr txBox="1"/>
          <p:nvPr/>
        </p:nvSpPr>
        <p:spPr>
          <a:xfrm>
            <a:off x="3054096"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Fairness metric fixed BEFORE testing</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Test by group</a:t>
            </a:r>
          </a:p>
        </p:txBody>
      </p:sp>
      <p:sp>
        <p:nvSpPr>
          <p:cNvPr id="26" name="TextBox 25"/>
          <p:cNvSpPr txBox="1"/>
          <p:nvPr/>
        </p:nvSpPr>
        <p:spPr>
          <a:xfrm>
            <a:off x="5257800"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Aggregate accuracy hides group error</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Human review</a:t>
            </a:r>
          </a:p>
        </p:txBody>
      </p:sp>
      <p:sp>
        <p:nvSpPr>
          <p:cNvPr id="33" name="TextBox 32"/>
          <p:cNvSpPr txBox="1"/>
          <p:nvPr/>
        </p:nvSpPr>
        <p:spPr>
          <a:xfrm>
            <a:off x="7461504"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Where a decision materially affects a person</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Monitor for drift</a:t>
            </a:r>
          </a:p>
        </p:txBody>
      </p:sp>
      <p:sp>
        <p:nvSpPr>
          <p:cNvPr id="40" name="TextBox 39"/>
          <p:cNvSpPr txBox="1"/>
          <p:nvPr/>
        </p:nvSpPr>
        <p:spPr>
          <a:xfrm>
            <a:off x="9665208"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Fair at launch is not fair forever</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VERIFY, DON'T ASSERT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mitigation is only real if you can show the differential error rate fell. Use AI Verify to produce that evidence, and have it reviewed by someone who did not build the model (NIST MEASURE 1.3).</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A2 · EVALUATING THE TRADE-OFF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Privacy–Performance Trade-off  (A2)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Technique</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Privacy gain</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Performance cost</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When to use it</a:t>
            </a:r>
          </a:p>
        </p:txBody>
      </p:sp>
      <p:sp>
        <p:nvSpPr>
          <p:cNvPr id="15" name="Rectangle 14"/>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Drop unneeded fields</a:t>
            </a:r>
          </a:p>
        </p:txBody>
      </p:sp>
      <p:sp>
        <p:nvSpPr>
          <p:cNvPr id="17" name="Rectangle 16"/>
          <p:cNvSpPr/>
          <p:nvPr/>
        </p:nvSpPr>
        <p:spPr>
          <a:xfrm>
            <a:off x="354220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High — the data is simply gone</a:t>
            </a:r>
          </a:p>
        </p:txBody>
      </p:sp>
      <p:sp>
        <p:nvSpPr>
          <p:cNvPr id="19" name="Rectangle 18"/>
          <p:cNvSpPr/>
          <p:nvPr/>
        </p:nvSpPr>
        <p:spPr>
          <a:xfrm>
            <a:off x="616537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Usually none</a:t>
            </a:r>
          </a:p>
        </p:txBody>
      </p:sp>
      <p:sp>
        <p:nvSpPr>
          <p:cNvPr id="21" name="Rectangle 20"/>
          <p:cNvSpPr/>
          <p:nvPr/>
        </p:nvSpPr>
        <p:spPr>
          <a:xfrm>
            <a:off x="878854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Always. Do this first; it is close to free</a:t>
            </a:r>
          </a:p>
        </p:txBody>
      </p:sp>
      <p:sp>
        <p:nvSpPr>
          <p:cNvPr id="23" name="Rectangle 22"/>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Generalise (bands, districts)</a:t>
            </a:r>
          </a:p>
        </p:txBody>
      </p:sp>
      <p:sp>
        <p:nvSpPr>
          <p:cNvPr id="25" name="Rectangle 24"/>
          <p:cNvSpPr/>
          <p:nvPr/>
        </p:nvSpPr>
        <p:spPr>
          <a:xfrm>
            <a:off x="354220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Moderate to high</a:t>
            </a:r>
          </a:p>
        </p:txBody>
      </p:sp>
      <p:sp>
        <p:nvSpPr>
          <p:cNvPr id="27" name="Rectangle 26"/>
          <p:cNvSpPr/>
          <p:nvPr/>
        </p:nvSpPr>
        <p:spPr>
          <a:xfrm>
            <a:off x="616537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Small to moderate</a:t>
            </a:r>
          </a:p>
        </p:txBody>
      </p:sp>
      <p:sp>
        <p:nvSpPr>
          <p:cNvPr id="29" name="Rectangle 28"/>
          <p:cNvSpPr/>
          <p:nvPr/>
        </p:nvSpPr>
        <p:spPr>
          <a:xfrm>
            <a:off x="878854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Quasi-identifiers that still carry signal</a:t>
            </a:r>
          </a:p>
        </p:txBody>
      </p:sp>
      <p:sp>
        <p:nvSpPr>
          <p:cNvPr id="31" name="Rectangle 30"/>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Hash / pseudonymise</a:t>
            </a:r>
          </a:p>
        </p:txBody>
      </p:sp>
      <p:sp>
        <p:nvSpPr>
          <p:cNvPr id="33" name="Rectangle 32"/>
          <p:cNvSpPr/>
          <p:nvPr/>
        </p:nvSpPr>
        <p:spPr>
          <a:xfrm>
            <a:off x="354220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Limited — still personal data</a:t>
            </a:r>
          </a:p>
        </p:txBody>
      </p:sp>
      <p:sp>
        <p:nvSpPr>
          <p:cNvPr id="35" name="Rectangle 34"/>
          <p:cNvSpPr/>
          <p:nvPr/>
        </p:nvSpPr>
        <p:spPr>
          <a:xfrm>
            <a:off x="616537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None for modelling</a:t>
            </a:r>
          </a:p>
        </p:txBody>
      </p:sp>
      <p:sp>
        <p:nvSpPr>
          <p:cNvPr id="37" name="Rectangle 36"/>
          <p:cNvSpPr/>
          <p:nvPr/>
        </p:nvSpPr>
        <p:spPr>
          <a:xfrm>
            <a:off x="878854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Joining records without holding the identifier</a:t>
            </a:r>
          </a:p>
        </p:txBody>
      </p:sp>
      <p:sp>
        <p:nvSpPr>
          <p:cNvPr id="39" name="Rectangle 38"/>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Aggregation</a:t>
            </a:r>
          </a:p>
        </p:txBody>
      </p:sp>
      <p:sp>
        <p:nvSpPr>
          <p:cNvPr id="41" name="Rectangle 40"/>
          <p:cNvSpPr/>
          <p:nvPr/>
        </p:nvSpPr>
        <p:spPr>
          <a:xfrm>
            <a:off x="354220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High</a:t>
            </a:r>
          </a:p>
        </p:txBody>
      </p:sp>
      <p:sp>
        <p:nvSpPr>
          <p:cNvPr id="43" name="Rectangle 42"/>
          <p:cNvSpPr/>
          <p:nvPr/>
        </p:nvSpPr>
        <p:spPr>
          <a:xfrm>
            <a:off x="616537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Moderate</a:t>
            </a:r>
          </a:p>
        </p:txBody>
      </p:sp>
      <p:sp>
        <p:nvSpPr>
          <p:cNvPr id="45" name="Rectangle 44"/>
          <p:cNvSpPr/>
          <p:nvPr/>
        </p:nvSpPr>
        <p:spPr>
          <a:xfrm>
            <a:off x="878854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Reporting and analytics, not per-person decisions</a:t>
            </a:r>
          </a:p>
        </p:txBody>
      </p:sp>
      <p:sp>
        <p:nvSpPr>
          <p:cNvPr id="47" name="Rectangle 4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Differential privacy</a:t>
            </a:r>
          </a:p>
        </p:txBody>
      </p:sp>
      <p:sp>
        <p:nvSpPr>
          <p:cNvPr id="49" name="Rectangle 48"/>
          <p:cNvSpPr/>
          <p:nvPr/>
        </p:nvSpPr>
        <p:spPr>
          <a:xfrm>
            <a:off x="354220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Very high, and measurable</a:t>
            </a:r>
          </a:p>
        </p:txBody>
      </p:sp>
      <p:sp>
        <p:nvSpPr>
          <p:cNvPr id="51" name="Rectangle 50"/>
          <p:cNvSpPr/>
          <p:nvPr/>
        </p:nvSpPr>
        <p:spPr>
          <a:xfrm>
            <a:off x="616537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Material, grows with the guarantee</a:t>
            </a:r>
          </a:p>
        </p:txBody>
      </p:sp>
      <p:sp>
        <p:nvSpPr>
          <p:cNvPr id="53" name="Rectangle 52"/>
          <p:cNvSpPr/>
          <p:nvPr/>
        </p:nvSpPr>
        <p:spPr>
          <a:xfrm>
            <a:off x="878854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Secondary analysis; rarely a safety-critical model</a:t>
            </a:r>
          </a:p>
        </p:txBody>
      </p:sp>
      <p:sp>
        <p:nvSpPr>
          <p:cNvPr id="55" name="Rectangle 54"/>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Federated learning</a:t>
            </a:r>
          </a:p>
        </p:txBody>
      </p:sp>
      <p:sp>
        <p:nvSpPr>
          <p:cNvPr id="57" name="Rectangle 56"/>
          <p:cNvSpPr/>
          <p:nvPr/>
        </p:nvSpPr>
        <p:spPr>
          <a:xfrm>
            <a:off x="354220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7021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High — data stays local</a:t>
            </a:r>
          </a:p>
        </p:txBody>
      </p:sp>
      <p:sp>
        <p:nvSpPr>
          <p:cNvPr id="59" name="Rectangle 58"/>
          <p:cNvSpPr/>
          <p:nvPr/>
        </p:nvSpPr>
        <p:spPr>
          <a:xfrm>
            <a:off x="616537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9338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Moderate, plus complexity</a:t>
            </a:r>
          </a:p>
        </p:txBody>
      </p:sp>
      <p:sp>
        <p:nvSpPr>
          <p:cNvPr id="61" name="Rectangle 60"/>
          <p:cNvSpPr/>
          <p:nvPr/>
        </p:nvSpPr>
        <p:spPr>
          <a:xfrm>
            <a:off x="878854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91655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Data that legally cannot be centralised</a:t>
            </a:r>
          </a:p>
        </p:txBody>
      </p:sp>
      <p:sp>
        <p:nvSpPr>
          <p:cNvPr id="63" name="Rectangle 62"/>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There is no option that is free on both sides. Decide where on the curve you sit, record the reasoning, and have the data owner and the DPO both sign it — an unrecorded trade-off is a decision nobody made.</a:t>
            </a:r>
          </a:p>
        </p:txBody>
      </p:sp>
      <p:sp>
        <p:nvSpPr>
          <p:cNvPr id="66" name="TextBox 6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67" name="TextBox 6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8" name="TextBox 6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K1 · ENVIRONMENTAL IMPACT OF GENERATIVE AI</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Where the Energy Goes  (K1, A9)</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Training is the visible one-off cost; inference is small per request but recurs on every request, so for a widely used deployed system it overtakes training and keeps growing. Illustrative shape for teaching the principle — measure your own.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K1 / A9 · ESTIMATING THE FOOTPRINT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Assessing the Energy Footprint  (K1, A9)</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What to measure</a:t>
            </a:r>
          </a:p>
          <a:p>
            <a:pPr algn="l">
              <a:spcAft>
                <a:spcPts val="300"/>
              </a:spcAft>
            </a:pPr>
            <a:r>
              <a:rPr sz="1100" b="0">
                <a:solidFill>
                  <a:srgbClr val="5B6372"/>
                </a:solidFill>
                <a:latin typeface="Arial"/>
              </a:rPr>
              <a:t>Energy per inference (kWh per 1,000 requests) x request volume, plus training or fine-tuning as a periodic cost.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Beyond electricity</a:t>
            </a:r>
          </a:p>
          <a:p>
            <a:pPr algn="l">
              <a:spcAft>
                <a:spcPts val="300"/>
              </a:spcAft>
            </a:pPr>
            <a:r>
              <a:rPr sz="1100" b="0">
                <a:solidFill>
                  <a:srgbClr val="5B6372"/>
                </a:solidFill>
                <a:latin typeface="Arial"/>
              </a:rPr>
              <a:t>Water for data-centre cooling, and the embodied carbon of manufacturing and disposing of the hardware.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Where and when it runs</a:t>
            </a:r>
          </a:p>
          <a:p>
            <a:pPr algn="l">
              <a:spcAft>
                <a:spcPts val="300"/>
              </a:spcAft>
            </a:pPr>
            <a:r>
              <a:rPr sz="1100" b="0">
                <a:solidFill>
                  <a:srgbClr val="5B6372"/>
                </a:solidFill>
                <a:latin typeface="Arial"/>
              </a:rPr>
              <a:t>Grid carbon intensity varies by region and by time of day — the same workload has different footprints in different places.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Right-size the model</a:t>
            </a:r>
          </a:p>
          <a:p>
            <a:pPr algn="l">
              <a:spcAft>
                <a:spcPts val="300"/>
              </a:spcAft>
            </a:pPr>
            <a:r>
              <a:rPr sz="1100" b="0">
                <a:solidFill>
                  <a:srgbClr val="5B6372"/>
                </a:solidFill>
                <a:latin typeface="Arial"/>
              </a:rPr>
              <a:t>The single biggest lever. A large reasoning model used for routine classification multiplies energy for no benefit.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Cut needless inference</a:t>
            </a:r>
          </a:p>
          <a:p>
            <a:pPr algn="l">
              <a:spcAft>
                <a:spcPts val="300"/>
              </a:spcAft>
            </a:pPr>
            <a:r>
              <a:rPr sz="1100" b="0">
                <a:solidFill>
                  <a:srgbClr val="5B6372"/>
                </a:solidFill>
                <a:latin typeface="Arial"/>
              </a:rPr>
              <a:t>Cache repeated answers, batch, shorten prompts and outputs, and remove AI where a rule or a lookup would do.</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Measure and report</a:t>
            </a:r>
          </a:p>
          <a:p>
            <a:pPr algn="l">
              <a:spcAft>
                <a:spcPts val="300"/>
              </a:spcAft>
            </a:pPr>
            <a:r>
              <a:rPr sz="1100" b="0">
                <a:solidFill>
                  <a:srgbClr val="5B6372"/>
                </a:solidFill>
                <a:latin typeface="Arial"/>
              </a:rPr>
              <a:t>NIST AI 600-1 lists Environmental Impacts as a GenAI risk — it belongs in the risk register, not only the sustainability report.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K4 · TRUSTWORTHY AND TRANSPARENT COMMUNICATION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Communicating Capabilities and Limitations Honestly  (K4)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A model sounds equally confident whether it is right or wrong. Users calibrate trust on how you describe the system, so overstating it directly causes over-reliance.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Confabulation</a:t>
            </a:r>
          </a:p>
          <a:p>
            <a:pPr algn="l">
              <a:spcAft>
                <a:spcPts val="300"/>
              </a:spcAft>
            </a:pPr>
            <a:r>
              <a:rPr sz="1100" b="0">
                <a:solidFill>
                  <a:srgbClr val="5B6372"/>
                </a:solidFill>
                <a:latin typeface="Arial"/>
              </a:rPr>
              <a:t>NIST's name for confidently stated false content. It is a property of how these models work, not a bug you can fully remove.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Human-AI configuration</a:t>
            </a:r>
          </a:p>
          <a:p>
            <a:pPr algn="l">
              <a:spcAft>
                <a:spcPts val="300"/>
              </a:spcAft>
            </a:pPr>
            <a:r>
              <a:rPr sz="1100" b="0">
                <a:solidFill>
                  <a:srgbClr val="5B6372"/>
                </a:solidFill>
                <a:latin typeface="Arial"/>
              </a:rPr>
              <a:t>The NIST risk covering over-reliance, poor handoff and humans rubber-stamping output. Design the human check; do not assume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Say what it is NOT for</a:t>
            </a:r>
          </a:p>
          <a:p>
            <a:pPr algn="l">
              <a:spcAft>
                <a:spcPts val="300"/>
              </a:spcAft>
            </a:pPr>
            <a:r>
              <a:rPr sz="1100" b="0">
                <a:solidFill>
                  <a:srgbClr val="5B6372"/>
                </a:solidFill>
                <a:latin typeface="Arial"/>
              </a:rPr>
              <a:t>The most useful disclosure. 'This does not provide medical, legal or financial advice' prevents more harm than a capability list.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Publish a model or system card</a:t>
            </a:r>
          </a:p>
          <a:p>
            <a:pPr algn="l">
              <a:spcAft>
                <a:spcPts val="300"/>
              </a:spcAft>
            </a:pPr>
            <a:r>
              <a:rPr sz="1100" b="0">
                <a:solidFill>
                  <a:srgbClr val="5B6372"/>
                </a:solidFill>
                <a:latin typeface="Arial"/>
              </a:rPr>
              <a:t>Purpose, data, performance, limitations and intended use — the 'food label' the MGF's trusted-development dimension calls for.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Give an escalation route</a:t>
            </a:r>
          </a:p>
          <a:p>
            <a:pPr algn="l">
              <a:spcAft>
                <a:spcPts val="300"/>
              </a:spcAft>
            </a:pPr>
            <a:r>
              <a:rPr sz="1100" b="0">
                <a:solidFill>
                  <a:srgbClr val="5B6372"/>
                </a:solidFill>
                <a:latin typeface="Arial"/>
              </a:rPr>
              <a:t>An obvious, easy path to a human. Transparency without a route to a person is only a disclaimer.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A1 · DEVELOPING THE STRATEGY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Integrating Ethics Into Development and Evaluation  (A1)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Inventory and own</a:t>
            </a:r>
          </a:p>
        </p:txBody>
      </p:sp>
      <p:sp>
        <p:nvSpPr>
          <p:cNvPr id="12" name="TextBox 11"/>
          <p:cNvSpPr txBox="1"/>
          <p:nvPr/>
        </p:nvSpPr>
        <p:spPr>
          <a:xfrm>
            <a:off x="850392" y="3785616"/>
            <a:ext cx="1673352" cy="402336"/>
          </a:xfrm>
          <a:prstGeom prst="rect">
            <a:avLst/>
          </a:prstGeom>
          <a:noFill/>
        </p:spPr>
        <p:txBody>
          <a:bodyPr wrap="square" anchor="ctr">
            <a:spAutoFit/>
          </a:bodyPr>
          <a:lstStyle/>
          <a:p>
            <a:pPr algn="ctr">
              <a:spcAft>
                <a:spcPts val="0"/>
              </a:spcAft>
            </a:pPr>
            <a:r>
              <a:rPr sz="800" b="0">
                <a:solidFill>
                  <a:srgbClr val="5B6372"/>
                </a:solidFill>
                <a:latin typeface="Arial"/>
              </a:rPr>
              <a:t>Every AI system registered, with a named accountable human</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Risk-tier</a:t>
            </a:r>
          </a:p>
        </p:txBody>
      </p:sp>
      <p:sp>
        <p:nvSpPr>
          <p:cNvPr id="19" name="TextBox 18"/>
          <p:cNvSpPr txBox="1"/>
          <p:nvPr/>
        </p:nvSpPr>
        <p:spPr>
          <a:xfrm>
            <a:off x="3054096"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Decides about a person? Touches personal data?</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Embed at each stage</a:t>
            </a:r>
          </a:p>
        </p:txBody>
      </p:sp>
      <p:sp>
        <p:nvSpPr>
          <p:cNvPr id="26" name="TextBox 25"/>
          <p:cNvSpPr txBox="1"/>
          <p:nvPr/>
        </p:nvSpPr>
        <p:spPr>
          <a:xfrm>
            <a:off x="5257800"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Data, build, test, deploy, operate, retire</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Evaluate before AND after</a:t>
            </a:r>
          </a:p>
        </p:txBody>
      </p:sp>
      <p:sp>
        <p:nvSpPr>
          <p:cNvPr id="33" name="TextBox 32"/>
          <p:cNvSpPr txBox="1"/>
          <p:nvPr/>
        </p:nvSpPr>
        <p:spPr>
          <a:xfrm>
            <a:off x="7461504"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Pre-deployment testing; post-deployment monitoring</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Measure the programme</a:t>
            </a:r>
          </a:p>
        </p:txBody>
      </p:sp>
      <p:sp>
        <p:nvSpPr>
          <p:cNvPr id="40" name="TextBox 39"/>
          <p:cNvSpPr txBox="1"/>
          <p:nvPr/>
        </p:nvSpPr>
        <p:spPr>
          <a:xfrm>
            <a:off x="9665208"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Coverage, assessments, time to disable, incidents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THE STRATEGY IN ONE LINE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Ethics is integrated when it is a GATE and a METRIC — something a system must pass to ship and something you report on afterwards — not a principle in a document nobody consults.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A3 · APPLYING THE GUIDELINES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Applying Ethical Guidelines to a Live System  (A3)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Fairness</a:t>
            </a:r>
          </a:p>
          <a:p>
            <a:pPr algn="l">
              <a:spcAft>
                <a:spcPts val="300"/>
              </a:spcAft>
            </a:pPr>
            <a:r>
              <a:rPr sz="1100" b="0">
                <a:solidFill>
                  <a:srgbClr val="5B6372"/>
                </a:solidFill>
                <a:latin typeface="Arial"/>
              </a:rPr>
              <a:t>Test performance across the groups the system affects, and give anyone it serves poorly an accessible route to a human.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Accountability</a:t>
            </a:r>
          </a:p>
          <a:p>
            <a:pPr algn="l">
              <a:spcAft>
                <a:spcPts val="300"/>
              </a:spcAft>
            </a:pPr>
            <a:r>
              <a:rPr sz="1100" b="0">
                <a:solidFill>
                  <a:srgbClr val="5B6372"/>
                </a:solidFill>
                <a:latin typeface="Arial"/>
              </a:rPr>
              <a:t>A distinct identity per system with scoped credentials, a named owner in the inventory, and logging that makes actions attributable.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Transparency</a:t>
            </a:r>
          </a:p>
          <a:p>
            <a:pPr algn="l">
              <a:spcAft>
                <a:spcPts val="300"/>
              </a:spcAft>
            </a:pPr>
            <a:r>
              <a:rPr sz="1100" b="0">
                <a:solidFill>
                  <a:srgbClr val="5B6372"/>
                </a:solidFill>
                <a:latin typeface="Arial"/>
              </a:rPr>
              <a:t>Disclose AI use, state what the system is not for, publish a model or system card, and notify meaningfully where personal data is used.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Sustainability</a:t>
            </a:r>
          </a:p>
          <a:p>
            <a:pPr algn="l">
              <a:spcAft>
                <a:spcPts val="300"/>
              </a:spcAft>
            </a:pPr>
            <a:r>
              <a:rPr sz="1100" b="0">
                <a:solidFill>
                  <a:srgbClr val="5B6372"/>
                </a:solidFill>
                <a:latin typeface="Arial"/>
              </a:rPr>
              <a:t>Right-size the model, cut needless inference, and measure and report the footprint.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Security</a:t>
            </a:r>
          </a:p>
          <a:p>
            <a:pPr algn="l">
              <a:spcAft>
                <a:spcPts val="300"/>
              </a:spcAft>
            </a:pPr>
            <a:r>
              <a:rPr sz="1100" b="0">
                <a:solidFill>
                  <a:srgbClr val="5B6372"/>
                </a:solidFill>
                <a:latin typeface="Arial"/>
              </a:rPr>
              <a:t>Break the lethal trifecta, apply least privilege and a permission ladder, and gate irreversible actions.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Proportionality</a:t>
            </a:r>
          </a:p>
          <a:p>
            <a:pPr algn="l">
              <a:spcAft>
                <a:spcPts val="300"/>
              </a:spcAft>
            </a:pPr>
            <a:r>
              <a:rPr sz="1100" b="0">
                <a:solidFill>
                  <a:srgbClr val="5B6372"/>
                </a:solidFill>
                <a:latin typeface="Arial"/>
              </a:rPr>
              <a:t>Scale all of the above to the system's risk tier — full assurance on a meeting summariser exhausts the goodwill you need for the credit model.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A7 · CHAMPIONING BEST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Championing Responsible AI in Your Organisation  (A7)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Role-specific training</a:t>
            </a:r>
          </a:p>
          <a:p>
            <a:pPr algn="l">
              <a:spcAft>
                <a:spcPts val="300"/>
              </a:spcAft>
            </a:pPr>
            <a:r>
              <a:rPr sz="1100" b="0">
                <a:solidFill>
                  <a:srgbClr val="5B6372"/>
                </a:solidFill>
                <a:latin typeface="Arial"/>
              </a:rPr>
              <a:t>Generic awareness changes nothing. Give each group its real tasks — what an administrator may enter, when a professional must not rely on output.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Make the right path the easy path</a:t>
            </a:r>
          </a:p>
          <a:p>
            <a:pPr algn="l">
              <a:spcAft>
                <a:spcPts val="300"/>
              </a:spcAft>
            </a:pPr>
            <a:r>
              <a:rPr sz="1100" b="0">
                <a:solidFill>
                  <a:srgbClr val="5B6372"/>
                </a:solidFill>
                <a:latin typeface="Arial"/>
              </a:rPr>
              <a:t>A sanctioned toolset, a fast approval route with a real service level, and templates. Governance that obstructs is governance that is bypassed.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Use your own near-misses</a:t>
            </a:r>
          </a:p>
          <a:p>
            <a:pPr algn="l">
              <a:spcAft>
                <a:spcPts val="300"/>
              </a:spcAft>
            </a:pPr>
            <a:r>
              <a:rPr sz="1100" b="0">
                <a:solidFill>
                  <a:srgbClr val="5B6372"/>
                </a:solidFill>
                <a:latin typeface="Arial"/>
              </a:rPr>
              <a:t>Your organisation's own incident is far more persuasive than any external example.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Label AI-generated content</a:t>
            </a:r>
          </a:p>
          <a:p>
            <a:pPr algn="l">
              <a:spcAft>
                <a:spcPts val="300"/>
              </a:spcAft>
            </a:pPr>
            <a:r>
              <a:rPr sz="1100" b="0">
                <a:solidFill>
                  <a:srgbClr val="5B6372"/>
                </a:solidFill>
                <a:latin typeface="Arial"/>
              </a:rPr>
              <a:t>Content provenance — MGF dimension 7. Disclose, and review before publication where the audience could be harmed.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Report results, not intentions</a:t>
            </a:r>
          </a:p>
          <a:p>
            <a:pPr algn="l">
              <a:spcAft>
                <a:spcPts val="300"/>
              </a:spcAft>
            </a:pPr>
            <a:r>
              <a:rPr sz="1100" b="0">
                <a:solidFill>
                  <a:srgbClr val="5B6372"/>
                </a:solidFill>
                <a:latin typeface="Arial"/>
              </a:rPr>
              <a:t>Commit publicly to testing before deployment and monitoring after it, and publish what the tests found.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Lead with the enabler argument</a:t>
            </a:r>
          </a:p>
          <a:p>
            <a:pPr algn="l">
              <a:spcAft>
                <a:spcPts val="300"/>
              </a:spcAft>
            </a:pPr>
            <a:r>
              <a:rPr sz="1100" b="0">
                <a:solidFill>
                  <a:srgbClr val="5B6372"/>
                </a:solidFill>
                <a:latin typeface="Arial"/>
              </a:rPr>
              <a:t>Governed organisations deploy FASTER, because approval and evidence become routine instead of bespoke every time.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10424160" cy="1417320"/>
          </a:xfrm>
          <a:prstGeom prst="rect">
            <a:avLst/>
          </a:prstGeom>
          <a:noFill/>
        </p:spPr>
        <p:txBody>
          <a:bodyPr wrap="square" anchor="t">
            <a:spAutoFit/>
          </a:bodyPr>
          <a:lstStyle/>
          <a:p>
            <a:pPr algn="l">
              <a:spcAft>
                <a:spcPts val="400"/>
              </a:spcAft>
            </a:pPr>
            <a:r>
              <a:rPr sz="4000" b="1">
                <a:solidFill>
                  <a:srgbClr val="161B26"/>
                </a:solidFill>
                <a:latin typeface="Arial"/>
              </a:rPr>
              <a:t>AI Security Governance Foundations and Business Risks</a:t>
            </a:r>
          </a:p>
        </p:txBody>
      </p:sp>
      <p:sp>
        <p:nvSpPr>
          <p:cNvPr id="7" name="TextBox 6"/>
          <p:cNvSpPr txBox="1"/>
          <p:nvPr/>
        </p:nvSpPr>
        <p:spPr>
          <a:xfrm>
            <a:off x="1161288" y="4224528"/>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Why AI changes the risk picture · the AI threat landscape · GenAI and agentic risk · the business case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advClick="1">
    <p:push dir="l"/>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Key Concepts — AI Security Governance Foundations and Business Risks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AI security governance defined</a:t>
            </a:r>
          </a:p>
          <a:p>
            <a:pPr algn="l">
              <a:spcAft>
                <a:spcPts val="300"/>
              </a:spcAft>
            </a:pPr>
            <a:r>
              <a:rPr sz="1100" b="0">
                <a:solidFill>
                  <a:srgbClr val="5B6372"/>
                </a:solidFill>
                <a:latin typeface="Arial"/>
              </a:rPr>
              <a:t>The system of policies, roles, controls and evidence that keeps AI systems secure, lawful and accountable — distinct from, but built on, existing information-security governance.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AI breaks the old model</a:t>
            </a:r>
          </a:p>
          <a:p>
            <a:pPr algn="l">
              <a:spcAft>
                <a:spcPts val="300"/>
              </a:spcAft>
            </a:pPr>
            <a:r>
              <a:rPr sz="1100" b="0">
                <a:solidFill>
                  <a:srgbClr val="5B6372"/>
                </a:solidFill>
                <a:latin typeface="Arial"/>
              </a:rPr>
              <a:t>Traditional controls assume deterministic software with a fixed attack surface. AI systems learn from data, behave probabilistically, and — when agentic — take actions in live systems.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expanded attack surface</a:t>
            </a:r>
          </a:p>
          <a:p>
            <a:pPr algn="l">
              <a:spcAft>
                <a:spcPts val="300"/>
              </a:spcAft>
            </a:pPr>
            <a:r>
              <a:rPr sz="1100" b="0">
                <a:solidFill>
                  <a:srgbClr val="5B6372"/>
                </a:solidFill>
                <a:latin typeface="Arial"/>
              </a:rPr>
              <a:t>AI adds five new asset classes to protect: training data, the model itself, prompts and context, the inference endpoint, and the tools an agent can invoke.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Traditional vs AI-specific threats</a:t>
            </a:r>
          </a:p>
          <a:p>
            <a:pPr algn="l">
              <a:spcAft>
                <a:spcPts val="300"/>
              </a:spcAft>
            </a:pPr>
            <a:r>
              <a:rPr sz="1100" b="0">
                <a:solidFill>
                  <a:srgbClr val="5B6372"/>
                </a:solidFill>
                <a:latin typeface="Arial"/>
              </a:rPr>
              <a:t>SQL injection, XSS and weak credentials still apply. Prompt injection, data poisoning, model inversion, membership inference and model theft are new.</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NIST GenAI risk set</a:t>
            </a:r>
          </a:p>
          <a:p>
            <a:pPr algn="l">
              <a:spcAft>
                <a:spcPts val="300"/>
              </a:spcAft>
            </a:pPr>
            <a:r>
              <a:rPr sz="1100" b="0">
                <a:solidFill>
                  <a:srgbClr val="5B6372"/>
                </a:solidFill>
                <a:latin typeface="Arial"/>
              </a:rPr>
              <a:t>NIST AI 600-1 names 12 risks unique to or exacerbated by generative AI, including confabulation, data privacy, information security, information integrity and value-chain risk.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Agentic AI raises the stakes</a:t>
            </a:r>
          </a:p>
          <a:p>
            <a:pPr algn="l">
              <a:spcAft>
                <a:spcPts val="300"/>
              </a:spcAft>
            </a:pPr>
            <a:r>
              <a:rPr sz="1100" b="0">
                <a:solidFill>
                  <a:srgbClr val="5B6372"/>
                </a:solidFill>
                <a:latin typeface="Arial"/>
              </a:rPr>
              <a:t>An agent that can read private data, ingest untrusted content and communicate externally forms the 'lethal trifecta' — the pattern behind most 2025–2026 agent breaches.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Key Concepts — AI Security Governance Foundations and Business Risks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Real incidents, real losses</a:t>
            </a:r>
          </a:p>
          <a:p>
            <a:pPr algn="l">
              <a:spcAft>
                <a:spcPts val="300"/>
              </a:spcAft>
            </a:pPr>
            <a:r>
              <a:rPr sz="1100" b="0">
                <a:solidFill>
                  <a:srgbClr val="5B6372"/>
                </a:solidFill>
                <a:latin typeface="Arial"/>
              </a:rPr>
              <a:t>EchoLeak (CVE-2025-32711, CVSS 9.3) exfiltrated M365 Copilot context with zero user interaction; an over-scoped token let malicious instructions reach a build pipeline.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Shadow AI is the default state</a:t>
            </a:r>
          </a:p>
          <a:p>
            <a:pPr algn="l">
              <a:spcAft>
                <a:spcPts val="300"/>
              </a:spcAft>
            </a:pPr>
            <a:r>
              <a:rPr sz="1100" b="0">
                <a:solidFill>
                  <a:srgbClr val="5B6372"/>
                </a:solidFill>
                <a:latin typeface="Arial"/>
              </a:rPr>
              <a:t>Staff adopt AI tools faster than governance can approve them; an unowned, uninventoried AI system is the single most common governance failure in businesses.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Business impact, not technical impact</a:t>
            </a:r>
          </a:p>
          <a:p>
            <a:pPr algn="l">
              <a:spcAft>
                <a:spcPts val="300"/>
              </a:spcAft>
            </a:pPr>
            <a:r>
              <a:rPr sz="1100" b="0">
                <a:solidFill>
                  <a:srgbClr val="5B6372"/>
                </a:solidFill>
                <a:latin typeface="Arial"/>
              </a:rPr>
              <a:t>AI risk translates into regulatory penalties, contractual breach, IP leakage, reputational harm, service failure and unsafe automated decisions about people.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Singapore context</a:t>
            </a:r>
          </a:p>
          <a:p>
            <a:pPr algn="l">
              <a:spcAft>
                <a:spcPts val="300"/>
              </a:spcAft>
            </a:pPr>
            <a:r>
              <a:rPr sz="1100" b="0">
                <a:solidFill>
                  <a:srgbClr val="5B6372"/>
                </a:solidFill>
                <a:latin typeface="Arial"/>
              </a:rPr>
              <a:t>Businesses here must satisfy the PDPA, the PDPC AI Advisory Guidelines, IMDA's Model AI Governance Framework for Generative AI and AI Verify testing expectations.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Governance is a business enabler</a:t>
            </a:r>
          </a:p>
          <a:p>
            <a:pPr algn="l">
              <a:spcAft>
                <a:spcPts val="300"/>
              </a:spcAft>
            </a:pPr>
            <a:r>
              <a:rPr sz="1100" b="0">
                <a:solidFill>
                  <a:srgbClr val="5B6372"/>
                </a:solidFill>
                <a:latin typeface="Arial"/>
              </a:rPr>
              <a:t>Organisations with mature AI governance deploy faster, because approval, evidence and assurance are routine rather than bespoke for every project.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AI TRiSM market signal</a:t>
            </a:r>
          </a:p>
          <a:p>
            <a:pPr algn="l">
              <a:spcAft>
                <a:spcPts val="300"/>
              </a:spcAft>
            </a:pPr>
            <a:r>
              <a:rPr sz="1100" b="0">
                <a:solidFill>
                  <a:srgbClr val="5B6372"/>
                </a:solidFill>
                <a:latin typeface="Arial"/>
              </a:rPr>
              <a:t>AI Trust, Risk and Security Management is one of the fastest-growing security segments — evidence that governance spend is now a board-level line item.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LO1 · THE FIRST THING YOU WILL FIND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Shadow AI — The Governance Problem You Already Have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 is the norm, not the exception</a:t>
            </a:r>
          </a:p>
          <a:p>
            <a:pPr algn="l">
              <a:spcAft>
                <a:spcPts val="300"/>
              </a:spcAft>
            </a:pPr>
            <a:r>
              <a:rPr sz="1200" b="0">
                <a:solidFill>
                  <a:srgbClr val="5B6372"/>
                </a:solidFill>
                <a:latin typeface="Arial"/>
              </a:rPr>
              <a:t>Staff adopt AI faster than any approval process. Assume it is happening and go looking, rather than assuming it is not.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 bypasses every control</a:t>
            </a:r>
          </a:p>
          <a:p>
            <a:pPr algn="l">
              <a:spcAft>
                <a:spcPts val="300"/>
              </a:spcAft>
            </a:pPr>
            <a:r>
              <a:rPr sz="1200" b="0">
                <a:solidFill>
                  <a:srgbClr val="5B6372"/>
                </a:solidFill>
                <a:latin typeface="Arial"/>
              </a:rPr>
              <a:t>No DLP, no logging, no retention limit, no contract, no assurance — because the tool was never registered.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Where to find it</a:t>
            </a:r>
          </a:p>
          <a:p>
            <a:pPr algn="l">
              <a:spcAft>
                <a:spcPts val="300"/>
              </a:spcAft>
            </a:pPr>
            <a:r>
              <a:rPr sz="1200" b="0">
                <a:solidFill>
                  <a:srgbClr val="5B6372"/>
                </a:solidFill>
                <a:latin typeface="Arial"/>
              </a:rPr>
              <a:t>Expense claims and department cards, SaaS AI features switched on by default, browser extensions, and an honest anonymous staff survey.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Embedded AI counts</a:t>
            </a:r>
          </a:p>
          <a:p>
            <a:pPr algn="l">
              <a:spcAft>
                <a:spcPts val="300"/>
              </a:spcAft>
            </a:pPr>
            <a:r>
              <a:rPr sz="1200" b="0">
                <a:solidFill>
                  <a:srgbClr val="5B6372"/>
                </a:solidFill>
                <a:latin typeface="Arial"/>
              </a:rPr>
              <a:t>M365 Copilot, Zoom AI Companion, Gong and ServiceNow Now Assist are AI systems even though nobody 'bought AI'.</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wrong response</a:t>
            </a:r>
          </a:p>
          <a:p>
            <a:pPr algn="l">
              <a:spcAft>
                <a:spcPts val="300"/>
              </a:spcAft>
            </a:pPr>
            <a:r>
              <a:rPr sz="1200" b="0">
                <a:solidFill>
                  <a:srgbClr val="5B6372"/>
                </a:solidFill>
                <a:latin typeface="Arial"/>
              </a:rPr>
              <a:t>Blanket bans push usage further underground. Provide a sanctioned, easy route and the shadow shrinks.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right first control</a:t>
            </a:r>
          </a:p>
          <a:p>
            <a:pPr algn="l">
              <a:spcAft>
                <a:spcPts val="300"/>
              </a:spcAft>
            </a:pPr>
            <a:r>
              <a:rPr sz="1200" b="0">
                <a:solidFill>
                  <a:srgbClr val="5B6372"/>
                </a:solidFill>
                <a:latin typeface="Arial"/>
              </a:rPr>
              <a:t>An inventory with named owners. You cannot risk-assess, monitor or govern what you have not listed.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LO1 · SIX PUBLIC INCIDENTS, ONE LESSON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an Incident: What Actually Failed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Incident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Surface cause</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The governance control that was missing</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EchoLeak (M365 Copilot, CVSS 9.3)</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Injected instruction in an e-mail</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Untrusted content reached a context with private data and an outbound path</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Build-pipeline instruction injection</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Malicious system-prompt file</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Over-scoped token; agent-authored change merged without review</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Unauthenticated MCP server (CVSS 9.1)</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No auth at the tool boundary</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Tool exposed without authentication — no model involvement needed</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Config override in a coding agent</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Repo-defined settings overrode user approval</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Project-level config trusted above user consent; hooks ran pre-authentication</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Dependency compromise</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Malicious package version</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No version pinning; automation multiplied the blast radius in hours</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In none of these did the model 'go rogue'. Every one was a failure of authorisation, scope or supply chain — which is to say, a governance failure.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GETTING IT FUNDED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Building the Business Case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Lead with exposure, not technology</a:t>
            </a:r>
          </a:p>
          <a:p>
            <a:pPr algn="l">
              <a:spcAft>
                <a:spcPts val="300"/>
              </a:spcAft>
            </a:pPr>
            <a:r>
              <a:rPr sz="1200" b="0">
                <a:solidFill>
                  <a:srgbClr val="5B6372"/>
                </a:solidFill>
                <a:latin typeface="Arial"/>
              </a:rPr>
              <a:t>Boards fund risk reduction and revenue protection. They do not fund frameworks.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Quantify one scenario properly</a:t>
            </a:r>
          </a:p>
          <a:p>
            <a:pPr algn="l">
              <a:spcAft>
                <a:spcPts val="300"/>
              </a:spcAft>
            </a:pPr>
            <a:r>
              <a:rPr sz="1200" b="0">
                <a:solidFill>
                  <a:srgbClr val="5B6372"/>
                </a:solidFill>
                <a:latin typeface="Arial"/>
              </a:rPr>
              <a:t>One credible, costed scenario beats a list of ten vague ones. Show your assumptions so they can be challenged.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Name the regulatory exposure</a:t>
            </a:r>
          </a:p>
          <a:p>
            <a:pPr algn="l">
              <a:spcAft>
                <a:spcPts val="300"/>
              </a:spcAft>
            </a:pPr>
            <a:r>
              <a:rPr sz="1200" b="0">
                <a:solidFill>
                  <a:srgbClr val="5B6372"/>
                </a:solidFill>
                <a:latin typeface="Arial"/>
              </a:rPr>
              <a:t>PDPA penalties and supervisory consequences are concrete numbers a board already understands.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Use the enabler argument</a:t>
            </a:r>
          </a:p>
          <a:p>
            <a:pPr algn="l">
              <a:spcAft>
                <a:spcPts val="300"/>
              </a:spcAft>
            </a:pPr>
            <a:r>
              <a:rPr sz="1200" b="0">
                <a:solidFill>
                  <a:srgbClr val="5B6372"/>
                </a:solidFill>
                <a:latin typeface="Arial"/>
              </a:rPr>
              <a:t>Governed organisations deploy faster because approval and evidence are routine rather than bespoke each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Ask for one thing</a:t>
            </a:r>
          </a:p>
          <a:p>
            <a:pPr algn="l">
              <a:spcAft>
                <a:spcPts val="300"/>
              </a:spcAft>
            </a:pPr>
            <a:r>
              <a:rPr sz="1200" b="0">
                <a:solidFill>
                  <a:srgbClr val="5B6372"/>
                </a:solidFill>
                <a:latin typeface="Arial"/>
              </a:rPr>
              <a:t>Budget, headcount or mandate. A paper with three asks gets none of them.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Prepare the tool question</a:t>
            </a:r>
          </a:p>
          <a:p>
            <a:pPr algn="l">
              <a:spcAft>
                <a:spcPts val="300"/>
              </a:spcAft>
            </a:pPr>
            <a:r>
              <a:rPr sz="1200" b="0">
                <a:solidFill>
                  <a:srgbClr val="5B6372"/>
                </a:solidFill>
                <a:latin typeface="Arial"/>
              </a:rPr>
              <a:t>'Why not just buy a tool?' — because a tool with no inventory, no owner and no policy has nothing to enforce.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Hands-On Labs — AI Security Governance Foundations and Business Risks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AI System Inventory for NovaBank</a:t>
            </a:r>
          </a:p>
          <a:p>
            <a:pPr>
              <a:spcAft>
                <a:spcPts val="900"/>
              </a:spcAft>
            </a:pPr>
            <a:r>
              <a:rPr sz="1400" b="0">
                <a:solidFill>
                  <a:srgbClr val="161B26"/>
                </a:solidFill>
                <a:latin typeface="Arial"/>
              </a:rPr>
              <a:t>•  Map the AI Threat Landscape with the Threat Simulator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Analyse the Lethal Trifecta in a Live Agent Design</a:t>
            </a:r>
          </a:p>
          <a:p>
            <a:pPr>
              <a:spcAft>
                <a:spcPts val="900"/>
              </a:spcAft>
            </a:pPr>
            <a:r>
              <a:rPr sz="1400" b="0">
                <a:solidFill>
                  <a:srgbClr val="161B26"/>
                </a:solidFill>
                <a:latin typeface="Arial"/>
              </a:rPr>
              <a:t>•  Build the Business Case for AI Security Governance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 the AI System Inventory for NovaBank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Analyse an organisation's AI footprint and produce the AI system inventory that every other governance control depends on.</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500" b="0">
                <a:solidFill>
                  <a:srgbClr val="161B26"/>
                </a:solidFill>
                <a:latin typeface="Arial"/>
              </a:rPr>
              <a:t>You are the newly appointed AI Governance Lead at NovaBank, a mid-sized Singapore retail bank. Nobody can tell you how many AI systems the bank runs. You will work from the supplied discovery pack — an IT asset extract, a procurement export and a staff survey — to identify every AI system, classify it, and produce a defensible AI system inventory with named owners and risk tiers.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AI System Inventory (ai-inventory.csv) covering 12 AI systems with owner, purpose, data classes, model, autonomy level and risk tier, plus a shadow-AI findings note.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Mock data pack (discovery-it-assets.csv, discovery-procurement.csv, discovery-staff-survey.csv), spreadsheet tool</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000" b="0">
                <a:solidFill>
                  <a:srgbClr val="161B26"/>
                </a:solidFill>
                <a:latin typeface="Arial"/>
              </a:rPr>
              <a:t>Your inventory has a row for every AI system in all three files, including at least three shadow-AI tools that appear only in the staff survey. Every row has a named owner, an autonomy tier and a risk tier, and you can justify each High rating in one sentence.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Read the three sources</a:t>
            </a:r>
          </a:p>
        </p:txBody>
      </p:sp>
      <p:sp>
        <p:nvSpPr>
          <p:cNvPr id="12" name="TextBox 11"/>
          <p:cNvSpPr txBox="1"/>
          <p:nvPr/>
        </p:nvSpPr>
        <p:spPr>
          <a:xfrm>
            <a:off x="850392"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IT · procurement · survey</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Flag every AI system</a:t>
            </a:r>
          </a:p>
        </p:txBody>
      </p:sp>
      <p:sp>
        <p:nvSpPr>
          <p:cNvPr id="19" name="TextBox 18"/>
          <p:cNvSpPr txBox="1"/>
          <p:nvPr/>
        </p:nvSpPr>
        <p:spPr>
          <a:xfrm>
            <a:off x="3054096"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description, not the flag</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Merge into one register</a:t>
            </a:r>
          </a:p>
        </p:txBody>
      </p:sp>
      <p:sp>
        <p:nvSpPr>
          <p:cNvPr id="26" name="TextBox 25"/>
          <p:cNvSpPr txBox="1"/>
          <p:nvPr/>
        </p:nvSpPr>
        <p:spPr>
          <a:xfrm>
            <a:off x="5257800"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owner · data · model</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Tier autonomy and risk</a:t>
            </a:r>
          </a:p>
        </p:txBody>
      </p:sp>
      <p:sp>
        <p:nvSpPr>
          <p:cNvPr id="33" name="TextBox 32"/>
          <p:cNvSpPr txBox="1"/>
          <p:nvPr/>
        </p:nvSpPr>
        <p:spPr>
          <a:xfrm>
            <a:off x="7461504"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Tier 1–4 · High/Med/Low</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Report the shadow AI</a:t>
            </a:r>
          </a:p>
        </p:txBody>
      </p:sp>
      <p:sp>
        <p:nvSpPr>
          <p:cNvPr id="40" name="TextBox 39"/>
          <p:cNvSpPr txBox="1"/>
          <p:nvPr/>
        </p:nvSpPr>
        <p:spPr>
          <a:xfrm>
            <a:off x="9665208"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the systems nobody owns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Analyse an organisation's AI footprint and produce the AI system inventory that every other governance control depends on.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 the AI System Inventory for NovaBank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inventory has a row for every AI system in all three files, including at least three shadow-AI tools that appear only in the staff survey. Every row has a named owner, an autonomy tier and a risk tier, and you can justify each High rating in one sentence.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Map the AI Threat Landscape with the Threat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Analyse how traditional security threats and AI-specific threats combine in an AI-enabled business, and explain the business impact of each.</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600" b="0">
                <a:solidFill>
                  <a:srgbClr val="161B26"/>
                </a:solidFill>
                <a:latin typeface="Arial"/>
              </a:rPr>
              <a:t>Governance decisions are only as good as your understanding of the threats. You will use the browser-based Cybersecurity Threat Simulator to experience the classic attack classes hands-on, then extend each one into its AI-era equivalent and record the business impact for NovaBank.</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Threat-to-Business-Impact map covering 8 threat classes, each with its AI-era variant, the NovaBank asset at risk and a first-line control.</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Cybersecurity Threat Simulator (https://alfredang.github.io/cybersecuritysimulator/), threat-map worksheet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000" b="0">
                <a:solidFill>
                  <a:srgbClr val="161B26"/>
                </a:solidFill>
                <a:latin typeface="Arial"/>
              </a:rPr>
              <a:t>Your map has all eight threat classes with both the traditional and the AI-era variant filled in. You can state, from the simulator, why parameterised queries stop SQL injection, and explain in one sentence why the same reasoning does not fully stop prompt injection.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Run the simulator modules</a:t>
            </a:r>
          </a:p>
        </p:txBody>
      </p:sp>
      <p:sp>
        <p:nvSpPr>
          <p:cNvPr id="12" name="TextBox 11"/>
          <p:cNvSpPr txBox="1"/>
          <p:nvPr/>
        </p:nvSpPr>
        <p:spPr>
          <a:xfrm>
            <a:off x="850392"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phishing · SQLi · XSS</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Record what you observed</a:t>
            </a:r>
          </a:p>
        </p:txBody>
      </p:sp>
      <p:sp>
        <p:nvSpPr>
          <p:cNvPr id="19" name="TextBox 18"/>
          <p:cNvSpPr txBox="1"/>
          <p:nvPr/>
        </p:nvSpPr>
        <p:spPr>
          <a:xfrm>
            <a:off x="3054096"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the mechanism, not the term</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Test passwords and social</a:t>
            </a:r>
          </a:p>
        </p:txBody>
      </p:sp>
      <p:sp>
        <p:nvSpPr>
          <p:cNvPr id="26" name="TextBox 25"/>
          <p:cNvSpPr txBox="1"/>
          <p:nvPr/>
        </p:nvSpPr>
        <p:spPr>
          <a:xfrm>
            <a:off x="5257800"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entropy · crack time</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Model the data leakage</a:t>
            </a:r>
          </a:p>
        </p:txBody>
      </p:sp>
      <p:sp>
        <p:nvSpPr>
          <p:cNvPr id="33" name="TextBox 32"/>
          <p:cNvSpPr txBox="1"/>
          <p:nvPr/>
        </p:nvSpPr>
        <p:spPr>
          <a:xfrm>
            <a:off x="7461504"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toggle each control</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Map to AI-era variants</a:t>
            </a:r>
          </a:p>
        </p:txBody>
      </p:sp>
      <p:sp>
        <p:nvSpPr>
          <p:cNvPr id="40" name="TextBox 39"/>
          <p:cNvSpPr txBox="1"/>
          <p:nvPr/>
        </p:nvSpPr>
        <p:spPr>
          <a:xfrm>
            <a:off x="9665208"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and the business impact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Analyse how traditional security threats and AI-specific threats combine in an AI-enabled business, and explain the business impact of each.</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Map the AI Threat Landscape with the Threat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map has all eight threat classes with both the traditional and the AI-era variant filled in. You can state, from the simulator, why parameterised queries stop SQL injection, and explain in one sentence why the same reasoning does not fully stop prompt injection.</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Analyse the Lethal Trifecta in a Live Agent Design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Analyse an agentic AI design, identify the lethal-trifecta exposure and the applicable NIST GenAI risks, and propose an architectural break.</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500" b="0">
                <a:solidFill>
                  <a:srgbClr val="161B26"/>
                </a:solidFill>
                <a:latin typeface="Arial"/>
              </a:rPr>
              <a:t>NovaBank's digital team has proposed 'NovaAssist', a customer-service agent that reads the customer's account, searches incoming e-mail and web content for context, and can send e-mails and raise payment instructions. You will analyse the design against the lethal trifecta and the NIST AI 600-1 GenAI risk set, and recommend a redesign.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agent risk analysis: the trifecta assessment, five mapped NIST GenAI risks, a documented attack path and a redesign that breaks the trifecta.</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NovaAssist design brief (novassist-design-brief.md), NIST AI 600-1 risk list, trifecta worksheet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000" b="0">
                <a:solidFill>
                  <a:srgbClr val="161B26"/>
                </a:solidFill>
                <a:latin typeface="Arial"/>
              </a:rPr>
              <a:t>You can state which of the three legs your redesign removes and why removing that leg is more effective than adding an output filter to the original design. Your five NIST risks are each tied to a concrete NovaBank consequence, not a generic description.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Read the design brief</a:t>
            </a:r>
          </a:p>
        </p:txBody>
      </p:sp>
      <p:sp>
        <p:nvSpPr>
          <p:cNvPr id="12" name="TextBox 11"/>
          <p:cNvSpPr txBox="1"/>
          <p:nvPr/>
        </p:nvSpPr>
        <p:spPr>
          <a:xfrm>
            <a:off x="850392"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every source, every action</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Test the three legs</a:t>
            </a:r>
          </a:p>
        </p:txBody>
      </p:sp>
      <p:sp>
        <p:nvSpPr>
          <p:cNvPr id="19" name="TextBox 18"/>
          <p:cNvSpPr txBox="1"/>
          <p:nvPr/>
        </p:nvSpPr>
        <p:spPr>
          <a:xfrm>
            <a:off x="3054096"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private · untrusted · outbound</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Write the attack path</a:t>
            </a:r>
          </a:p>
        </p:txBody>
      </p:sp>
      <p:sp>
        <p:nvSpPr>
          <p:cNvPr id="26" name="TextBox 25"/>
          <p:cNvSpPr txBox="1"/>
          <p:nvPr/>
        </p:nvSpPr>
        <p:spPr>
          <a:xfrm>
            <a:off x="5257800"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the EchoLeak pattern</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Map five NIST risks</a:t>
            </a:r>
          </a:p>
        </p:txBody>
      </p:sp>
      <p:sp>
        <p:nvSpPr>
          <p:cNvPr id="33" name="TextBox 32"/>
          <p:cNvSpPr txBox="1"/>
          <p:nvPr/>
        </p:nvSpPr>
        <p:spPr>
          <a:xfrm>
            <a:off x="7461504"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with business impact</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Break a leg, not a filter</a:t>
            </a:r>
          </a:p>
        </p:txBody>
      </p:sp>
      <p:sp>
        <p:nvSpPr>
          <p:cNvPr id="40" name="TextBox 39"/>
          <p:cNvSpPr txBox="1"/>
          <p:nvPr/>
        </p:nvSpPr>
        <p:spPr>
          <a:xfrm>
            <a:off x="9665208"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then state residual risk</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Analyse an agentic AI design, identify the lethal-trifecta exposure and the applicable NIST GenAI risks, and propose an architectural break.</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Analyse the Lethal Trifecta in a Live Agent Design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 can state which of the three legs your redesign removes and why removing that leg is more effective than adding an output filter to the original design. Your five NIST risks are each tied to a concrete NovaBank consequence, not a generic description.</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 the Business Case for AI Security Governance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Analyse the cost of inaction and present a business case that justifies AI security governance investment to a board.</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500" b="0">
                <a:solidFill>
                  <a:srgbClr val="161B26"/>
                </a:solidFill>
                <a:latin typeface="Arial"/>
              </a:rPr>
              <a:t>Governance competes for budget. You will quantify NovaBank's exposure using the incident pack and the cost assumptions provided, then produce a one-page board paper that argues for the governance programme in the language executives use: risk reduction, regulatory exposure and time to deploy.</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one-page board paper with a quantified exposure estimate, three prioritised investments and the expected risk reduction for each.</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Incident cost pack (incident-cost-assumptions.csv, sector-incident-data.csv), board paper template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000" b="0">
                <a:solidFill>
                  <a:srgbClr val="161B26"/>
                </a:solidFill>
                <a:latin typeface="Arial"/>
              </a:rPr>
              <a:t>Your board paper fits on one page, states a number for annual expected loss with its assumptions visible, and each of the three investments names the specific risk it reduces. You can answer the CFO challenge 'why not just buy a tool?' in one sentence.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Open the cost pack</a:t>
            </a:r>
          </a:p>
        </p:txBody>
      </p:sp>
      <p:sp>
        <p:nvSpPr>
          <p:cNvPr id="12" name="TextBox 11"/>
          <p:cNvSpPr txBox="1"/>
          <p:nvPr/>
        </p:nvSpPr>
        <p:spPr>
          <a:xfrm>
            <a:off x="850392"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four cost categories</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Count your High-risk systems</a:t>
            </a:r>
          </a:p>
        </p:txBody>
      </p:sp>
      <p:sp>
        <p:nvSpPr>
          <p:cNvPr id="19" name="TextBox 18"/>
          <p:cNvSpPr txBox="1"/>
          <p:nvPr/>
        </p:nvSpPr>
        <p:spPr>
          <a:xfrm>
            <a:off x="3054096"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from the Lab 1 inventory</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Cost one real scenario</a:t>
            </a:r>
          </a:p>
        </p:txBody>
      </p:sp>
      <p:sp>
        <p:nvSpPr>
          <p:cNvPr id="26" name="TextBox 25"/>
          <p:cNvSpPr txBox="1"/>
          <p:nvPr/>
        </p:nvSpPr>
        <p:spPr>
          <a:xfrm>
            <a:off x="5257800"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likelihood × impact</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Pick three investments</a:t>
            </a:r>
          </a:p>
        </p:txBody>
      </p:sp>
      <p:sp>
        <p:nvSpPr>
          <p:cNvPr id="33" name="TextBox 32"/>
          <p:cNvSpPr txBox="1"/>
          <p:nvPr/>
        </p:nvSpPr>
        <p:spPr>
          <a:xfrm>
            <a:off x="7461504"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cost · time · risk cut</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Write the board paper</a:t>
            </a:r>
          </a:p>
        </p:txBody>
      </p:sp>
      <p:sp>
        <p:nvSpPr>
          <p:cNvPr id="40" name="TextBox 39"/>
          <p:cNvSpPr txBox="1"/>
          <p:nvPr/>
        </p:nvSpPr>
        <p:spPr>
          <a:xfrm>
            <a:off x="9665208"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one page, one ask</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Analyse the cost of inaction and present a business case that justifies AI security governance investment to a board.</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 the Business Case for AI Security Governance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board paper fits on one page, states a number for annual expected loss with its assumptions visible, and each of the three investments names the specific risk it reduces. You can answer the CFO challenge 'why not just buy a tool?' in one sentence.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Recap — AI Security Governance Foundations and Business Risks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Analyse an organisation's AI footprint and produce the AI system inventory that every other governance control depends on.</a:t>
            </a:r>
          </a:p>
          <a:p>
            <a:pPr>
              <a:spcAft>
                <a:spcPts val="1000"/>
              </a:spcAft>
            </a:pPr>
            <a:r>
              <a:rPr sz="1700" b="0">
                <a:solidFill>
                  <a:srgbClr val="161B26"/>
                </a:solidFill>
                <a:latin typeface="Arial"/>
              </a:rPr>
              <a:t>•  You can now: Analyse how traditional security threats and AI-specific threats combine in an AI-enabled business, and explain the business impact of each.</a:t>
            </a:r>
          </a:p>
          <a:p>
            <a:pPr>
              <a:spcAft>
                <a:spcPts val="1000"/>
              </a:spcAft>
            </a:pPr>
            <a:r>
              <a:rPr sz="1700" b="0">
                <a:solidFill>
                  <a:srgbClr val="161B26"/>
                </a:solidFill>
                <a:latin typeface="Arial"/>
              </a:rPr>
              <a:t>•  You can now: Analyse an agentic AI design, identify the lethal-trifecta exposure and the applicable NIST GenAI risks, and propose an architectural break.</a:t>
            </a:r>
          </a:p>
          <a:p>
            <a:pPr>
              <a:spcAft>
                <a:spcPts val="1000"/>
              </a:spcAft>
            </a:pPr>
            <a:r>
              <a:rPr sz="1700" b="0">
                <a:solidFill>
                  <a:srgbClr val="161B26"/>
                </a:solidFill>
                <a:latin typeface="Arial"/>
              </a:rPr>
              <a:t>•  You can now: Analyse the cost of inaction and present a business case that justifies AI security governance investment to a board.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10424160" cy="1417320"/>
          </a:xfrm>
          <a:prstGeom prst="rect">
            <a:avLst/>
          </a:prstGeom>
          <a:noFill/>
        </p:spPr>
        <p:txBody>
          <a:bodyPr wrap="square" anchor="t">
            <a:spAutoFit/>
          </a:bodyPr>
          <a:lstStyle/>
          <a:p>
            <a:pPr algn="l">
              <a:spcAft>
                <a:spcPts val="400"/>
              </a:spcAft>
            </a:pPr>
            <a:r>
              <a:rPr sz="4000" b="1">
                <a:solidFill>
                  <a:srgbClr val="161B26"/>
                </a:solidFill>
                <a:latin typeface="Arial"/>
              </a:rPr>
              <a:t>Building an AI Governance Framework: Policies, Roles and Risk Ownership</a:t>
            </a:r>
          </a:p>
        </p:txBody>
      </p:sp>
      <p:sp>
        <p:nvSpPr>
          <p:cNvPr id="7" name="TextBox 6"/>
          <p:cNvSpPr txBox="1"/>
          <p:nvPr/>
        </p:nvSpPr>
        <p:spPr>
          <a:xfrm>
            <a:off x="1161288" y="4224528"/>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NIST AI RMF · MGF for GenAI · PDPA duties · policy architecture · roles, RACI and the AI inventory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advClick="1">
    <p:push dir="l"/>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Key Concepts — Building an AI Governance Framework: Policies, Roles and Risk Ownership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200" b="1">
                <a:solidFill>
                  <a:srgbClr val="161B26"/>
                </a:solidFill>
                <a:latin typeface="Arial"/>
              </a:rPr>
              <a:t>NIST AI RMF 1.0 at a glance</a:t>
            </a:r>
          </a:p>
          <a:p>
            <a:pPr algn="l">
              <a:spcAft>
                <a:spcPts val="300"/>
              </a:spcAft>
            </a:pPr>
            <a:r>
              <a:rPr sz="800" b="0">
                <a:solidFill>
                  <a:srgbClr val="5B6372"/>
                </a:solidFill>
                <a:latin typeface="Arial"/>
              </a:rPr>
              <a:t>A voluntary framework structured as four functions — GOVERN, MAP, MEASURE, MANAGE — that any organisation can adopt without buying a product.</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200" b="1">
                <a:solidFill>
                  <a:srgbClr val="161B26"/>
                </a:solidFill>
                <a:latin typeface="Arial"/>
              </a:rPr>
              <a:t>The seven trustworthiness characteristics</a:t>
            </a:r>
          </a:p>
          <a:p>
            <a:pPr algn="l">
              <a:spcAft>
                <a:spcPts val="300"/>
              </a:spcAft>
            </a:pPr>
            <a:r>
              <a:rPr sz="800" b="0">
                <a:solidFill>
                  <a:srgbClr val="5B6372"/>
                </a:solidFill>
                <a:latin typeface="Arial"/>
              </a:rPr>
              <a:t>Valid and reliable; safe; secure and resilient; accountable and transparent; explainable and interpretable; privacy-enhanced; and fair with harmful bias managed.</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200" b="1">
                <a:solidFill>
                  <a:srgbClr val="161B26"/>
                </a:solidFill>
                <a:latin typeface="Arial"/>
              </a:rPr>
              <a:t>GOVERN — the cross-cutting function</a:t>
            </a:r>
          </a:p>
          <a:p>
            <a:pPr algn="l">
              <a:spcAft>
                <a:spcPts val="300"/>
              </a:spcAft>
            </a:pPr>
            <a:r>
              <a:rPr sz="800" b="0">
                <a:solidFill>
                  <a:srgbClr val="5B6372"/>
                </a:solidFill>
                <a:latin typeface="Arial"/>
              </a:rPr>
              <a:t>GOVERN 1 policies and legal duties, GOVERN 2 accountability and training, GOVERN 3 diverse teams, GOVERN 4 risk culture, GOVERN 5 stakeholder engagement, GOVERN 6 third-party risk.</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200" b="1">
                <a:solidFill>
                  <a:srgbClr val="161B26"/>
                </a:solidFill>
                <a:latin typeface="Arial"/>
              </a:rPr>
              <a:t>MAP, MEASURE and MANAGE</a:t>
            </a:r>
          </a:p>
          <a:p>
            <a:pPr algn="l">
              <a:spcAft>
                <a:spcPts val="300"/>
              </a:spcAft>
            </a:pPr>
            <a:r>
              <a:rPr sz="800" b="0">
                <a:solidFill>
                  <a:srgbClr val="5B6372"/>
                </a:solidFill>
                <a:latin typeface="Arial"/>
              </a:rPr>
              <a:t>MAP frames context and risk; MEASURE selects metrics and tests; MANAGE prioritises, treats, monitors and responds to risks including third-party and residual risk.</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200" b="1">
                <a:solidFill>
                  <a:srgbClr val="161B26"/>
                </a:solidFill>
                <a:latin typeface="Arial"/>
              </a:rPr>
              <a:t>Singapore's MGF for Generative AI</a:t>
            </a:r>
          </a:p>
          <a:p>
            <a:pPr algn="l">
              <a:spcAft>
                <a:spcPts val="300"/>
              </a:spcAft>
            </a:pPr>
            <a:r>
              <a:rPr sz="800" b="0">
                <a:solidFill>
                  <a:srgbClr val="5B6372"/>
                </a:solidFill>
                <a:latin typeface="Arial"/>
              </a:rPr>
              <a:t>IMDA and AI Verify Foundation set nine dimensions: accountability, data, trusted development and deployment, incident reporting, testing and assurance, security, content provenance, safety R&amp;D and public good.</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200" b="1">
                <a:solidFill>
                  <a:srgbClr val="161B26"/>
                </a:solidFill>
                <a:latin typeface="Arial"/>
              </a:rPr>
              <a:t>AI Verify — testing as evidence</a:t>
            </a:r>
          </a:p>
          <a:p>
            <a:pPr algn="l">
              <a:spcAft>
                <a:spcPts val="300"/>
              </a:spcAft>
            </a:pPr>
            <a:r>
              <a:rPr sz="800" b="0">
                <a:solidFill>
                  <a:srgbClr val="5B6372"/>
                </a:solidFill>
                <a:latin typeface="Arial"/>
              </a:rPr>
              <a:t>Singapore's AI governance testing framework and toolkit lets an organisation demonstrate, not merely assert, that a system behaves as claimed.</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200" b="1">
                <a:solidFill>
                  <a:srgbClr val="161B26"/>
                </a:solidFill>
                <a:latin typeface="Arial"/>
              </a:rPr>
              <a:t>PDPA duties that bite on AI</a:t>
            </a:r>
          </a:p>
          <a:p>
            <a:pPr algn="l">
              <a:spcAft>
                <a:spcPts val="300"/>
              </a:spcAft>
            </a:pPr>
            <a:r>
              <a:rPr sz="800" b="0">
                <a:solidFill>
                  <a:srgbClr val="5B6372"/>
                </a:solidFill>
                <a:latin typeface="Arial"/>
              </a:rPr>
              <a:t>Consent and Notification, Accountability, Protection and Retention obligations apply whenever personal data is used to develop or run an AI system.</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Key Concepts — Building an AI Governance Framework: Policies, Roles and Risk Ownership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300" b="1">
                <a:solidFill>
                  <a:srgbClr val="161B26"/>
                </a:solidFill>
                <a:latin typeface="Arial"/>
              </a:rPr>
              <a:t>Business Improvement and Research exceptions</a:t>
            </a:r>
          </a:p>
          <a:p>
            <a:pPr algn="l">
              <a:spcAft>
                <a:spcPts val="300"/>
              </a:spcAft>
            </a:pPr>
            <a:r>
              <a:rPr sz="900" b="0">
                <a:solidFill>
                  <a:srgbClr val="5B6372"/>
                </a:solidFill>
                <a:latin typeface="Arial"/>
              </a:rPr>
              <a:t>The PDPC guidelines explain when personal data may be used without fresh consent to develop AI systems — and the conditions and documentation that must accompany that reliance.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Policy architecture, not a single policy</a:t>
            </a:r>
          </a:p>
          <a:p>
            <a:pPr algn="l">
              <a:spcAft>
                <a:spcPts val="300"/>
              </a:spcAft>
            </a:pPr>
            <a:r>
              <a:rPr sz="1000" b="0">
                <a:solidFill>
                  <a:srgbClr val="5B6372"/>
                </a:solidFill>
                <a:latin typeface="Arial"/>
              </a:rPr>
              <a:t>A workable set is an AI acceptable-use policy, an AI risk-management standard, a data-for-AI standard, a model/agent development standard, and a third-party AI standard.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Roles and risk ownership</a:t>
            </a:r>
          </a:p>
          <a:p>
            <a:pPr algn="l">
              <a:spcAft>
                <a:spcPts val="300"/>
              </a:spcAft>
            </a:pPr>
            <a:r>
              <a:rPr sz="1100" b="0">
                <a:solidFill>
                  <a:srgbClr val="5B6372"/>
                </a:solidFill>
                <a:latin typeface="Arial"/>
              </a:rPr>
              <a:t>Board and executive accountability, an AI governance committee, business system owners, model owners, the DPO, security, legal, and a named human accountable for each deployment.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RACI beats goodwill</a:t>
            </a:r>
          </a:p>
          <a:p>
            <a:pPr algn="l">
              <a:spcAft>
                <a:spcPts val="300"/>
              </a:spcAft>
            </a:pPr>
            <a:r>
              <a:rPr sz="1100" b="0">
                <a:solidFill>
                  <a:srgbClr val="5B6372"/>
                </a:solidFill>
                <a:latin typeface="Arial"/>
              </a:rPr>
              <a:t>Every control needs a Responsible doer, an Accountable owner, Consulted specialists and Informed stakeholders — ambiguity is where AI governance quietly fails.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AI system inventory</a:t>
            </a:r>
          </a:p>
          <a:p>
            <a:pPr algn="l">
              <a:spcAft>
                <a:spcPts val="300"/>
              </a:spcAft>
            </a:pPr>
            <a:r>
              <a:rPr sz="1100" b="0">
                <a:solidFill>
                  <a:srgbClr val="5B6372"/>
                </a:solidFill>
                <a:latin typeface="Arial"/>
              </a:rPr>
              <a:t>You cannot govern what you cannot see: a register of every AI system with owner, purpose, data classes, model, tools, risk tier and review date is the foundational control.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Risk tiering drives proportionality</a:t>
            </a:r>
          </a:p>
          <a:p>
            <a:pPr algn="l">
              <a:spcAft>
                <a:spcPts val="300"/>
              </a:spcAft>
            </a:pPr>
            <a:r>
              <a:rPr sz="1100" b="0">
                <a:solidFill>
                  <a:srgbClr val="5B6372"/>
                </a:solidFill>
                <a:latin typeface="Arial"/>
              </a:rPr>
              <a:t>Classify systems by impact on people and business, then scale the control set — light-touch for low-risk internal aids, full assurance for decisions affecting individuals.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FIVE DOCUMENTS, NOT ONE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a Workable Policy Set Looks Like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AI Acceptable Use Policy</a:t>
            </a:r>
          </a:p>
          <a:p>
            <a:pPr algn="l">
              <a:spcAft>
                <a:spcPts val="300"/>
              </a:spcAft>
            </a:pPr>
            <a:r>
              <a:rPr sz="1200" b="0">
                <a:solidFill>
                  <a:srgbClr val="5B6372"/>
                </a:solidFill>
                <a:latin typeface="Arial"/>
              </a:rPr>
              <a:t>For everyone. What staff may and may not do, with which tools and which data. Short enough to be read.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AI Risk Management Standard</a:t>
            </a:r>
          </a:p>
          <a:p>
            <a:pPr algn="l">
              <a:spcAft>
                <a:spcPts val="300"/>
              </a:spcAft>
            </a:pPr>
            <a:r>
              <a:rPr sz="1200" b="0">
                <a:solidFill>
                  <a:srgbClr val="5B6372"/>
                </a:solidFill>
                <a:latin typeface="Arial"/>
              </a:rPr>
              <a:t>Risk tiering, the assessment required per tier, who signs off, and the review cycle.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for AI Standard</a:t>
            </a:r>
          </a:p>
          <a:p>
            <a:pPr algn="l">
              <a:spcAft>
                <a:spcPts val="300"/>
              </a:spcAft>
            </a:pPr>
            <a:r>
              <a:rPr sz="1200" b="0">
                <a:solidFill>
                  <a:srgbClr val="5B6372"/>
                </a:solidFill>
                <a:latin typeface="Arial"/>
              </a:rPr>
              <a:t>Provenance, lawful basis, classification, minimisation, de-identification and retention.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Model &amp; Agent Development Standard</a:t>
            </a:r>
          </a:p>
          <a:p>
            <a:pPr algn="l">
              <a:spcAft>
                <a:spcPts val="300"/>
              </a:spcAft>
            </a:pPr>
            <a:r>
              <a:rPr sz="1200" b="0">
                <a:solidFill>
                  <a:srgbClr val="5B6372"/>
                </a:solidFill>
                <a:latin typeface="Arial"/>
              </a:rPr>
              <a:t>Threat modelling, testing, red-teaming, human-oversight design and change control.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Third-Party AI Standard</a:t>
            </a:r>
          </a:p>
          <a:p>
            <a:pPr algn="l">
              <a:spcAft>
                <a:spcPts val="300"/>
              </a:spcAft>
            </a:pPr>
            <a:r>
              <a:rPr sz="1200" b="0">
                <a:solidFill>
                  <a:srgbClr val="5B6372"/>
                </a:solidFill>
                <a:latin typeface="Arial"/>
              </a:rPr>
              <a:t>Vendor due diligence, model provenance questions, sub-processor disclosure and contractual terms.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One page beats twenty</a:t>
            </a:r>
          </a:p>
          <a:p>
            <a:pPr algn="l">
              <a:spcAft>
                <a:spcPts val="300"/>
              </a:spcAft>
            </a:pPr>
            <a:r>
              <a:rPr sz="1200" b="0">
                <a:solidFill>
                  <a:srgbClr val="5B6372"/>
                </a:solidFill>
                <a:latin typeface="Arial"/>
              </a:rPr>
              <a:t>A policy nobody reads is worse than none — it creates the illusion of control.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LO2 · WRITE FOR ENFORCEMENT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Five Policy Defects That Make Policies Fail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Vague scope</a:t>
            </a:r>
          </a:p>
          <a:p>
            <a:pPr algn="l">
              <a:spcAft>
                <a:spcPts val="300"/>
              </a:spcAft>
            </a:pPr>
            <a:r>
              <a:rPr sz="1200" b="0">
                <a:solidFill>
                  <a:srgbClr val="5B6372"/>
                </a:solidFill>
                <a:latin typeface="Arial"/>
              </a:rPr>
              <a:t>'This policy covers AI' — does it cover Copilot? Personal ChatGPT? An AI feature in a SaaS you already own? Say so.</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 approval turnaround</a:t>
            </a:r>
          </a:p>
          <a:p>
            <a:pPr algn="l">
              <a:spcAft>
                <a:spcPts val="300"/>
              </a:spcAft>
            </a:pPr>
            <a:r>
              <a:rPr sz="1200" b="0">
                <a:solidFill>
                  <a:srgbClr val="5B6372"/>
                </a:solidFill>
                <a:latin typeface="Arial"/>
              </a:rPr>
              <a:t>A pathway with no service level is a pathway staff bypass. Commit to a number of days.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Prohibitions without alternatives</a:t>
            </a:r>
          </a:p>
          <a:p>
            <a:pPr algn="l">
              <a:spcAft>
                <a:spcPts val="300"/>
              </a:spcAft>
            </a:pPr>
            <a:r>
              <a:rPr sz="1200" b="0">
                <a:solidFill>
                  <a:srgbClr val="5B6372"/>
                </a:solidFill>
                <a:latin typeface="Arial"/>
              </a:rPr>
              <a:t>Ban a tool without providing a sanctioned route and usage moves underground, not away.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 named owner</a:t>
            </a:r>
          </a:p>
          <a:p>
            <a:pPr algn="l">
              <a:spcAft>
                <a:spcPts val="300"/>
              </a:spcAft>
            </a:pPr>
            <a:r>
              <a:rPr sz="1200" b="0">
                <a:solidFill>
                  <a:srgbClr val="5B6372"/>
                </a:solidFill>
                <a:latin typeface="Arial"/>
              </a:rPr>
              <a:t>A policy with no owner and no review date is already obsolete on the day it is issued.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Unenforceable clauses</a:t>
            </a:r>
          </a:p>
          <a:p>
            <a:pPr algn="l">
              <a:spcAft>
                <a:spcPts val="300"/>
              </a:spcAft>
            </a:pPr>
            <a:r>
              <a:rPr sz="1200" b="0">
                <a:solidFill>
                  <a:srgbClr val="5B6372"/>
                </a:solidFill>
                <a:latin typeface="Arial"/>
              </a:rPr>
              <a:t>If you cannot detect a breach, the clause is advice. Pair each rule with the control that evidences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test</a:t>
            </a:r>
          </a:p>
          <a:p>
            <a:pPr algn="l">
              <a:spcAft>
                <a:spcPts val="300"/>
              </a:spcAft>
            </a:pPr>
            <a:r>
              <a:rPr sz="1200" b="0">
                <a:solidFill>
                  <a:srgbClr val="5B6372"/>
                </a:solidFill>
                <a:latin typeface="Arial"/>
              </a:rPr>
              <a:t>Could a member of staff read it and know exactly what to do on Monday morning?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PROPORTIONALITY IS WHAT MAKES IT SUSTAINABLE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Risk Tiering Drives Everything Else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Two questions</a:t>
            </a:r>
          </a:p>
        </p:txBody>
      </p:sp>
      <p:sp>
        <p:nvSpPr>
          <p:cNvPr id="12" name="TextBox 11"/>
          <p:cNvSpPr txBox="1"/>
          <p:nvPr/>
        </p:nvSpPr>
        <p:spPr>
          <a:xfrm>
            <a:off x="850392" y="3785616"/>
            <a:ext cx="1673352" cy="402336"/>
          </a:xfrm>
          <a:prstGeom prst="rect">
            <a:avLst/>
          </a:prstGeom>
          <a:noFill/>
        </p:spPr>
        <p:txBody>
          <a:bodyPr wrap="square" anchor="ctr">
            <a:spAutoFit/>
          </a:bodyPr>
          <a:lstStyle/>
          <a:p>
            <a:pPr algn="ctr">
              <a:spcAft>
                <a:spcPts val="0"/>
              </a:spcAft>
            </a:pPr>
            <a:r>
              <a:rPr sz="800" b="0">
                <a:solidFill>
                  <a:srgbClr val="5B6372"/>
                </a:solidFill>
                <a:latin typeface="Arial"/>
              </a:rPr>
              <a:t>Does it decide about a person? Does it touch personal or confidential data?</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Assign a tier</a:t>
            </a:r>
          </a:p>
        </p:txBody>
      </p:sp>
      <p:sp>
        <p:nvSpPr>
          <p:cNvPr id="19" name="TextBox 18"/>
          <p:cNvSpPr txBox="1"/>
          <p:nvPr/>
        </p:nvSpPr>
        <p:spPr>
          <a:xfrm>
            <a:off x="3054096"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High, Medium or Low — recorded in the inventory</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Scale the controls</a:t>
            </a:r>
          </a:p>
        </p:txBody>
      </p:sp>
      <p:sp>
        <p:nvSpPr>
          <p:cNvPr id="26" name="TextBox 25"/>
          <p:cNvSpPr txBox="1"/>
          <p:nvPr/>
        </p:nvSpPr>
        <p:spPr>
          <a:xfrm>
            <a:off x="5257800" y="3785616"/>
            <a:ext cx="1673352" cy="402336"/>
          </a:xfrm>
          <a:prstGeom prst="rect">
            <a:avLst/>
          </a:prstGeom>
          <a:noFill/>
        </p:spPr>
        <p:txBody>
          <a:bodyPr wrap="square" anchor="ctr">
            <a:spAutoFit/>
          </a:bodyPr>
          <a:lstStyle/>
          <a:p>
            <a:pPr algn="ctr">
              <a:spcAft>
                <a:spcPts val="0"/>
              </a:spcAft>
            </a:pPr>
            <a:r>
              <a:rPr sz="800" b="0">
                <a:solidFill>
                  <a:srgbClr val="5B6372"/>
                </a:solidFill>
                <a:latin typeface="Arial"/>
              </a:rPr>
              <a:t>Assessment depth, testing, oversight and approver rise with the tier</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Set the review cycle</a:t>
            </a:r>
          </a:p>
        </p:txBody>
      </p:sp>
      <p:sp>
        <p:nvSpPr>
          <p:cNvPr id="33" name="TextBox 32"/>
          <p:cNvSpPr txBox="1"/>
          <p:nvPr/>
        </p:nvSpPr>
        <p:spPr>
          <a:xfrm>
            <a:off x="7461504"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High reviewed most often; Low on a light-touch cycle</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Proportionate governance</a:t>
            </a:r>
          </a:p>
        </p:txBody>
      </p:sp>
      <p:sp>
        <p:nvSpPr>
          <p:cNvPr id="40" name="TextBox 39"/>
          <p:cNvSpPr txBox="1"/>
          <p:nvPr/>
        </p:nvSpPr>
        <p:spPr>
          <a:xfrm>
            <a:off x="9665208" y="3785616"/>
            <a:ext cx="1673352" cy="402336"/>
          </a:xfrm>
          <a:prstGeom prst="rect">
            <a:avLst/>
          </a:prstGeom>
          <a:noFill/>
        </p:spPr>
        <p:txBody>
          <a:bodyPr wrap="square" anchor="ctr">
            <a:spAutoFit/>
          </a:bodyPr>
          <a:lstStyle/>
          <a:p>
            <a:pPr algn="ctr">
              <a:spcAft>
                <a:spcPts val="0"/>
              </a:spcAft>
            </a:pPr>
            <a:r>
              <a:rPr sz="800" b="0">
                <a:solidFill>
                  <a:srgbClr val="5B6372"/>
                </a:solidFill>
                <a:latin typeface="Arial"/>
              </a:rPr>
              <a:t>Effort follows risk, so the process survives contact with the business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FAILURE MODE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Treating every AI system the same. Full assurance on a meeting-summariser exhausts the goodwill you need for the credit model.</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LO2 · WHO DECIDES WHAT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Roles and Risk Ownership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Board / Executive</a:t>
            </a:r>
          </a:p>
          <a:p>
            <a:pPr algn="l">
              <a:spcAft>
                <a:spcPts val="300"/>
              </a:spcAft>
            </a:pPr>
            <a:r>
              <a:rPr sz="1200" b="0">
                <a:solidFill>
                  <a:srgbClr val="5B6372"/>
                </a:solidFill>
                <a:latin typeface="Arial"/>
              </a:rPr>
              <a:t>Owns AI risk appetite and is accountable for decisions about AI risk (NIST GOVERN 2.3). Not delegable.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AI Governance Committee</a:t>
            </a:r>
          </a:p>
          <a:p>
            <a:pPr algn="l">
              <a:spcAft>
                <a:spcPts val="300"/>
              </a:spcAft>
            </a:pPr>
            <a:r>
              <a:rPr sz="1200" b="0">
                <a:solidFill>
                  <a:srgbClr val="5B6372"/>
                </a:solidFill>
                <a:latin typeface="Arial"/>
              </a:rPr>
              <a:t>Decides. If it can only advise, it cannot govern — write decision rights into the terms of reference.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AI Governance Lead</a:t>
            </a:r>
          </a:p>
          <a:p>
            <a:pPr algn="l">
              <a:spcAft>
                <a:spcPts val="300"/>
              </a:spcAft>
            </a:pPr>
            <a:r>
              <a:rPr sz="1200" b="0">
                <a:solidFill>
                  <a:srgbClr val="5B6372"/>
                </a:solidFill>
                <a:latin typeface="Arial"/>
              </a:rPr>
              <a:t>Runs the programme: inventory, assessments, reporting. Coordinates; does not own every system.</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AI System Owner</a:t>
            </a:r>
          </a:p>
          <a:p>
            <a:pPr algn="l">
              <a:spcAft>
                <a:spcPts val="300"/>
              </a:spcAft>
            </a:pPr>
            <a:r>
              <a:rPr sz="1200" b="0">
                <a:solidFill>
                  <a:srgbClr val="5B6372"/>
                </a:solidFill>
                <a:latin typeface="Arial"/>
              </a:rPr>
              <a:t>A named business person accountable for one system's purpose, risk and behaviour.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Protection Officer</a:t>
            </a:r>
          </a:p>
          <a:p>
            <a:pPr algn="l">
              <a:spcAft>
                <a:spcPts val="300"/>
              </a:spcAft>
            </a:pPr>
            <a:r>
              <a:rPr sz="1200" b="0">
                <a:solidFill>
                  <a:srgbClr val="5B6372"/>
                </a:solidFill>
                <a:latin typeface="Arial"/>
              </a:rPr>
              <a:t>Lawful basis, notification, individual rights and breach determination.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Security Lead</a:t>
            </a:r>
          </a:p>
          <a:p>
            <a:pPr algn="l">
              <a:spcAft>
                <a:spcPts val="300"/>
              </a:spcAft>
            </a:pPr>
            <a:r>
              <a:rPr sz="1200" b="0">
                <a:solidFill>
                  <a:srgbClr val="5B6372"/>
                </a:solidFill>
                <a:latin typeface="Arial"/>
              </a:rPr>
              <a:t>Threat modelling, testing, monitoring, incident response and the kill switch.</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REMOVING AMBIGUITY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Single-A Rule and Why RACI Fails Without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 — Responsible</a:t>
            </a:r>
          </a:p>
          <a:p>
            <a:pPr algn="l">
              <a:spcAft>
                <a:spcPts val="300"/>
              </a:spcAft>
            </a:pPr>
            <a:r>
              <a:rPr sz="1200" b="0">
                <a:solidFill>
                  <a:srgbClr val="5B6372"/>
                </a:solidFill>
                <a:latin typeface="Arial"/>
              </a:rPr>
              <a:t>Does the work. There can be several.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 — Accountable</a:t>
            </a:r>
          </a:p>
          <a:p>
            <a:pPr algn="l">
              <a:spcAft>
                <a:spcPts val="300"/>
              </a:spcAft>
            </a:pPr>
            <a:r>
              <a:rPr sz="1200" b="0">
                <a:solidFill>
                  <a:srgbClr val="5B6372"/>
                </a:solidFill>
                <a:latin typeface="Arial"/>
              </a:rPr>
              <a:t>Answers for the outcome. There must be exactly ONE.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 — Consulted</a:t>
            </a:r>
          </a:p>
          <a:p>
            <a:pPr algn="l">
              <a:spcAft>
                <a:spcPts val="300"/>
              </a:spcAft>
            </a:pPr>
            <a:r>
              <a:rPr sz="1200" b="0">
                <a:solidFill>
                  <a:srgbClr val="5B6372"/>
                </a:solidFill>
                <a:latin typeface="Arial"/>
              </a:rPr>
              <a:t>Two-way: their input is sought before the decision.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 — Informed</a:t>
            </a:r>
          </a:p>
          <a:p>
            <a:pPr algn="l">
              <a:spcAft>
                <a:spcPts val="300"/>
              </a:spcAft>
            </a:pPr>
            <a:r>
              <a:rPr sz="1200" b="0">
                <a:solidFill>
                  <a:srgbClr val="5B6372"/>
                </a:solidFill>
                <a:latin typeface="Arial"/>
              </a:rPr>
              <a:t>One-way: told after the decision.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Two A's means none</a:t>
            </a:r>
          </a:p>
          <a:p>
            <a:pPr algn="l">
              <a:spcAft>
                <a:spcPts val="300"/>
              </a:spcAft>
            </a:pPr>
            <a:r>
              <a:rPr sz="1200" b="0">
                <a:solidFill>
                  <a:srgbClr val="5B6372"/>
                </a:solidFill>
                <a:latin typeface="Arial"/>
              </a:rPr>
              <a:t>When two roles are accountable, each assumes the other has it. This is discovered during an incident, at the worst possible moment.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stress test</a:t>
            </a:r>
          </a:p>
          <a:p>
            <a:pPr algn="l">
              <a:spcAft>
                <a:spcPts val="300"/>
              </a:spcAft>
            </a:pPr>
            <a:r>
              <a:rPr sz="1200" b="0">
                <a:solidFill>
                  <a:srgbClr val="5B6372"/>
                </a:solidFill>
                <a:latin typeface="Arial"/>
              </a:rPr>
              <a:t>Walk a real incident through your RACI. Every step must produce a named person.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Hands-On Labs — Building an AI Governance Framework: Policies, Roles and Risk Ownership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5–6</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Run a NIST AI RMF Gap Assessment</a:t>
            </a:r>
          </a:p>
          <a:p>
            <a:pPr>
              <a:spcAft>
                <a:spcPts val="900"/>
              </a:spcAft>
            </a:pPr>
            <a:r>
              <a:rPr sz="1400" b="0">
                <a:solidFill>
                  <a:srgbClr val="161B26"/>
                </a:solidFill>
                <a:latin typeface="Arial"/>
              </a:rPr>
              <a:t>•  Draft the AI Acceptable Use and Governance Policy Set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7–8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Design the Governance Operating Model and RACI</a:t>
            </a:r>
          </a:p>
          <a:p>
            <a:pPr>
              <a:spcAft>
                <a:spcPts val="900"/>
              </a:spcAft>
            </a:pPr>
            <a:r>
              <a:rPr sz="1400" b="0">
                <a:solidFill>
                  <a:srgbClr val="161B26"/>
                </a:solidFill>
                <a:latin typeface="Arial"/>
              </a:rPr>
              <a:t>•  Apply the PDPA and PDPC AI Advisory Guidelines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Run a NIST AI RMF Gap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Evaluate an organisation against the NIST AI RMF GOVERN, MAP, MEASURE and MANAGE functions and produce a prioritised gap register.</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500" b="0">
                <a:solidFill>
                  <a:srgbClr val="161B26"/>
                </a:solidFill>
                <a:latin typeface="Arial"/>
              </a:rPr>
              <a:t>NovaBank has an information-security programme but no AI-specific governance. You will assess the bank against the NIST AI RMF using the supplied evidence pack — policy extracts, meeting minutes and interview notes — scoring each subcategory and producing a gap register that drives the rest of the course.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NIST AI RMF gap assessment across 16 subcategories, each scored with evidence, plus a top-10 prioritised gap register.</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Evidence pack (policy-extracts.md, governance-interviews.md, existing-controls.csv), RMF assessment worksheet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Every subcategory score cites a specific line of evidence from the pack. Your gap register's top three items are all High-risk, and you can defend why a lower-scoring subcategory did not make the top ten.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Read the evidence pack</a:t>
            </a:r>
          </a:p>
        </p:txBody>
      </p:sp>
      <p:sp>
        <p:nvSpPr>
          <p:cNvPr id="12" name="TextBox 11"/>
          <p:cNvSpPr txBox="1"/>
          <p:nvPr/>
        </p:nvSpPr>
        <p:spPr>
          <a:xfrm>
            <a:off x="850392"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policies and interviews</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Score GOVERN</a:t>
            </a:r>
          </a:p>
        </p:txBody>
      </p:sp>
      <p:sp>
        <p:nvSpPr>
          <p:cNvPr id="19" name="TextBox 18"/>
          <p:cNvSpPr txBox="1"/>
          <p:nvPr/>
        </p:nvSpPr>
        <p:spPr>
          <a:xfrm>
            <a:off x="3054096"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0–3, cite the evidence</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Score MAP and MEASURE</a:t>
            </a:r>
          </a:p>
        </p:txBody>
      </p:sp>
      <p:sp>
        <p:nvSpPr>
          <p:cNvPr id="26" name="TextBox 25"/>
          <p:cNvSpPr txBox="1"/>
          <p:nvPr/>
        </p:nvSpPr>
        <p:spPr>
          <a:xfrm>
            <a:off x="5257800"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expect MEASURE lowest</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Score MANAGE</a:t>
            </a:r>
          </a:p>
        </p:txBody>
      </p:sp>
      <p:sp>
        <p:nvSpPr>
          <p:cNvPr id="33" name="TextBox 32"/>
          <p:cNvSpPr txBox="1"/>
          <p:nvPr/>
        </p:nvSpPr>
        <p:spPr>
          <a:xfrm>
            <a:off x="7461504"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residual risk accepted?</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Build the gap register</a:t>
            </a:r>
          </a:p>
        </p:txBody>
      </p:sp>
      <p:sp>
        <p:nvSpPr>
          <p:cNvPr id="40" name="TextBox 39"/>
          <p:cNvSpPr txBox="1"/>
          <p:nvPr/>
        </p:nvSpPr>
        <p:spPr>
          <a:xfrm>
            <a:off x="9665208"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risk cut per unit effort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Evaluate an organisation against the NIST AI RMF GOVERN, MAP, MEASURE and MANAGE functions and produce a prioritised gap register.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Run a NIST AI RMF Gap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subcategory score cites a specific line of evidence from the pack. Your gap register's top three items are all High-risk, and you can defend why a lower-scoring subcategory did not make the top ten.</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Draft the AI Acceptable Use and Governance Policy Set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Evaluate policy requirements and develop an enforceable AI policy set aligned to the NIST AI RMF and Singapore's MGF for Generative AI.</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Policy is where governance becomes enforceable. You will draft NovaBank's AI Acceptable Use Policy and the supporting standard, working from the gap register you produced in Lab 5 and the nine dimensions of Singapore's Model AI Governance Framework for Generative AI.</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 AI Acceptable Use Policy (2 pages) plus a one-page AI Risk Management Standard, both mapped to MGF dimensions and RMF subcategories.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Policy templates (aup-template.md, standard-template.md), MGF nine dimensions reference, Lab 5 gap register</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000" b="0">
                <a:solidFill>
                  <a:srgbClr val="161B26"/>
                </a:solidFill>
                <a:latin typeface="Arial"/>
              </a:rPr>
              <a:t>Your AUP states at least six concrete prohibited actions, names the approver and the turnaround time, and every clause maps to at least one MGF dimension. A peer confirms they could apply your policy without asking you a question.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Set the scope precisely</a:t>
            </a:r>
          </a:p>
        </p:txBody>
      </p:sp>
      <p:sp>
        <p:nvSpPr>
          <p:cNvPr id="12" name="TextBox 11"/>
          <p:cNvSpPr txBox="1"/>
          <p:nvPr/>
        </p:nvSpPr>
        <p:spPr>
          <a:xfrm>
            <a:off x="850392"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which tools are covered?</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Write permitted use</a:t>
            </a:r>
          </a:p>
        </p:txBody>
      </p:sp>
      <p:sp>
        <p:nvSpPr>
          <p:cNvPr id="19" name="TextBox 18"/>
          <p:cNvSpPr txBox="1"/>
          <p:nvPr/>
        </p:nvSpPr>
        <p:spPr>
          <a:xfrm>
            <a:off x="3054096"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data classes and logging</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Write prohibited use</a:t>
            </a:r>
          </a:p>
        </p:txBody>
      </p:sp>
      <p:sp>
        <p:nvSpPr>
          <p:cNvPr id="26" name="TextBox 25"/>
          <p:cNvSpPr txBox="1"/>
          <p:nvPr/>
        </p:nvSpPr>
        <p:spPr>
          <a:xfrm>
            <a:off x="5257800"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six concrete, detectable rules</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Define the approval path</a:t>
            </a:r>
          </a:p>
        </p:txBody>
      </p:sp>
      <p:sp>
        <p:nvSpPr>
          <p:cNvPr id="33" name="TextBox 32"/>
          <p:cNvSpPr txBox="1"/>
          <p:nvPr/>
        </p:nvSpPr>
        <p:spPr>
          <a:xfrm>
            <a:off x="7461504"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with a real turnaround</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Map to MGF dimensions</a:t>
            </a:r>
          </a:p>
        </p:txBody>
      </p:sp>
      <p:sp>
        <p:nvSpPr>
          <p:cNvPr id="40" name="TextBox 39"/>
          <p:cNvSpPr txBox="1"/>
          <p:nvPr/>
        </p:nvSpPr>
        <p:spPr>
          <a:xfrm>
            <a:off x="9665208"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and peer-review it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Evaluate policy requirements and develop an enforceable AI policy set aligned to the NIST AI RMF and Singapore's MGF for Generative AI.</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Draft the AI Acceptable Use and Governance Policy Set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AUP states at least six concrete prohibited actions, names the approver and the turnaround time, and every clause maps to at least one MGF dimension. A peer confirms they could apply your policy without asking you a question.</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Design the Governance Operating Model and RACI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Evaluate accountability requirements and develop a governance operating model with committee structure, roles and a control-level RACI.</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Policies fail without owners. You will design NovaBank's AI governance operating model: the committee that decides, the roles that execute, and a RACI matrix that removes ambiguity from the twelve controls you have identified so far.</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governance operating model diagram, committee terms of reference, six role descriptions and a RACI matrix covering twelve AI governance controls.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Org chart (novabank-org-chart.md), role catalogue, RACI template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100" b="0">
                <a:solidFill>
                  <a:srgbClr val="161B26"/>
                </a:solidFill>
                <a:latin typeface="Arial"/>
              </a:rPr>
              <a:t>Every one of the twelve controls has exactly one Accountable role. Walking the NovaAssist incident through your model produces a named person at every step, with no gaps and no two people claiming the same decision.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Reuse existing forums</a:t>
            </a:r>
          </a:p>
        </p:txBody>
      </p:sp>
      <p:sp>
        <p:nvSpPr>
          <p:cNvPr id="12" name="TextBox 11"/>
          <p:cNvSpPr txBox="1"/>
          <p:nvPr/>
        </p:nvSpPr>
        <p:spPr>
          <a:xfrm>
            <a:off x="850392"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before creating a new one</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Write decision rights</a:t>
            </a:r>
          </a:p>
        </p:txBody>
      </p:sp>
      <p:sp>
        <p:nvSpPr>
          <p:cNvPr id="19" name="TextBox 18"/>
          <p:cNvSpPr txBox="1"/>
          <p:nvPr/>
        </p:nvSpPr>
        <p:spPr>
          <a:xfrm>
            <a:off x="3054096"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advice is not governance</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Define six roles</a:t>
            </a:r>
          </a:p>
        </p:txBody>
      </p:sp>
      <p:sp>
        <p:nvSpPr>
          <p:cNvPr id="26" name="TextBox 25"/>
          <p:cNvSpPr txBox="1"/>
          <p:nvPr/>
        </p:nvSpPr>
        <p:spPr>
          <a:xfrm>
            <a:off x="5257800"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one owned decision each</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Build the RACI</a:t>
            </a:r>
          </a:p>
        </p:txBody>
      </p:sp>
      <p:sp>
        <p:nvSpPr>
          <p:cNvPr id="33" name="TextBox 32"/>
          <p:cNvSpPr txBox="1"/>
          <p:nvPr/>
        </p:nvSpPr>
        <p:spPr>
          <a:xfrm>
            <a:off x="7461504"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exactly one A per control</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Stress-test on an incident</a:t>
            </a:r>
          </a:p>
        </p:txBody>
      </p:sp>
      <p:sp>
        <p:nvSpPr>
          <p:cNvPr id="40" name="TextBox 39"/>
          <p:cNvSpPr txBox="1"/>
          <p:nvPr/>
        </p:nvSpPr>
        <p:spPr>
          <a:xfrm>
            <a:off x="9665208"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a name at every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Evaluate accountability requirements and develop a governance operating model with committee structure, roles and a control-level RACI.</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Design the Governance Operating Model and RACI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one of the twelve controls has exactly one Accountable role. Walking the NovaAssist incident through your model produces a named person at every step, with no gaps and no two people claiming the same decision.</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Apply the PDPA and PDPC AI Advisory Guidelines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Evaluate the lawful basis for using personal data in AI systems under Singapore's PDPA and apply the PDPC AI advisory guidelines to four scenarios.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500" b="0">
                <a:solidFill>
                  <a:srgbClr val="161B26"/>
                </a:solidFill>
                <a:latin typeface="Arial"/>
              </a:rPr>
              <a:t>Singapore-specific compliance is where many AI projects stall. You will assess four NovaBank AI use cases against the PDPA obligations and the PDPC Advisory Guidelines on the Use of Personal Data in AI Recommendation and Decision Systems, and determine the lawful basis and the required notifications.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PDPA compliance determination for four AI use cases, each with lawful basis, required notification, accountability measures and documentation.</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PDPA scenario pack (pdpa-scenarios.md), PDPC guidelines summary, determination worksheet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000" b="0">
                <a:solidFill>
                  <a:srgbClr val="161B26"/>
                </a:solidFill>
                <a:latin typeface="Arial"/>
              </a:rPr>
              <a:t>Each of the four scenarios has a stated lawful basis with a reason. You can explain the difference between the Business Improvement Exception and the Research Exception in one sentence, and say which scenario needs the strongest human-oversight measure and why.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Read the four scenarios</a:t>
            </a:r>
          </a:p>
        </p:txBody>
      </p:sp>
      <p:sp>
        <p:nvSpPr>
          <p:cNvPr id="12" name="TextBox 11"/>
          <p:cNvSpPr txBox="1"/>
          <p:nvPr/>
        </p:nvSpPr>
        <p:spPr>
          <a:xfrm>
            <a:off x="850392"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what happens to a person?</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Find the lawful basis</a:t>
            </a:r>
          </a:p>
        </p:txBody>
      </p:sp>
      <p:sp>
        <p:nvSpPr>
          <p:cNvPr id="19" name="TextBox 18"/>
          <p:cNvSpPr txBox="1"/>
          <p:nvPr/>
        </p:nvSpPr>
        <p:spPr>
          <a:xfrm>
            <a:off x="3054096"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consent or an exception</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Determine notification</a:t>
            </a:r>
          </a:p>
        </p:txBody>
      </p:sp>
      <p:sp>
        <p:nvSpPr>
          <p:cNvPr id="26" name="TextBox 25"/>
          <p:cNvSpPr txBox="1"/>
          <p:nvPr/>
        </p:nvSpPr>
        <p:spPr>
          <a:xfrm>
            <a:off x="5257800"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meaningful, not formal</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Apply accountability</a:t>
            </a:r>
          </a:p>
        </p:txBody>
      </p:sp>
      <p:sp>
        <p:nvSpPr>
          <p:cNvPr id="33" name="TextBox 32"/>
          <p:cNvSpPr txBox="1"/>
          <p:nvPr/>
        </p:nvSpPr>
        <p:spPr>
          <a:xfrm>
            <a:off x="7461504"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what can you show?</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Write the determination</a:t>
            </a:r>
          </a:p>
        </p:txBody>
      </p:sp>
      <p:sp>
        <p:nvSpPr>
          <p:cNvPr id="40" name="TextBox 39"/>
          <p:cNvSpPr txBox="1"/>
          <p:nvPr/>
        </p:nvSpPr>
        <p:spPr>
          <a:xfrm>
            <a:off x="9665208"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and the risk to escalate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Evaluate the lawful basis for using personal data in AI systems under Singapore's PDPA and apply the PDPC AI advisory guidelines to four scenarios.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Apply the PDPA and PDPC AI Advisory Guidelines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Each of the four scenarios has a stated lawful basis with a reason. You can explain the difference between the Business Improvement Exception and the Research Exception in one sentence, and say which scenario needs the strongest human-oversight measure and why.</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Recap — Building an AI Governance Framework: Policies, Roles and Risk Ownership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Evaluate an organisation against the NIST AI RMF GOVERN, MAP, MEASURE and MANAGE functions and produce a prioritised gap register.</a:t>
            </a:r>
          </a:p>
          <a:p>
            <a:pPr>
              <a:spcAft>
                <a:spcPts val="1000"/>
              </a:spcAft>
            </a:pPr>
            <a:r>
              <a:rPr sz="1700" b="0">
                <a:solidFill>
                  <a:srgbClr val="161B26"/>
                </a:solidFill>
                <a:latin typeface="Arial"/>
              </a:rPr>
              <a:t>•  You can now: Evaluate policy requirements and develop an enforceable AI policy set aligned to the NIST AI RMF and Singapore's MGF for Generative AI.</a:t>
            </a:r>
          </a:p>
          <a:p>
            <a:pPr>
              <a:spcAft>
                <a:spcPts val="1000"/>
              </a:spcAft>
            </a:pPr>
            <a:r>
              <a:rPr sz="1700" b="0">
                <a:solidFill>
                  <a:srgbClr val="161B26"/>
                </a:solidFill>
                <a:latin typeface="Arial"/>
              </a:rPr>
              <a:t>•  You can now: Evaluate accountability requirements and develop a governance operating model with committee structure, roles and a control-level RACI.</a:t>
            </a:r>
          </a:p>
          <a:p>
            <a:pPr>
              <a:spcAft>
                <a:spcPts val="1000"/>
              </a:spcAft>
            </a:pPr>
            <a:r>
              <a:rPr sz="1700" b="0">
                <a:solidFill>
                  <a:srgbClr val="161B26"/>
                </a:solidFill>
                <a:latin typeface="Arial"/>
              </a:rPr>
              <a:t>•  You can now: Evaluate the lawful basis for using personal data in AI systems under Singapore's PDPA and apply the PDPC AI advisory guidelines to four scenarios.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17320"/>
          </a:xfrm>
          <a:prstGeom prst="rect">
            <a:avLst/>
          </a:prstGeom>
          <a:noFill/>
        </p:spPr>
        <p:txBody>
          <a:bodyPr wrap="square" anchor="t">
            <a:spAutoFit/>
          </a:bodyPr>
          <a:lstStyle/>
          <a:p>
            <a:pPr algn="l">
              <a:spcAft>
                <a:spcPts val="400"/>
              </a:spcAft>
            </a:pPr>
            <a:r>
              <a:rPr sz="4000" b="1">
                <a:solidFill>
                  <a:srgbClr val="161B26"/>
                </a:solidFill>
                <a:latin typeface="Arial"/>
              </a:rPr>
              <a:t>Governance Controls Across the AI Lifecycle</a:t>
            </a:r>
          </a:p>
        </p:txBody>
      </p:sp>
      <p:sp>
        <p:nvSpPr>
          <p:cNvPr id="7" name="TextBox 6"/>
          <p:cNvSpPr txBox="1"/>
          <p:nvPr/>
        </p:nvSpPr>
        <p:spPr>
          <a:xfrm>
            <a:off x="1161288" y="4224528"/>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Data governance · secure development · testing and red-teaming · deployment · monitoring · incident response · decommissioning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advClick="1">
    <p:push dir="l"/>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Governance Controls Across the AI Lifecycle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200" b="1">
                <a:solidFill>
                  <a:srgbClr val="161B26"/>
                </a:solidFill>
                <a:latin typeface="Arial"/>
              </a:rPr>
              <a:t>The AI lifecycle as a control surface</a:t>
            </a:r>
          </a:p>
          <a:p>
            <a:pPr algn="l">
              <a:spcAft>
                <a:spcPts val="300"/>
              </a:spcAft>
            </a:pPr>
            <a:r>
              <a:rPr sz="800" b="0">
                <a:solidFill>
                  <a:srgbClr val="5B6372"/>
                </a:solidFill>
                <a:latin typeface="Arial"/>
              </a:rPr>
              <a:t>Plan, source data, develop, test, deploy, operate and monitor, then decommission — each stage has its own failure modes and its own controls.</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200" b="1">
                <a:solidFill>
                  <a:srgbClr val="161B26"/>
                </a:solidFill>
                <a:latin typeface="Arial"/>
              </a:rPr>
              <a:t>Data governance for AI</a:t>
            </a:r>
          </a:p>
          <a:p>
            <a:pPr algn="l">
              <a:spcAft>
                <a:spcPts val="300"/>
              </a:spcAft>
            </a:pPr>
            <a:r>
              <a:rPr sz="800" b="0">
                <a:solidFill>
                  <a:srgbClr val="5B6372"/>
                </a:solidFill>
                <a:latin typeface="Arial"/>
              </a:rPr>
              <a:t>Provenance, lawful basis, quality, classification, minimisation, de-identification, retention and deletion — decided before a model is trained, not after.</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200" b="1">
                <a:solidFill>
                  <a:srgbClr val="161B26"/>
                </a:solidFill>
                <a:latin typeface="Arial"/>
              </a:rPr>
              <a:t>Personal data in AI systems</a:t>
            </a:r>
          </a:p>
          <a:p>
            <a:pPr algn="l">
              <a:spcAft>
                <a:spcPts val="300"/>
              </a:spcAft>
            </a:pPr>
            <a:r>
              <a:rPr sz="800" b="0">
                <a:solidFill>
                  <a:srgbClr val="5B6372"/>
                </a:solidFill>
                <a:latin typeface="Arial"/>
              </a:rPr>
              <a:t>Under the PDPC guidelines, organisations should apply data-protection measures such as minimisation, anonymisation and access control when using personal data in AI development.</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200" b="1">
                <a:solidFill>
                  <a:srgbClr val="161B26"/>
                </a:solidFill>
                <a:latin typeface="Arial"/>
              </a:rPr>
              <a:t>Data poisoning and supply chain</a:t>
            </a:r>
          </a:p>
          <a:p>
            <a:pPr algn="l">
              <a:spcAft>
                <a:spcPts val="300"/>
              </a:spcAft>
            </a:pPr>
            <a:r>
              <a:rPr sz="800" b="0">
                <a:solidFill>
                  <a:srgbClr val="5B6372"/>
                </a:solidFill>
                <a:latin typeface="Arial"/>
              </a:rPr>
              <a:t>Training and fine-tuning data, embeddings, third-party models and packages are all supply-chain entry points; pin versions and validate sources.</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200" b="1">
                <a:solidFill>
                  <a:srgbClr val="161B26"/>
                </a:solidFill>
                <a:latin typeface="Arial"/>
              </a:rPr>
              <a:t>Secure AI development</a:t>
            </a:r>
          </a:p>
          <a:p>
            <a:pPr algn="l">
              <a:spcAft>
                <a:spcPts val="300"/>
              </a:spcAft>
            </a:pPr>
            <a:r>
              <a:rPr sz="800" b="0">
                <a:solidFill>
                  <a:srgbClr val="5B6372"/>
                </a:solidFill>
                <a:latin typeface="Arial"/>
              </a:rPr>
              <a:t>Threat-model the system, protect prompts and secrets, isolate environments, review AI-generated code, and control who can change a model or instruction.</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200" b="1">
                <a:solidFill>
                  <a:srgbClr val="161B26"/>
                </a:solidFill>
                <a:latin typeface="Arial"/>
              </a:rPr>
              <a:t>Testing, evaluation and assurance</a:t>
            </a:r>
          </a:p>
          <a:p>
            <a:pPr algn="l">
              <a:spcAft>
                <a:spcPts val="300"/>
              </a:spcAft>
            </a:pPr>
            <a:r>
              <a:rPr sz="800" b="0">
                <a:solidFill>
                  <a:srgbClr val="5B6372"/>
                </a:solidFill>
                <a:latin typeface="Arial"/>
              </a:rPr>
              <a:t>Functional accuracy is not enough: test robustness, bias, privacy leakage, jailbreak resistance and grounding before release, and record the evidence.</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200" b="1">
                <a:solidFill>
                  <a:srgbClr val="161B26"/>
                </a:solidFill>
                <a:latin typeface="Arial"/>
              </a:rPr>
              <a:t>Red-teaming AI systems</a:t>
            </a:r>
          </a:p>
          <a:p>
            <a:pPr algn="l">
              <a:spcAft>
                <a:spcPts val="300"/>
              </a:spcAft>
            </a:pPr>
            <a:r>
              <a:rPr sz="800" b="0">
                <a:solidFill>
                  <a:srgbClr val="5B6372"/>
                </a:solidFill>
                <a:latin typeface="Arial"/>
              </a:rPr>
              <a:t>Adversarial testing against prompt injection, jailbreaks, data leakage and unsafe tool use — run before production and after every significant change.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Key Concepts — Governance Controls Across the AI Lifecycle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Deployment gates</a:t>
            </a:r>
          </a:p>
          <a:p>
            <a:pPr algn="l">
              <a:spcAft>
                <a:spcPts val="300"/>
              </a:spcAft>
            </a:pPr>
            <a:r>
              <a:rPr sz="1200" b="0">
                <a:solidFill>
                  <a:srgbClr val="5B6372"/>
                </a:solidFill>
                <a:latin typeface="Arial"/>
              </a:rPr>
              <a:t>A go/no-go decision with named approvers, documented residual risk, rollback plan, and a transparency notice where individuals are affected.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Human oversight by design</a:t>
            </a:r>
          </a:p>
          <a:p>
            <a:pPr algn="l">
              <a:spcAft>
                <a:spcPts val="300"/>
              </a:spcAft>
            </a:pPr>
            <a:r>
              <a:rPr sz="1200" b="0">
                <a:solidFill>
                  <a:srgbClr val="5B6372"/>
                </a:solidFill>
                <a:latin typeface="Arial"/>
              </a:rPr>
              <a:t>Define where a human reviews, approves or can override, and make the escalation path fast enough to actually be used.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Continuous monitoring</a:t>
            </a:r>
          </a:p>
          <a:p>
            <a:pPr algn="l">
              <a:spcAft>
                <a:spcPts val="300"/>
              </a:spcAft>
            </a:pPr>
            <a:r>
              <a:rPr sz="1100" b="0">
                <a:solidFill>
                  <a:srgbClr val="5B6372"/>
                </a:solidFill>
                <a:latin typeface="Arial"/>
              </a:rPr>
              <a:t>Watch drift, output quality, refusal and jailbreak rates, cost, latency and anomalous access — AI risk changes after deployment, not just before.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Logging and auditability</a:t>
            </a:r>
          </a:p>
          <a:p>
            <a:pPr algn="l">
              <a:spcAft>
                <a:spcPts val="300"/>
              </a:spcAft>
            </a:pPr>
            <a:r>
              <a:rPr sz="1100" b="0">
                <a:solidFill>
                  <a:srgbClr val="5B6372"/>
                </a:solidFill>
                <a:latin typeface="Arial"/>
              </a:rPr>
              <a:t>Retain prompts, outputs, tool calls, approvals and model versions to the extent lawful, so an incident can be reconstructed and a decision explained.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AI incident response</a:t>
            </a:r>
          </a:p>
          <a:p>
            <a:pPr algn="l">
              <a:spcAft>
                <a:spcPts val="300"/>
              </a:spcAft>
            </a:pPr>
            <a:r>
              <a:rPr sz="1100" b="0">
                <a:solidFill>
                  <a:srgbClr val="5B6372"/>
                </a:solidFill>
                <a:latin typeface="Arial"/>
              </a:rPr>
              <a:t>Extend the existing IR plan: how to disable an AI system fast, preserve evidence, assess personal-data impact, and notify under the PDPA where required.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Decommissioning safely</a:t>
            </a:r>
          </a:p>
          <a:p>
            <a:pPr algn="l">
              <a:spcAft>
                <a:spcPts val="300"/>
              </a:spcAft>
            </a:pPr>
            <a:r>
              <a:rPr sz="1100" b="0">
                <a:solidFill>
                  <a:srgbClr val="5B6372"/>
                </a:solidFill>
                <a:latin typeface="Arial"/>
              </a:rPr>
              <a:t>Retire models and agents deliberately — revoke credentials, dispose of memory and embeddings, preserve audit logs and update dependent systems.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EVERY STAGE HAS ITS OWN FAILURE MODE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AI Lifecycle as a Control Surface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19002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19002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88789"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88789"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3063240"/>
            <a:ext cx="970570" cy="969264"/>
          </a:xfrm>
          <a:prstGeom prst="rect">
            <a:avLst/>
          </a:prstGeom>
          <a:noFill/>
        </p:spPr>
        <p:txBody>
          <a:bodyPr wrap="square" anchor="ctr">
            <a:spAutoFit/>
          </a:bodyPr>
          <a:lstStyle/>
          <a:p>
            <a:pPr algn="ctr">
              <a:spcAft>
                <a:spcPts val="0"/>
              </a:spcAft>
            </a:pPr>
            <a:r>
              <a:rPr sz="1300" b="1">
                <a:solidFill>
                  <a:srgbClr val="161B26"/>
                </a:solidFill>
                <a:latin typeface="Arial"/>
              </a:rPr>
              <a:t>Plan</a:t>
            </a:r>
          </a:p>
        </p:txBody>
      </p:sp>
      <p:sp>
        <p:nvSpPr>
          <p:cNvPr id="12" name="TextBox 11"/>
          <p:cNvSpPr txBox="1"/>
          <p:nvPr/>
        </p:nvSpPr>
        <p:spPr>
          <a:xfrm>
            <a:off x="850392" y="3785616"/>
            <a:ext cx="1043722" cy="402336"/>
          </a:xfrm>
          <a:prstGeom prst="rect">
            <a:avLst/>
          </a:prstGeom>
          <a:noFill/>
        </p:spPr>
        <p:txBody>
          <a:bodyPr wrap="square" anchor="ctr">
            <a:spAutoFit/>
          </a:bodyPr>
          <a:lstStyle/>
          <a:p>
            <a:pPr algn="ctr">
              <a:spcAft>
                <a:spcPts val="0"/>
              </a:spcAft>
            </a:pPr>
            <a:r>
              <a:rPr sz="900" b="0">
                <a:solidFill>
                  <a:srgbClr val="5B6372"/>
                </a:solidFill>
                <a:latin typeface="Arial"/>
              </a:rPr>
              <a:t>Purpose · tier · lawful basis</a:t>
            </a:r>
          </a:p>
        </p:txBody>
      </p:sp>
      <p:cxnSp>
        <p:nvCxnSpPr>
          <p:cNvPr id="13" name="Connector 12"/>
          <p:cNvCxnSpPr/>
          <p:nvPr/>
        </p:nvCxnSpPr>
        <p:spPr>
          <a:xfrm>
            <a:off x="202213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351314" y="2148840"/>
            <a:ext cx="119002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351314" y="2148840"/>
            <a:ext cx="119002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662863"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62863"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461042" y="3063240"/>
            <a:ext cx="970570" cy="969264"/>
          </a:xfrm>
          <a:prstGeom prst="rect">
            <a:avLst/>
          </a:prstGeom>
          <a:noFill/>
        </p:spPr>
        <p:txBody>
          <a:bodyPr wrap="square" anchor="ctr">
            <a:spAutoFit/>
          </a:bodyPr>
          <a:lstStyle/>
          <a:p>
            <a:pPr algn="ctr">
              <a:spcAft>
                <a:spcPts val="0"/>
              </a:spcAft>
            </a:pPr>
            <a:r>
              <a:rPr sz="1300" b="1">
                <a:solidFill>
                  <a:srgbClr val="161B26"/>
                </a:solidFill>
                <a:latin typeface="Arial"/>
              </a:rPr>
              <a:t>Data</a:t>
            </a:r>
          </a:p>
        </p:txBody>
      </p:sp>
      <p:sp>
        <p:nvSpPr>
          <p:cNvPr id="19" name="TextBox 18"/>
          <p:cNvSpPr txBox="1"/>
          <p:nvPr/>
        </p:nvSpPr>
        <p:spPr>
          <a:xfrm>
            <a:off x="2424466" y="3785616"/>
            <a:ext cx="1043722" cy="402336"/>
          </a:xfrm>
          <a:prstGeom prst="rect">
            <a:avLst/>
          </a:prstGeom>
          <a:noFill/>
        </p:spPr>
        <p:txBody>
          <a:bodyPr wrap="square" anchor="ctr">
            <a:spAutoFit/>
          </a:bodyPr>
          <a:lstStyle/>
          <a:p>
            <a:pPr algn="ctr">
              <a:spcAft>
                <a:spcPts val="0"/>
              </a:spcAft>
            </a:pPr>
            <a:r>
              <a:rPr sz="800" b="0">
                <a:solidFill>
                  <a:srgbClr val="5B6372"/>
                </a:solidFill>
                <a:latin typeface="Arial"/>
              </a:rPr>
              <a:t>Provenance · minimise · de-identify</a:t>
            </a:r>
          </a:p>
        </p:txBody>
      </p:sp>
      <p:cxnSp>
        <p:nvCxnSpPr>
          <p:cNvPr id="20" name="Connector 19"/>
          <p:cNvCxnSpPr/>
          <p:nvPr/>
        </p:nvCxnSpPr>
        <p:spPr>
          <a:xfrm>
            <a:off x="359620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925388" y="2148840"/>
            <a:ext cx="119002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925388" y="2148840"/>
            <a:ext cx="119002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23693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3693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035116" y="3063240"/>
            <a:ext cx="970570" cy="969264"/>
          </a:xfrm>
          <a:prstGeom prst="rect">
            <a:avLst/>
          </a:prstGeom>
          <a:noFill/>
        </p:spPr>
        <p:txBody>
          <a:bodyPr wrap="square" anchor="ctr">
            <a:spAutoFit/>
          </a:bodyPr>
          <a:lstStyle/>
          <a:p>
            <a:pPr algn="ctr">
              <a:spcAft>
                <a:spcPts val="0"/>
              </a:spcAft>
            </a:pPr>
            <a:r>
              <a:rPr sz="1300" b="1">
                <a:solidFill>
                  <a:srgbClr val="161B26"/>
                </a:solidFill>
                <a:latin typeface="Arial"/>
              </a:rPr>
              <a:t>Develop</a:t>
            </a:r>
          </a:p>
        </p:txBody>
      </p:sp>
      <p:sp>
        <p:nvSpPr>
          <p:cNvPr id="26" name="TextBox 25"/>
          <p:cNvSpPr txBox="1"/>
          <p:nvPr/>
        </p:nvSpPr>
        <p:spPr>
          <a:xfrm>
            <a:off x="3998540" y="3785616"/>
            <a:ext cx="1043722" cy="402336"/>
          </a:xfrm>
          <a:prstGeom prst="rect">
            <a:avLst/>
          </a:prstGeom>
          <a:noFill/>
        </p:spPr>
        <p:txBody>
          <a:bodyPr wrap="square" anchor="ctr">
            <a:spAutoFit/>
          </a:bodyPr>
          <a:lstStyle/>
          <a:p>
            <a:pPr algn="ctr">
              <a:spcAft>
                <a:spcPts val="0"/>
              </a:spcAft>
            </a:pPr>
            <a:r>
              <a:rPr sz="900" b="0">
                <a:solidFill>
                  <a:srgbClr val="5B6372"/>
                </a:solidFill>
                <a:latin typeface="Arial"/>
              </a:rPr>
              <a:t>Threat model · change control</a:t>
            </a:r>
          </a:p>
        </p:txBody>
      </p:sp>
      <p:cxnSp>
        <p:nvCxnSpPr>
          <p:cNvPr id="27" name="Connector 26"/>
          <p:cNvCxnSpPr/>
          <p:nvPr/>
        </p:nvCxnSpPr>
        <p:spPr>
          <a:xfrm>
            <a:off x="517027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499462" y="2148840"/>
            <a:ext cx="119002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99462" y="2148840"/>
            <a:ext cx="119002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811011"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811011"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5609190" y="3063240"/>
            <a:ext cx="970570" cy="969264"/>
          </a:xfrm>
          <a:prstGeom prst="rect">
            <a:avLst/>
          </a:prstGeom>
          <a:noFill/>
        </p:spPr>
        <p:txBody>
          <a:bodyPr wrap="square" anchor="ctr">
            <a:spAutoFit/>
          </a:bodyPr>
          <a:lstStyle/>
          <a:p>
            <a:pPr algn="ctr">
              <a:spcAft>
                <a:spcPts val="0"/>
              </a:spcAft>
            </a:pPr>
            <a:r>
              <a:rPr sz="1300" b="1">
                <a:solidFill>
                  <a:srgbClr val="161B26"/>
                </a:solidFill>
                <a:latin typeface="Arial"/>
              </a:rPr>
              <a:t>Test</a:t>
            </a:r>
          </a:p>
        </p:txBody>
      </p:sp>
      <p:sp>
        <p:nvSpPr>
          <p:cNvPr id="33" name="TextBox 32"/>
          <p:cNvSpPr txBox="1"/>
          <p:nvPr/>
        </p:nvSpPr>
        <p:spPr>
          <a:xfrm>
            <a:off x="5572614" y="3785616"/>
            <a:ext cx="1043722" cy="402336"/>
          </a:xfrm>
          <a:prstGeom prst="rect">
            <a:avLst/>
          </a:prstGeom>
          <a:noFill/>
        </p:spPr>
        <p:txBody>
          <a:bodyPr wrap="square" anchor="ctr">
            <a:spAutoFit/>
          </a:bodyPr>
          <a:lstStyle/>
          <a:p>
            <a:pPr algn="ctr">
              <a:spcAft>
                <a:spcPts val="0"/>
              </a:spcAft>
            </a:pPr>
            <a:r>
              <a:rPr sz="900" b="0">
                <a:solidFill>
                  <a:srgbClr val="5B6372"/>
                </a:solidFill>
                <a:latin typeface="Arial"/>
              </a:rPr>
              <a:t>Bias · robustness · red-team</a:t>
            </a:r>
          </a:p>
        </p:txBody>
      </p:sp>
      <p:cxnSp>
        <p:nvCxnSpPr>
          <p:cNvPr id="34" name="Connector 33"/>
          <p:cNvCxnSpPr/>
          <p:nvPr/>
        </p:nvCxnSpPr>
        <p:spPr>
          <a:xfrm>
            <a:off x="674435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073536" y="2148840"/>
            <a:ext cx="119002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73536" y="2148840"/>
            <a:ext cx="119002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385085"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85085"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7183264" y="3063240"/>
            <a:ext cx="970570" cy="969264"/>
          </a:xfrm>
          <a:prstGeom prst="rect">
            <a:avLst/>
          </a:prstGeom>
          <a:noFill/>
        </p:spPr>
        <p:txBody>
          <a:bodyPr wrap="square" anchor="ctr">
            <a:spAutoFit/>
          </a:bodyPr>
          <a:lstStyle/>
          <a:p>
            <a:pPr algn="ctr">
              <a:spcAft>
                <a:spcPts val="0"/>
              </a:spcAft>
            </a:pPr>
            <a:r>
              <a:rPr sz="1300" b="1">
                <a:solidFill>
                  <a:srgbClr val="161B26"/>
                </a:solidFill>
                <a:latin typeface="Arial"/>
              </a:rPr>
              <a:t>Deploy</a:t>
            </a:r>
          </a:p>
        </p:txBody>
      </p:sp>
      <p:sp>
        <p:nvSpPr>
          <p:cNvPr id="40" name="TextBox 39"/>
          <p:cNvSpPr txBox="1"/>
          <p:nvPr/>
        </p:nvSpPr>
        <p:spPr>
          <a:xfrm>
            <a:off x="7146688" y="3785616"/>
            <a:ext cx="1043722" cy="402336"/>
          </a:xfrm>
          <a:prstGeom prst="rect">
            <a:avLst/>
          </a:prstGeom>
          <a:noFill/>
        </p:spPr>
        <p:txBody>
          <a:bodyPr wrap="square" anchor="ctr">
            <a:spAutoFit/>
          </a:bodyPr>
          <a:lstStyle/>
          <a:p>
            <a:pPr algn="ctr">
              <a:spcAft>
                <a:spcPts val="0"/>
              </a:spcAft>
            </a:pPr>
            <a:r>
              <a:rPr sz="900" b="0">
                <a:solidFill>
                  <a:srgbClr val="5B6372"/>
                </a:solidFill>
                <a:latin typeface="Arial"/>
              </a:rPr>
              <a:t>Gate · approvers · rollback</a:t>
            </a:r>
          </a:p>
        </p:txBody>
      </p:sp>
      <p:cxnSp>
        <p:nvCxnSpPr>
          <p:cNvPr id="41" name="Connector 40"/>
          <p:cNvCxnSpPr/>
          <p:nvPr/>
        </p:nvCxnSpPr>
        <p:spPr>
          <a:xfrm>
            <a:off x="831842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647610" y="2148840"/>
            <a:ext cx="119002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647610" y="2148840"/>
            <a:ext cx="119002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959159"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59159"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8757338" y="3063240"/>
            <a:ext cx="970570" cy="969264"/>
          </a:xfrm>
          <a:prstGeom prst="rect">
            <a:avLst/>
          </a:prstGeom>
          <a:noFill/>
        </p:spPr>
        <p:txBody>
          <a:bodyPr wrap="square" anchor="ctr">
            <a:spAutoFit/>
          </a:bodyPr>
          <a:lstStyle/>
          <a:p>
            <a:pPr algn="ctr">
              <a:spcAft>
                <a:spcPts val="0"/>
              </a:spcAft>
            </a:pPr>
            <a:r>
              <a:rPr sz="1300" b="1">
                <a:solidFill>
                  <a:srgbClr val="161B26"/>
                </a:solidFill>
                <a:latin typeface="Arial"/>
              </a:rPr>
              <a:t>Operate</a:t>
            </a:r>
          </a:p>
        </p:txBody>
      </p:sp>
      <p:sp>
        <p:nvSpPr>
          <p:cNvPr id="47" name="TextBox 46"/>
          <p:cNvSpPr txBox="1"/>
          <p:nvPr/>
        </p:nvSpPr>
        <p:spPr>
          <a:xfrm>
            <a:off x="8720762" y="3785616"/>
            <a:ext cx="1043722" cy="402336"/>
          </a:xfrm>
          <a:prstGeom prst="rect">
            <a:avLst/>
          </a:prstGeom>
          <a:noFill/>
        </p:spPr>
        <p:txBody>
          <a:bodyPr wrap="square" anchor="ctr">
            <a:spAutoFit/>
          </a:bodyPr>
          <a:lstStyle/>
          <a:p>
            <a:pPr algn="ctr">
              <a:spcAft>
                <a:spcPts val="0"/>
              </a:spcAft>
            </a:pPr>
            <a:r>
              <a:rPr sz="900" b="0">
                <a:solidFill>
                  <a:srgbClr val="5B6372"/>
                </a:solidFill>
                <a:latin typeface="Arial"/>
              </a:rPr>
              <a:t>Monitor · log · respond</a:t>
            </a:r>
          </a:p>
        </p:txBody>
      </p:sp>
      <p:cxnSp>
        <p:nvCxnSpPr>
          <p:cNvPr id="48" name="Connector 47"/>
          <p:cNvCxnSpPr/>
          <p:nvPr/>
        </p:nvCxnSpPr>
        <p:spPr>
          <a:xfrm>
            <a:off x="989250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10221684" y="2148840"/>
            <a:ext cx="119002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0221684" y="2148840"/>
            <a:ext cx="119002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0533233"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533233"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7</a:t>
            </a:r>
          </a:p>
        </p:txBody>
      </p:sp>
      <p:sp>
        <p:nvSpPr>
          <p:cNvPr id="53" name="TextBox 52"/>
          <p:cNvSpPr txBox="1"/>
          <p:nvPr/>
        </p:nvSpPr>
        <p:spPr>
          <a:xfrm>
            <a:off x="10331412" y="3063240"/>
            <a:ext cx="970570" cy="969264"/>
          </a:xfrm>
          <a:prstGeom prst="rect">
            <a:avLst/>
          </a:prstGeom>
          <a:noFill/>
        </p:spPr>
        <p:txBody>
          <a:bodyPr wrap="square" anchor="ctr">
            <a:spAutoFit/>
          </a:bodyPr>
          <a:lstStyle/>
          <a:p>
            <a:pPr algn="ctr">
              <a:spcAft>
                <a:spcPts val="0"/>
              </a:spcAft>
            </a:pPr>
            <a:r>
              <a:rPr sz="1300" b="1">
                <a:solidFill>
                  <a:srgbClr val="161B26"/>
                </a:solidFill>
                <a:latin typeface="Arial"/>
              </a:rPr>
              <a:t>Retire</a:t>
            </a:r>
          </a:p>
        </p:txBody>
      </p:sp>
      <p:sp>
        <p:nvSpPr>
          <p:cNvPr id="54" name="TextBox 53"/>
          <p:cNvSpPr txBox="1"/>
          <p:nvPr/>
        </p:nvSpPr>
        <p:spPr>
          <a:xfrm>
            <a:off x="10294836" y="3785616"/>
            <a:ext cx="1043722" cy="402336"/>
          </a:xfrm>
          <a:prstGeom prst="rect">
            <a:avLst/>
          </a:prstGeom>
          <a:noFill/>
        </p:spPr>
        <p:txBody>
          <a:bodyPr wrap="square" anchor="ctr">
            <a:spAutoFit/>
          </a:bodyPr>
          <a:lstStyle/>
          <a:p>
            <a:pPr algn="ctr">
              <a:spcAft>
                <a:spcPts val="0"/>
              </a:spcAft>
            </a:pPr>
            <a:r>
              <a:rPr sz="900" b="0">
                <a:solidFill>
                  <a:srgbClr val="5B6372"/>
                </a:solidFill>
                <a:latin typeface="Arial"/>
              </a:rPr>
              <a:t>Revoke · dispose · preserve</a:t>
            </a:r>
          </a:p>
        </p:txBody>
      </p:sp>
      <p:sp>
        <p:nvSpPr>
          <p:cNvPr id="55" name="Rectangle 54"/>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WHERE GOVERNANCE USUALLY STOPS</a:t>
            </a:r>
          </a:p>
        </p:txBody>
      </p:sp>
      <p:sp>
        <p:nvSpPr>
          <p:cNvPr id="58" name="TextBox 57"/>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At deploy. Which is precisely where AI risk begins to change, because the data, the model and the usage all drift.</a:t>
            </a:r>
          </a:p>
        </p:txBody>
      </p:sp>
      <p:sp>
        <p:nvSpPr>
          <p:cNvPr id="135" name="TextBox 1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136" name="TextBox 1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7" name="TextBox 1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nodeType="afterEffect">
                                  <p:stCondLst>
                                    <p:cond delay="0"/>
                                  </p:stCondLst>
                                  <p:childTnLst>
                                    <p:set>
                                      <p:cBhvr>
                                        <p:cTn id="123" dur="1" fill="hold">
                                          <p:stCondLst>
                                            <p:cond delay="0"/>
                                          </p:stCondLst>
                                        </p:cTn>
                                        <p:tgtEl>
                                          <p:spTgt spid="48"/>
                                        </p:tgtEl>
                                        <p:attrNameLst>
                                          <p:attrName>style.visibility</p:attrName>
                                        </p:attrNameLst>
                                      </p:cBhvr>
                                      <p:to>
                                        <p:strVal val="visible"/>
                                      </p:to>
                                    </p:set>
                                    <p:animEffect transition="in" filter="fade">
                                      <p:cBhvr>
                                        <p:cTn id="124" dur="400"/>
                                        <p:tgtEl>
                                          <p:spTgt spid="48"/>
                                        </p:tgtEl>
                                      </p:cBhvr>
                                    </p:animEffect>
                                  </p:childTnLst>
                                </p:cTn>
                              </p:par>
                            </p:childTnLst>
                          </p:cTn>
                        </p:par>
                      </p:childTnLst>
                    </p:cTn>
                  </p:par>
                  <p:par>
                    <p:cTn id="130" fill="hold">
                      <p:stCondLst>
                        <p:cond delay="indefinite"/>
                      </p:stCondLst>
                      <p:childTnLst>
                        <p:par>
                          <p:cTn id="131" fill="hold">
                            <p:stCondLst>
                              <p:cond delay="0"/>
                            </p:stCondLst>
                            <p:childTnLst>
                              <p:par>
                                <p:cTn id="132" presetID="1" presetClass="entr" presetSubtype="0" fill="hold" nodeType="afterEffect">
                                  <p:stCondLst>
                                    <p:cond delay="0"/>
                                  </p:stCondLst>
                                  <p:childTnLst>
                                    <p:set>
                                      <p:cBhvr>
                                        <p:cTn id="133" dur="1" fill="hold">
                                          <p:stCondLst>
                                            <p:cond delay="0"/>
                                          </p:stCondLst>
                                        </p:cTn>
                                        <p:tgtEl>
                                          <p:spTgt spid="49"/>
                                        </p:tgtEl>
                                        <p:attrNameLst>
                                          <p:attrName>style.visibility</p:attrName>
                                        </p:attrNameLst>
                                      </p:cBhvr>
                                      <p:to>
                                        <p:strVal val="visible"/>
                                      </p:to>
                                    </p:set>
                                    <p:animEffect transition="in" filter="fade">
                                      <p:cBhvr>
                                        <p:cTn id="134"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GOVERN THE DATA FIRST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Data Governance for AI — Decisions Made Before Training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Provenance</a:t>
            </a:r>
          </a:p>
          <a:p>
            <a:pPr algn="l">
              <a:spcAft>
                <a:spcPts val="300"/>
              </a:spcAft>
            </a:pPr>
            <a:r>
              <a:rPr sz="1200" b="0">
                <a:solidFill>
                  <a:srgbClr val="5B6372"/>
                </a:solidFill>
                <a:latin typeface="Arial"/>
              </a:rPr>
              <a:t>Where did every field come from, and were we permitted to collect it for this purpose?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Lawful basis</a:t>
            </a:r>
          </a:p>
          <a:p>
            <a:pPr algn="l">
              <a:spcAft>
                <a:spcPts val="300"/>
              </a:spcAft>
            </a:pPr>
            <a:r>
              <a:rPr sz="1200" b="0">
                <a:solidFill>
                  <a:srgbClr val="5B6372"/>
                </a:solidFill>
                <a:latin typeface="Arial"/>
              </a:rPr>
              <a:t>Consent, or a recorded exception. Decide and document it before the data moves, not after the model works.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Minimisation</a:t>
            </a:r>
          </a:p>
          <a:p>
            <a:pPr algn="l">
              <a:spcAft>
                <a:spcPts val="300"/>
              </a:spcAft>
            </a:pPr>
            <a:r>
              <a:rPr sz="1200" b="0">
                <a:solidFill>
                  <a:srgbClr val="5B6372"/>
                </a:solidFill>
                <a:latin typeface="Arial"/>
              </a:rPr>
              <a:t>Does the model actually need this field to do its job? Most training sets carry fields nobody can justify.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Classification</a:t>
            </a:r>
          </a:p>
          <a:p>
            <a:pPr algn="l">
              <a:spcAft>
                <a:spcPts val="300"/>
              </a:spcAft>
            </a:pPr>
            <a:r>
              <a:rPr sz="1200" b="0">
                <a:solidFill>
                  <a:srgbClr val="5B6372"/>
                </a:solidFill>
                <a:latin typeface="Arial"/>
              </a:rPr>
              <a:t>Direct identifier, quasi-identifier, sensitive attribute or non-personal — the class drives the treatment.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De-identification</a:t>
            </a:r>
          </a:p>
          <a:p>
            <a:pPr algn="l">
              <a:spcAft>
                <a:spcPts val="300"/>
              </a:spcAft>
            </a:pPr>
            <a:r>
              <a:rPr sz="1200" b="0">
                <a:solidFill>
                  <a:srgbClr val="5B6372"/>
                </a:solidFill>
                <a:latin typeface="Arial"/>
              </a:rPr>
              <a:t>Remove, hash, generalise or retain. Note that encryption is reversible and so remains personal data to the key holder.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Retention and deletion</a:t>
            </a:r>
          </a:p>
          <a:p>
            <a:pPr algn="l">
              <a:spcAft>
                <a:spcPts val="300"/>
              </a:spcAft>
            </a:pPr>
            <a:r>
              <a:rPr sz="1200" b="0">
                <a:solidFill>
                  <a:srgbClr val="5B6372"/>
                </a:solidFill>
                <a:latin typeface="Arial"/>
              </a:rPr>
              <a:t>How long the training set lives, and what happens to the model when an individual exercises deletion.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THE DISTINCTION THAT MATTERS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Protecting Data — Which Technique, For What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Technique</a:t>
            </a:r>
          </a:p>
        </p:txBody>
      </p:sp>
      <p:sp>
        <p:nvSpPr>
          <p:cNvPr id="9" name="Rectangle 8"/>
          <p:cNvSpPr/>
          <p:nvPr/>
        </p:nvSpPr>
        <p:spPr>
          <a:xfrm>
            <a:off x="3542202" y="1783080"/>
            <a:ext cx="1967377"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1711345" cy="475488"/>
          </a:xfrm>
          <a:prstGeom prst="rect">
            <a:avLst/>
          </a:prstGeom>
          <a:noFill/>
        </p:spPr>
        <p:txBody>
          <a:bodyPr wrap="square" anchor="ctr">
            <a:spAutoFit/>
          </a:bodyPr>
          <a:lstStyle/>
          <a:p>
            <a:pPr algn="l">
              <a:spcAft>
                <a:spcPts val="400"/>
              </a:spcAft>
            </a:pPr>
            <a:r>
              <a:rPr sz="1300" b="1">
                <a:solidFill>
                  <a:srgbClr val="FFFFFF"/>
                </a:solidFill>
                <a:latin typeface="Arial"/>
              </a:rPr>
              <a:t>What it gives you</a:t>
            </a:r>
          </a:p>
        </p:txBody>
      </p:sp>
      <p:sp>
        <p:nvSpPr>
          <p:cNvPr id="11" name="Rectangle 10"/>
          <p:cNvSpPr/>
          <p:nvPr/>
        </p:nvSpPr>
        <p:spPr>
          <a:xfrm>
            <a:off x="5509579" y="1783080"/>
            <a:ext cx="1967377"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37595" y="1783080"/>
            <a:ext cx="1711345" cy="475488"/>
          </a:xfrm>
          <a:prstGeom prst="rect">
            <a:avLst/>
          </a:prstGeom>
          <a:noFill/>
        </p:spPr>
        <p:txBody>
          <a:bodyPr wrap="square" anchor="ctr">
            <a:spAutoFit/>
          </a:bodyPr>
          <a:lstStyle/>
          <a:p>
            <a:pPr algn="l">
              <a:spcAft>
                <a:spcPts val="400"/>
              </a:spcAft>
            </a:pPr>
            <a:r>
              <a:rPr sz="1300" b="1">
                <a:solidFill>
                  <a:srgbClr val="FFFFFF"/>
                </a:solidFill>
                <a:latin typeface="Arial"/>
              </a:rPr>
              <a:t>Reversible?</a:t>
            </a:r>
          </a:p>
        </p:txBody>
      </p:sp>
      <p:sp>
        <p:nvSpPr>
          <p:cNvPr id="13" name="Rectangle 12"/>
          <p:cNvSpPr/>
          <p:nvPr/>
        </p:nvSpPr>
        <p:spPr>
          <a:xfrm>
            <a:off x="7476956" y="1783080"/>
            <a:ext cx="1967377"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04972" y="1783080"/>
            <a:ext cx="1711345" cy="475488"/>
          </a:xfrm>
          <a:prstGeom prst="rect">
            <a:avLst/>
          </a:prstGeom>
          <a:noFill/>
        </p:spPr>
        <p:txBody>
          <a:bodyPr wrap="square" anchor="ctr">
            <a:spAutoFit/>
          </a:bodyPr>
          <a:lstStyle/>
          <a:p>
            <a:pPr algn="l">
              <a:spcAft>
                <a:spcPts val="400"/>
              </a:spcAft>
            </a:pPr>
            <a:r>
              <a:rPr sz="1300" b="1">
                <a:solidFill>
                  <a:srgbClr val="FFFFFF"/>
                </a:solidFill>
                <a:latin typeface="Arial"/>
              </a:rPr>
              <a:t>Still personal data?</a:t>
            </a:r>
          </a:p>
        </p:txBody>
      </p:sp>
      <p:sp>
        <p:nvSpPr>
          <p:cNvPr id="15" name="Rectangle 14"/>
          <p:cNvSpPr/>
          <p:nvPr/>
        </p:nvSpPr>
        <p:spPr>
          <a:xfrm>
            <a:off x="9444333" y="1783080"/>
            <a:ext cx="1967377"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72349" y="1783080"/>
            <a:ext cx="1711345" cy="475488"/>
          </a:xfrm>
          <a:prstGeom prst="rect">
            <a:avLst/>
          </a:prstGeom>
          <a:noFill/>
        </p:spPr>
        <p:txBody>
          <a:bodyPr wrap="square" anchor="ctr">
            <a:spAutoFit/>
          </a:bodyPr>
          <a:lstStyle/>
          <a:p>
            <a:pPr algn="l">
              <a:spcAft>
                <a:spcPts val="400"/>
              </a:spcAft>
            </a:pPr>
            <a:r>
              <a:rPr sz="1300" b="1">
                <a:solidFill>
                  <a:srgbClr val="FFFFFF"/>
                </a:solidFill>
                <a:latin typeface="Arial"/>
              </a:rPr>
              <a:t>Use it for</a:t>
            </a:r>
          </a:p>
        </p:txBody>
      </p:sp>
      <p:sp>
        <p:nvSpPr>
          <p:cNvPr id="17" name="Rectangle 16"/>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Deletion / omission</a:t>
            </a:r>
          </a:p>
        </p:txBody>
      </p:sp>
      <p:sp>
        <p:nvSpPr>
          <p:cNvPr id="19" name="Rectangle 18"/>
          <p:cNvSpPr/>
          <p:nvPr/>
        </p:nvSpPr>
        <p:spPr>
          <a:xfrm>
            <a:off x="3542202" y="2258568"/>
            <a:ext cx="1967377"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0218" y="2258568"/>
            <a:ext cx="1711345" cy="483108"/>
          </a:xfrm>
          <a:prstGeom prst="rect">
            <a:avLst/>
          </a:prstGeom>
          <a:noFill/>
        </p:spPr>
        <p:txBody>
          <a:bodyPr wrap="square" anchor="ctr">
            <a:spAutoFit/>
          </a:bodyPr>
          <a:lstStyle/>
          <a:p>
            <a:pPr algn="l">
              <a:spcAft>
                <a:spcPts val="400"/>
              </a:spcAft>
            </a:pPr>
            <a:r>
              <a:rPr sz="1150" b="0">
                <a:solidFill>
                  <a:srgbClr val="5B6372"/>
                </a:solidFill>
                <a:latin typeface="Arial"/>
              </a:rPr>
              <a:t>The field is simply gone</a:t>
            </a:r>
          </a:p>
        </p:txBody>
      </p:sp>
      <p:sp>
        <p:nvSpPr>
          <p:cNvPr id="21" name="Rectangle 20"/>
          <p:cNvSpPr/>
          <p:nvPr/>
        </p:nvSpPr>
        <p:spPr>
          <a:xfrm>
            <a:off x="5509579" y="2258568"/>
            <a:ext cx="1967377"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37595" y="2258568"/>
            <a:ext cx="1711345" cy="483108"/>
          </a:xfrm>
          <a:prstGeom prst="rect">
            <a:avLst/>
          </a:prstGeom>
          <a:noFill/>
        </p:spPr>
        <p:txBody>
          <a:bodyPr wrap="square" anchor="ctr">
            <a:spAutoFit/>
          </a:bodyPr>
          <a:lstStyle/>
          <a:p>
            <a:pPr algn="l">
              <a:spcAft>
                <a:spcPts val="400"/>
              </a:spcAft>
            </a:pPr>
            <a:r>
              <a:rPr sz="1150" b="0">
                <a:solidFill>
                  <a:srgbClr val="5B6372"/>
                </a:solidFill>
                <a:latin typeface="Arial"/>
              </a:rPr>
              <a:t>No</a:t>
            </a:r>
          </a:p>
        </p:txBody>
      </p:sp>
      <p:sp>
        <p:nvSpPr>
          <p:cNvPr id="23" name="Rectangle 22"/>
          <p:cNvSpPr/>
          <p:nvPr/>
        </p:nvSpPr>
        <p:spPr>
          <a:xfrm>
            <a:off x="7476956" y="2258568"/>
            <a:ext cx="1967377"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2" y="2258568"/>
            <a:ext cx="1711345" cy="483108"/>
          </a:xfrm>
          <a:prstGeom prst="rect">
            <a:avLst/>
          </a:prstGeom>
          <a:noFill/>
        </p:spPr>
        <p:txBody>
          <a:bodyPr wrap="square" anchor="ctr">
            <a:spAutoFit/>
          </a:bodyPr>
          <a:lstStyle/>
          <a:p>
            <a:pPr algn="l">
              <a:spcAft>
                <a:spcPts val="400"/>
              </a:spcAft>
            </a:pPr>
            <a:r>
              <a:rPr sz="1150" b="0">
                <a:solidFill>
                  <a:srgbClr val="5B6372"/>
                </a:solidFill>
                <a:latin typeface="Arial"/>
              </a:rPr>
              <a:t>No</a:t>
            </a:r>
          </a:p>
        </p:txBody>
      </p:sp>
      <p:sp>
        <p:nvSpPr>
          <p:cNvPr id="25" name="Rectangle 24"/>
          <p:cNvSpPr/>
          <p:nvPr/>
        </p:nvSpPr>
        <p:spPr>
          <a:xfrm>
            <a:off x="9444333" y="2258568"/>
            <a:ext cx="1967377"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72349" y="2258568"/>
            <a:ext cx="1711345" cy="483108"/>
          </a:xfrm>
          <a:prstGeom prst="rect">
            <a:avLst/>
          </a:prstGeom>
          <a:noFill/>
        </p:spPr>
        <p:txBody>
          <a:bodyPr wrap="square" anchor="ctr">
            <a:spAutoFit/>
          </a:bodyPr>
          <a:lstStyle/>
          <a:p>
            <a:pPr algn="l">
              <a:spcAft>
                <a:spcPts val="400"/>
              </a:spcAft>
            </a:pPr>
            <a:r>
              <a:rPr sz="1150" b="0">
                <a:solidFill>
                  <a:srgbClr val="5B6372"/>
                </a:solidFill>
                <a:latin typeface="Arial"/>
              </a:rPr>
              <a:t>Anything the model does not need</a:t>
            </a:r>
          </a:p>
        </p:txBody>
      </p:sp>
      <p:sp>
        <p:nvSpPr>
          <p:cNvPr id="27" name="Rectangle 26"/>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Generalisation</a:t>
            </a:r>
          </a:p>
        </p:txBody>
      </p:sp>
      <p:sp>
        <p:nvSpPr>
          <p:cNvPr id="29" name="Rectangle 28"/>
          <p:cNvSpPr/>
          <p:nvPr/>
        </p:nvSpPr>
        <p:spPr>
          <a:xfrm>
            <a:off x="3542202" y="2741676"/>
            <a:ext cx="1967377"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0218" y="2741676"/>
            <a:ext cx="1711345" cy="483108"/>
          </a:xfrm>
          <a:prstGeom prst="rect">
            <a:avLst/>
          </a:prstGeom>
          <a:noFill/>
        </p:spPr>
        <p:txBody>
          <a:bodyPr wrap="square" anchor="ctr">
            <a:spAutoFit/>
          </a:bodyPr>
          <a:lstStyle/>
          <a:p>
            <a:pPr algn="l">
              <a:spcAft>
                <a:spcPts val="400"/>
              </a:spcAft>
            </a:pPr>
            <a:r>
              <a:rPr sz="1150" b="0">
                <a:solidFill>
                  <a:srgbClr val="5B6372"/>
                </a:solidFill>
                <a:latin typeface="Arial"/>
              </a:rPr>
              <a:t>Age band instead of date of birth</a:t>
            </a:r>
          </a:p>
        </p:txBody>
      </p:sp>
      <p:sp>
        <p:nvSpPr>
          <p:cNvPr id="31" name="Rectangle 30"/>
          <p:cNvSpPr/>
          <p:nvPr/>
        </p:nvSpPr>
        <p:spPr>
          <a:xfrm>
            <a:off x="5509579" y="2741676"/>
            <a:ext cx="1967377"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37595" y="2741676"/>
            <a:ext cx="1711345" cy="483108"/>
          </a:xfrm>
          <a:prstGeom prst="rect">
            <a:avLst/>
          </a:prstGeom>
          <a:noFill/>
        </p:spPr>
        <p:txBody>
          <a:bodyPr wrap="square" anchor="ctr">
            <a:spAutoFit/>
          </a:bodyPr>
          <a:lstStyle/>
          <a:p>
            <a:pPr algn="l">
              <a:spcAft>
                <a:spcPts val="400"/>
              </a:spcAft>
            </a:pPr>
            <a:r>
              <a:rPr sz="1150" b="0">
                <a:solidFill>
                  <a:srgbClr val="5B6372"/>
                </a:solidFill>
                <a:latin typeface="Arial"/>
              </a:rPr>
              <a:t>No</a:t>
            </a:r>
          </a:p>
        </p:txBody>
      </p:sp>
      <p:sp>
        <p:nvSpPr>
          <p:cNvPr id="33" name="Rectangle 32"/>
          <p:cNvSpPr/>
          <p:nvPr/>
        </p:nvSpPr>
        <p:spPr>
          <a:xfrm>
            <a:off x="7476956" y="2741676"/>
            <a:ext cx="1967377"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04972" y="2741676"/>
            <a:ext cx="1711345" cy="483108"/>
          </a:xfrm>
          <a:prstGeom prst="rect">
            <a:avLst/>
          </a:prstGeom>
          <a:noFill/>
        </p:spPr>
        <p:txBody>
          <a:bodyPr wrap="square" anchor="ctr">
            <a:spAutoFit/>
          </a:bodyPr>
          <a:lstStyle/>
          <a:p>
            <a:pPr algn="l">
              <a:spcAft>
                <a:spcPts val="400"/>
              </a:spcAft>
            </a:pPr>
            <a:r>
              <a:rPr sz="1150" b="0">
                <a:solidFill>
                  <a:srgbClr val="5B6372"/>
                </a:solidFill>
                <a:latin typeface="Arial"/>
              </a:rPr>
              <a:t>Reduced risk</a:t>
            </a:r>
          </a:p>
        </p:txBody>
      </p:sp>
      <p:sp>
        <p:nvSpPr>
          <p:cNvPr id="35" name="Rectangle 34"/>
          <p:cNvSpPr/>
          <p:nvPr/>
        </p:nvSpPr>
        <p:spPr>
          <a:xfrm>
            <a:off x="9444333" y="2741676"/>
            <a:ext cx="1967377"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572349" y="2741676"/>
            <a:ext cx="1711345" cy="483108"/>
          </a:xfrm>
          <a:prstGeom prst="rect">
            <a:avLst/>
          </a:prstGeom>
          <a:noFill/>
        </p:spPr>
        <p:txBody>
          <a:bodyPr wrap="square" anchor="ctr">
            <a:spAutoFit/>
          </a:bodyPr>
          <a:lstStyle/>
          <a:p>
            <a:pPr algn="l">
              <a:spcAft>
                <a:spcPts val="400"/>
              </a:spcAft>
            </a:pPr>
            <a:r>
              <a:rPr sz="1150" b="0">
                <a:solidFill>
                  <a:srgbClr val="5B6372"/>
                </a:solidFill>
                <a:latin typeface="Arial"/>
              </a:rPr>
              <a:t>Quasi-identifiers with predictive value</a:t>
            </a:r>
          </a:p>
        </p:txBody>
      </p:sp>
      <p:sp>
        <p:nvSpPr>
          <p:cNvPr id="37" name="Rectangle 36"/>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Hashing</a:t>
            </a:r>
          </a:p>
        </p:txBody>
      </p:sp>
      <p:sp>
        <p:nvSpPr>
          <p:cNvPr id="39" name="Rectangle 38"/>
          <p:cNvSpPr/>
          <p:nvPr/>
        </p:nvSpPr>
        <p:spPr>
          <a:xfrm>
            <a:off x="3542202" y="3224784"/>
            <a:ext cx="1967377"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3224784"/>
            <a:ext cx="1711345" cy="483108"/>
          </a:xfrm>
          <a:prstGeom prst="rect">
            <a:avLst/>
          </a:prstGeom>
          <a:noFill/>
        </p:spPr>
        <p:txBody>
          <a:bodyPr wrap="square" anchor="ctr">
            <a:spAutoFit/>
          </a:bodyPr>
          <a:lstStyle/>
          <a:p>
            <a:pPr algn="l">
              <a:spcAft>
                <a:spcPts val="400"/>
              </a:spcAft>
            </a:pPr>
            <a:r>
              <a:rPr sz="1150" b="0">
                <a:solidFill>
                  <a:srgbClr val="5B6372"/>
                </a:solidFill>
                <a:latin typeface="Arial"/>
              </a:rPr>
              <a:t>A consistent pseudonym</a:t>
            </a:r>
          </a:p>
        </p:txBody>
      </p:sp>
      <p:sp>
        <p:nvSpPr>
          <p:cNvPr id="41" name="Rectangle 40"/>
          <p:cNvSpPr/>
          <p:nvPr/>
        </p:nvSpPr>
        <p:spPr>
          <a:xfrm>
            <a:off x="5509579" y="3224784"/>
            <a:ext cx="1967377"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637595" y="3224784"/>
            <a:ext cx="1711345" cy="483108"/>
          </a:xfrm>
          <a:prstGeom prst="rect">
            <a:avLst/>
          </a:prstGeom>
          <a:noFill/>
        </p:spPr>
        <p:txBody>
          <a:bodyPr wrap="square" anchor="ctr">
            <a:spAutoFit/>
          </a:bodyPr>
          <a:lstStyle/>
          <a:p>
            <a:pPr algn="l">
              <a:spcAft>
                <a:spcPts val="400"/>
              </a:spcAft>
            </a:pPr>
            <a:r>
              <a:rPr sz="1150" b="0">
                <a:solidFill>
                  <a:srgbClr val="5B6372"/>
                </a:solidFill>
                <a:latin typeface="Arial"/>
              </a:rPr>
              <a:t>No (but linkable)</a:t>
            </a:r>
          </a:p>
        </p:txBody>
      </p:sp>
      <p:sp>
        <p:nvSpPr>
          <p:cNvPr id="43" name="Rectangle 42"/>
          <p:cNvSpPr/>
          <p:nvPr/>
        </p:nvSpPr>
        <p:spPr>
          <a:xfrm>
            <a:off x="7476956" y="3224784"/>
            <a:ext cx="1967377"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04972" y="3224784"/>
            <a:ext cx="1711345" cy="483108"/>
          </a:xfrm>
          <a:prstGeom prst="rect">
            <a:avLst/>
          </a:prstGeom>
          <a:noFill/>
        </p:spPr>
        <p:txBody>
          <a:bodyPr wrap="square" anchor="ctr">
            <a:spAutoFit/>
          </a:bodyPr>
          <a:lstStyle/>
          <a:p>
            <a:pPr algn="l">
              <a:spcAft>
                <a:spcPts val="400"/>
              </a:spcAft>
            </a:pPr>
            <a:r>
              <a:rPr sz="1150" b="0">
                <a:solidFill>
                  <a:srgbClr val="5B6372"/>
                </a:solidFill>
                <a:latin typeface="Arial"/>
              </a:rPr>
              <a:t>Yes — it is pseudonymisation</a:t>
            </a:r>
          </a:p>
        </p:txBody>
      </p:sp>
      <p:sp>
        <p:nvSpPr>
          <p:cNvPr id="45" name="Rectangle 44"/>
          <p:cNvSpPr/>
          <p:nvPr/>
        </p:nvSpPr>
        <p:spPr>
          <a:xfrm>
            <a:off x="9444333" y="3224784"/>
            <a:ext cx="1967377"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572349" y="3224784"/>
            <a:ext cx="1711345" cy="483108"/>
          </a:xfrm>
          <a:prstGeom prst="rect">
            <a:avLst/>
          </a:prstGeom>
          <a:noFill/>
        </p:spPr>
        <p:txBody>
          <a:bodyPr wrap="square" anchor="ctr">
            <a:spAutoFit/>
          </a:bodyPr>
          <a:lstStyle/>
          <a:p>
            <a:pPr algn="l">
              <a:spcAft>
                <a:spcPts val="400"/>
              </a:spcAft>
            </a:pPr>
            <a:r>
              <a:rPr sz="1050" b="0">
                <a:solidFill>
                  <a:srgbClr val="5B6372"/>
                </a:solidFill>
                <a:latin typeface="Arial"/>
              </a:rPr>
              <a:t>Joining records without holding the identifier</a:t>
            </a:r>
          </a:p>
        </p:txBody>
      </p:sp>
      <p:sp>
        <p:nvSpPr>
          <p:cNvPr id="47" name="Rectangle 46"/>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Encryption (AES)</a:t>
            </a:r>
          </a:p>
        </p:txBody>
      </p:sp>
      <p:sp>
        <p:nvSpPr>
          <p:cNvPr id="49" name="Rectangle 48"/>
          <p:cNvSpPr/>
          <p:nvPr/>
        </p:nvSpPr>
        <p:spPr>
          <a:xfrm>
            <a:off x="3542202" y="3707892"/>
            <a:ext cx="1967377"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3707892"/>
            <a:ext cx="1711345" cy="483108"/>
          </a:xfrm>
          <a:prstGeom prst="rect">
            <a:avLst/>
          </a:prstGeom>
          <a:noFill/>
        </p:spPr>
        <p:txBody>
          <a:bodyPr wrap="square" anchor="ctr">
            <a:spAutoFit/>
          </a:bodyPr>
          <a:lstStyle/>
          <a:p>
            <a:pPr algn="l">
              <a:spcAft>
                <a:spcPts val="400"/>
              </a:spcAft>
            </a:pPr>
            <a:r>
              <a:rPr sz="1150" b="0">
                <a:solidFill>
                  <a:srgbClr val="5B6372"/>
                </a:solidFill>
                <a:latin typeface="Arial"/>
              </a:rPr>
              <a:t>Confidentiality in storage/transit</a:t>
            </a:r>
          </a:p>
        </p:txBody>
      </p:sp>
      <p:sp>
        <p:nvSpPr>
          <p:cNvPr id="51" name="Rectangle 50"/>
          <p:cNvSpPr/>
          <p:nvPr/>
        </p:nvSpPr>
        <p:spPr>
          <a:xfrm>
            <a:off x="5509579" y="3707892"/>
            <a:ext cx="1967377"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637595" y="3707892"/>
            <a:ext cx="1711345" cy="483108"/>
          </a:xfrm>
          <a:prstGeom prst="rect">
            <a:avLst/>
          </a:prstGeom>
          <a:noFill/>
        </p:spPr>
        <p:txBody>
          <a:bodyPr wrap="square" anchor="ctr">
            <a:spAutoFit/>
          </a:bodyPr>
          <a:lstStyle/>
          <a:p>
            <a:pPr algn="l">
              <a:spcAft>
                <a:spcPts val="400"/>
              </a:spcAft>
            </a:pPr>
            <a:r>
              <a:rPr sz="1150" b="0">
                <a:solidFill>
                  <a:srgbClr val="5B6372"/>
                </a:solidFill>
                <a:latin typeface="Arial"/>
              </a:rPr>
              <a:t>Yes, with the key</a:t>
            </a:r>
          </a:p>
        </p:txBody>
      </p:sp>
      <p:sp>
        <p:nvSpPr>
          <p:cNvPr id="53" name="Rectangle 52"/>
          <p:cNvSpPr/>
          <p:nvPr/>
        </p:nvSpPr>
        <p:spPr>
          <a:xfrm>
            <a:off x="7476956" y="3707892"/>
            <a:ext cx="1967377"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04972" y="3707892"/>
            <a:ext cx="1711345" cy="483108"/>
          </a:xfrm>
          <a:prstGeom prst="rect">
            <a:avLst/>
          </a:prstGeom>
          <a:noFill/>
        </p:spPr>
        <p:txBody>
          <a:bodyPr wrap="square" anchor="ctr">
            <a:spAutoFit/>
          </a:bodyPr>
          <a:lstStyle/>
          <a:p>
            <a:pPr algn="l">
              <a:spcAft>
                <a:spcPts val="400"/>
              </a:spcAft>
            </a:pPr>
            <a:r>
              <a:rPr sz="1150" b="0">
                <a:solidFill>
                  <a:srgbClr val="5B6372"/>
                </a:solidFill>
                <a:latin typeface="Arial"/>
              </a:rPr>
              <a:t>Yes, to the key holder</a:t>
            </a:r>
          </a:p>
        </p:txBody>
      </p:sp>
      <p:sp>
        <p:nvSpPr>
          <p:cNvPr id="55" name="Rectangle 54"/>
          <p:cNvSpPr/>
          <p:nvPr/>
        </p:nvSpPr>
        <p:spPr>
          <a:xfrm>
            <a:off x="9444333" y="3707892"/>
            <a:ext cx="1967377"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572349" y="3707892"/>
            <a:ext cx="1711345" cy="483108"/>
          </a:xfrm>
          <a:prstGeom prst="rect">
            <a:avLst/>
          </a:prstGeom>
          <a:noFill/>
        </p:spPr>
        <p:txBody>
          <a:bodyPr wrap="square" anchor="ctr">
            <a:spAutoFit/>
          </a:bodyPr>
          <a:lstStyle/>
          <a:p>
            <a:pPr algn="l">
              <a:spcAft>
                <a:spcPts val="400"/>
              </a:spcAft>
            </a:pPr>
            <a:r>
              <a:rPr sz="1150" b="0">
                <a:solidFill>
                  <a:srgbClr val="5B6372"/>
                </a:solidFill>
                <a:latin typeface="Arial"/>
              </a:rPr>
              <a:t>Protecting data at rest and in transit</a:t>
            </a:r>
          </a:p>
        </p:txBody>
      </p:sp>
      <p:sp>
        <p:nvSpPr>
          <p:cNvPr id="57" name="Rectangle 5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Asymmetric (RSA)</a:t>
            </a:r>
          </a:p>
        </p:txBody>
      </p:sp>
      <p:sp>
        <p:nvSpPr>
          <p:cNvPr id="59" name="Rectangle 58"/>
          <p:cNvSpPr/>
          <p:nvPr/>
        </p:nvSpPr>
        <p:spPr>
          <a:xfrm>
            <a:off x="3542202" y="4191000"/>
            <a:ext cx="1967377"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670218" y="4191000"/>
            <a:ext cx="1711345" cy="483108"/>
          </a:xfrm>
          <a:prstGeom prst="rect">
            <a:avLst/>
          </a:prstGeom>
          <a:noFill/>
        </p:spPr>
        <p:txBody>
          <a:bodyPr wrap="square" anchor="ctr">
            <a:spAutoFit/>
          </a:bodyPr>
          <a:lstStyle/>
          <a:p>
            <a:pPr algn="l">
              <a:spcAft>
                <a:spcPts val="400"/>
              </a:spcAft>
            </a:pPr>
            <a:r>
              <a:rPr sz="1150" b="0">
                <a:solidFill>
                  <a:srgbClr val="5B6372"/>
                </a:solidFill>
                <a:latin typeface="Arial"/>
              </a:rPr>
              <a:t>Safe key exchange</a:t>
            </a:r>
          </a:p>
        </p:txBody>
      </p:sp>
      <p:sp>
        <p:nvSpPr>
          <p:cNvPr id="61" name="Rectangle 60"/>
          <p:cNvSpPr/>
          <p:nvPr/>
        </p:nvSpPr>
        <p:spPr>
          <a:xfrm>
            <a:off x="5509579" y="4191000"/>
            <a:ext cx="1967377"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637595" y="4191000"/>
            <a:ext cx="1711345" cy="483108"/>
          </a:xfrm>
          <a:prstGeom prst="rect">
            <a:avLst/>
          </a:prstGeom>
          <a:noFill/>
        </p:spPr>
        <p:txBody>
          <a:bodyPr wrap="square" anchor="ctr">
            <a:spAutoFit/>
          </a:bodyPr>
          <a:lstStyle/>
          <a:p>
            <a:pPr algn="l">
              <a:spcAft>
                <a:spcPts val="400"/>
              </a:spcAft>
            </a:pPr>
            <a:r>
              <a:rPr sz="1150" b="0">
                <a:solidFill>
                  <a:srgbClr val="5B6372"/>
                </a:solidFill>
                <a:latin typeface="Arial"/>
              </a:rPr>
              <a:t>Yes, with the private key</a:t>
            </a:r>
          </a:p>
        </p:txBody>
      </p:sp>
      <p:sp>
        <p:nvSpPr>
          <p:cNvPr id="63" name="Rectangle 62"/>
          <p:cNvSpPr/>
          <p:nvPr/>
        </p:nvSpPr>
        <p:spPr>
          <a:xfrm>
            <a:off x="7476956" y="4191000"/>
            <a:ext cx="1967377"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604972" y="4191000"/>
            <a:ext cx="1711345" cy="483108"/>
          </a:xfrm>
          <a:prstGeom prst="rect">
            <a:avLst/>
          </a:prstGeom>
          <a:noFill/>
        </p:spPr>
        <p:txBody>
          <a:bodyPr wrap="square" anchor="ctr">
            <a:spAutoFit/>
          </a:bodyPr>
          <a:lstStyle/>
          <a:p>
            <a:pPr algn="l">
              <a:spcAft>
                <a:spcPts val="400"/>
              </a:spcAft>
            </a:pPr>
            <a:r>
              <a:rPr sz="1150" b="0">
                <a:solidFill>
                  <a:srgbClr val="5B6372"/>
                </a:solidFill>
                <a:latin typeface="Arial"/>
              </a:rPr>
              <a:t>Depends</a:t>
            </a:r>
          </a:p>
        </p:txBody>
      </p:sp>
      <p:sp>
        <p:nvSpPr>
          <p:cNvPr id="65" name="Rectangle 64"/>
          <p:cNvSpPr/>
          <p:nvPr/>
        </p:nvSpPr>
        <p:spPr>
          <a:xfrm>
            <a:off x="9444333" y="4191000"/>
            <a:ext cx="1967377"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572349" y="4191000"/>
            <a:ext cx="1711345" cy="483108"/>
          </a:xfrm>
          <a:prstGeom prst="rect">
            <a:avLst/>
          </a:prstGeom>
          <a:noFill/>
        </p:spPr>
        <p:txBody>
          <a:bodyPr wrap="square" anchor="ctr">
            <a:spAutoFit/>
          </a:bodyPr>
          <a:lstStyle/>
          <a:p>
            <a:pPr algn="l">
              <a:spcAft>
                <a:spcPts val="400"/>
              </a:spcAft>
            </a:pPr>
            <a:r>
              <a:rPr sz="1150" b="0">
                <a:solidFill>
                  <a:srgbClr val="5B6372"/>
                </a:solidFill>
                <a:latin typeface="Arial"/>
              </a:rPr>
              <a:t>Moving keys and data between environments</a:t>
            </a:r>
          </a:p>
        </p:txBody>
      </p:sp>
      <p:sp>
        <p:nvSpPr>
          <p:cNvPr id="67" name="Rectangle 66"/>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Signing (ECDSA)</a:t>
            </a:r>
          </a:p>
        </p:txBody>
      </p:sp>
      <p:sp>
        <p:nvSpPr>
          <p:cNvPr id="69" name="Rectangle 68"/>
          <p:cNvSpPr/>
          <p:nvPr/>
        </p:nvSpPr>
        <p:spPr>
          <a:xfrm>
            <a:off x="3542202" y="4674108"/>
            <a:ext cx="1967377"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670218" y="4674108"/>
            <a:ext cx="1711345" cy="483108"/>
          </a:xfrm>
          <a:prstGeom prst="rect">
            <a:avLst/>
          </a:prstGeom>
          <a:noFill/>
        </p:spPr>
        <p:txBody>
          <a:bodyPr wrap="square" anchor="ctr">
            <a:spAutoFit/>
          </a:bodyPr>
          <a:lstStyle/>
          <a:p>
            <a:pPr algn="l">
              <a:spcAft>
                <a:spcPts val="400"/>
              </a:spcAft>
            </a:pPr>
            <a:r>
              <a:rPr sz="1150" b="0">
                <a:solidFill>
                  <a:srgbClr val="5B6372"/>
                </a:solidFill>
                <a:latin typeface="Arial"/>
              </a:rPr>
              <a:t>Integrity and origin proof</a:t>
            </a:r>
          </a:p>
        </p:txBody>
      </p:sp>
      <p:sp>
        <p:nvSpPr>
          <p:cNvPr id="71" name="Rectangle 70"/>
          <p:cNvSpPr/>
          <p:nvPr/>
        </p:nvSpPr>
        <p:spPr>
          <a:xfrm>
            <a:off x="5509579" y="4674108"/>
            <a:ext cx="1967377"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637595" y="4674108"/>
            <a:ext cx="1711345" cy="483108"/>
          </a:xfrm>
          <a:prstGeom prst="rect">
            <a:avLst/>
          </a:prstGeom>
          <a:noFill/>
        </p:spPr>
        <p:txBody>
          <a:bodyPr wrap="square" anchor="ctr">
            <a:spAutoFit/>
          </a:bodyPr>
          <a:lstStyle/>
          <a:p>
            <a:pPr algn="l">
              <a:spcAft>
                <a:spcPts val="400"/>
              </a:spcAft>
            </a:pPr>
            <a:r>
              <a:rPr sz="1150" b="0">
                <a:solidFill>
                  <a:srgbClr val="5B6372"/>
                </a:solidFill>
                <a:latin typeface="Arial"/>
              </a:rPr>
              <a:t>N/A</a:t>
            </a:r>
          </a:p>
        </p:txBody>
      </p:sp>
      <p:sp>
        <p:nvSpPr>
          <p:cNvPr id="73" name="Rectangle 72"/>
          <p:cNvSpPr/>
          <p:nvPr/>
        </p:nvSpPr>
        <p:spPr>
          <a:xfrm>
            <a:off x="7476956" y="4674108"/>
            <a:ext cx="1967377"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604972" y="4674108"/>
            <a:ext cx="1711345" cy="483108"/>
          </a:xfrm>
          <a:prstGeom prst="rect">
            <a:avLst/>
          </a:prstGeom>
          <a:noFill/>
        </p:spPr>
        <p:txBody>
          <a:bodyPr wrap="square" anchor="ctr">
            <a:spAutoFit/>
          </a:bodyPr>
          <a:lstStyle/>
          <a:p>
            <a:pPr algn="l">
              <a:spcAft>
                <a:spcPts val="400"/>
              </a:spcAft>
            </a:pPr>
            <a:r>
              <a:rPr sz="1150" b="0">
                <a:solidFill>
                  <a:srgbClr val="5B6372"/>
                </a:solidFill>
                <a:latin typeface="Arial"/>
              </a:rPr>
              <a:t>N/A</a:t>
            </a:r>
          </a:p>
        </p:txBody>
      </p:sp>
      <p:sp>
        <p:nvSpPr>
          <p:cNvPr id="75" name="Rectangle 74"/>
          <p:cNvSpPr/>
          <p:nvPr/>
        </p:nvSpPr>
        <p:spPr>
          <a:xfrm>
            <a:off x="9444333" y="4674108"/>
            <a:ext cx="1967377"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572349" y="4674108"/>
            <a:ext cx="1711345" cy="483108"/>
          </a:xfrm>
          <a:prstGeom prst="rect">
            <a:avLst/>
          </a:prstGeom>
          <a:noFill/>
        </p:spPr>
        <p:txBody>
          <a:bodyPr wrap="square" anchor="ctr">
            <a:spAutoFit/>
          </a:bodyPr>
          <a:lstStyle/>
          <a:p>
            <a:pPr algn="l">
              <a:spcAft>
                <a:spcPts val="400"/>
              </a:spcAft>
            </a:pPr>
            <a:r>
              <a:rPr sz="850" b="0">
                <a:solidFill>
                  <a:srgbClr val="5B6372"/>
                </a:solidFill>
                <a:latin typeface="Arial"/>
              </a:rPr>
              <a:t>Proving the training set was not altered after approval</a:t>
            </a:r>
          </a:p>
        </p:txBody>
      </p:sp>
      <p:sp>
        <p:nvSpPr>
          <p:cNvPr id="77" name="Rectangle 76"/>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777240" y="5358384"/>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The most common mistake: calling a hashed or encrypted dataset 'anonymised'. It is pseudonymised, and PDPA obligations continue to apply.</a:t>
            </a:r>
          </a:p>
        </p:txBody>
      </p:sp>
      <p:sp>
        <p:nvSpPr>
          <p:cNvPr id="80" name="TextBox 7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81" name="TextBox 8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82" name="TextBox 8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LO3 · WHAT PRE-DEPLOYMENT ASSURANCE MEANS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Testing an AI System — Beyond 'Does It Answer Correctly?'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Accuracy and reliability</a:t>
            </a:r>
          </a:p>
          <a:p>
            <a:pPr algn="l">
              <a:spcAft>
                <a:spcPts val="300"/>
              </a:spcAft>
            </a:pPr>
            <a:r>
              <a:rPr sz="1200" b="0">
                <a:solidFill>
                  <a:srgbClr val="5B6372"/>
                </a:solidFill>
                <a:latin typeface="Arial"/>
              </a:rPr>
              <a:t>Does it perform in the conditions it will actually meet, not just on the test set?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Robustness</a:t>
            </a:r>
          </a:p>
          <a:p>
            <a:pPr algn="l">
              <a:spcAft>
                <a:spcPts val="300"/>
              </a:spcAft>
            </a:pPr>
            <a:r>
              <a:rPr sz="1200" b="0">
                <a:solidFill>
                  <a:srgbClr val="5B6372"/>
                </a:solidFill>
                <a:latin typeface="Arial"/>
              </a:rPr>
              <a:t>How does it behave on edge cases, adversarial input and malformed data?</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Bias and fairness</a:t>
            </a:r>
          </a:p>
          <a:p>
            <a:pPr algn="l">
              <a:spcAft>
                <a:spcPts val="300"/>
              </a:spcAft>
            </a:pPr>
            <a:r>
              <a:rPr sz="1200" b="0">
                <a:solidFill>
                  <a:srgbClr val="5B6372"/>
                </a:solidFill>
                <a:latin typeface="Arial"/>
              </a:rPr>
              <a:t>Does performance differ across groups? Test it; do not assume the data was neutral.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Privacy leakage</a:t>
            </a:r>
          </a:p>
          <a:p>
            <a:pPr algn="l">
              <a:spcAft>
                <a:spcPts val="300"/>
              </a:spcAft>
            </a:pPr>
            <a:r>
              <a:rPr sz="1200" b="0">
                <a:solidFill>
                  <a:srgbClr val="5B6372"/>
                </a:solidFill>
                <a:latin typeface="Arial"/>
              </a:rPr>
              <a:t>Can training data or another user's data be elicited from the output?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Jailbreak resistance</a:t>
            </a:r>
          </a:p>
          <a:p>
            <a:pPr algn="l">
              <a:spcAft>
                <a:spcPts val="300"/>
              </a:spcAft>
            </a:pPr>
            <a:r>
              <a:rPr sz="1200" b="0">
                <a:solidFill>
                  <a:srgbClr val="5B6372"/>
                </a:solidFill>
                <a:latin typeface="Arial"/>
              </a:rPr>
              <a:t>Can the instruction be overridden by crafted input? Assume yes, and measure how easily.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Grounding</a:t>
            </a:r>
          </a:p>
          <a:p>
            <a:pPr algn="l">
              <a:spcAft>
                <a:spcPts val="300"/>
              </a:spcAft>
            </a:pPr>
            <a:r>
              <a:rPr sz="1200" b="0">
                <a:solidFill>
                  <a:srgbClr val="5B6372"/>
                </a:solidFill>
                <a:latin typeface="Arial"/>
              </a:rPr>
              <a:t>Are claims traceable to a source, or is the model confabulating fluently?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LO3 · ADVERSARIAL ASSURANCE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Red-Teaming an AI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 is adversarial, not functional</a:t>
            </a:r>
          </a:p>
          <a:p>
            <a:pPr algn="l">
              <a:spcAft>
                <a:spcPts val="300"/>
              </a:spcAft>
            </a:pPr>
            <a:r>
              <a:rPr sz="1200" b="0">
                <a:solidFill>
                  <a:srgbClr val="5B6372"/>
                </a:solidFill>
                <a:latin typeface="Arial"/>
              </a:rPr>
              <a:t>Functional testing asks 'does it work?'. Red-teaming asks 'how do I make it misbehave?'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Direct prompt injection</a:t>
            </a:r>
          </a:p>
          <a:p>
            <a:pPr algn="l">
              <a:spcAft>
                <a:spcPts val="300"/>
              </a:spcAft>
            </a:pPr>
            <a:r>
              <a:rPr sz="1200" b="0">
                <a:solidFill>
                  <a:srgbClr val="5B6372"/>
                </a:solidFill>
                <a:latin typeface="Arial"/>
              </a:rPr>
              <a:t>Instructions typed by the user to override the system prompt.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Indirect injection</a:t>
            </a:r>
          </a:p>
          <a:p>
            <a:pPr algn="l">
              <a:spcAft>
                <a:spcPts val="300"/>
              </a:spcAft>
            </a:pPr>
            <a:r>
              <a:rPr sz="1200" b="0">
                <a:solidFill>
                  <a:srgbClr val="5B6372"/>
                </a:solidFill>
                <a:latin typeface="Arial"/>
              </a:rPr>
              <a:t>Instructions hidden in content the agent retrieves — e-mail, documents, web pages, even white-on-white text.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System-prompt extraction</a:t>
            </a:r>
          </a:p>
          <a:p>
            <a:pPr algn="l">
              <a:spcAft>
                <a:spcPts val="300"/>
              </a:spcAft>
            </a:pPr>
            <a:r>
              <a:rPr sz="1200" b="0">
                <a:solidFill>
                  <a:srgbClr val="5B6372"/>
                </a:solidFill>
                <a:latin typeface="Arial"/>
              </a:rPr>
              <a:t>Getting the agent to reveal its own instructions, which then makes every other attack easier.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Unsafe tool invocation</a:t>
            </a:r>
          </a:p>
          <a:p>
            <a:pPr algn="l">
              <a:spcAft>
                <a:spcPts val="300"/>
              </a:spcAft>
            </a:pPr>
            <a:r>
              <a:rPr sz="1200" b="0">
                <a:solidFill>
                  <a:srgbClr val="5B6372"/>
                </a:solidFill>
                <a:latin typeface="Arial"/>
              </a:rPr>
              <a:t>Inducing a permitted tool call with attacker-chosen parameters.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When to run it</a:t>
            </a:r>
          </a:p>
          <a:p>
            <a:pPr algn="l">
              <a:spcAft>
                <a:spcPts val="300"/>
              </a:spcAft>
            </a:pPr>
            <a:r>
              <a:rPr sz="1200" b="0">
                <a:solidFill>
                  <a:srgbClr val="5B6372"/>
                </a:solidFill>
                <a:latin typeface="Arial"/>
              </a:rPr>
              <a:t>Before production, and after every significant change — a new tool, a new data source, a model version bump.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POST-DEPLOYMENT CONTROL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Monitoring — Because AI Risk Changes After Launch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Quality</a:t>
            </a:r>
          </a:p>
          <a:p>
            <a:pPr algn="l">
              <a:spcAft>
                <a:spcPts val="300"/>
              </a:spcAft>
            </a:pPr>
            <a:r>
              <a:rPr sz="1200" b="0">
                <a:solidFill>
                  <a:srgbClr val="5B6372"/>
                </a:solidFill>
                <a:latin typeface="Arial"/>
              </a:rPr>
              <a:t>Accuracy and groundedness drift as the world and the data move away from the training distribution.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Safety</a:t>
            </a:r>
          </a:p>
          <a:p>
            <a:pPr algn="l">
              <a:spcAft>
                <a:spcPts val="300"/>
              </a:spcAft>
            </a:pPr>
            <a:r>
              <a:rPr sz="1200" b="0">
                <a:solidFill>
                  <a:srgbClr val="5B6372"/>
                </a:solidFill>
                <a:latin typeface="Arial"/>
              </a:rPr>
              <a:t>Refusal rate and injection-detection rate. A metric with no threshold is a dashboard, not a control.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Operations</a:t>
            </a:r>
          </a:p>
          <a:p>
            <a:pPr algn="l">
              <a:spcAft>
                <a:spcPts val="300"/>
              </a:spcAft>
            </a:pPr>
            <a:r>
              <a:rPr sz="1200" b="0">
                <a:solidFill>
                  <a:srgbClr val="5B6372"/>
                </a:solidFill>
                <a:latin typeface="Arial"/>
              </a:rPr>
              <a:t>Latency, cost per call and error rate — the signals that surface a problem before customers do.</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Security</a:t>
            </a:r>
          </a:p>
          <a:p>
            <a:pPr algn="l">
              <a:spcAft>
                <a:spcPts val="300"/>
              </a:spcAft>
            </a:pPr>
            <a:r>
              <a:rPr sz="1200" b="0">
                <a:solidFill>
                  <a:srgbClr val="5B6372"/>
                </a:solidFill>
                <a:latin typeface="Arial"/>
              </a:rPr>
              <a:t>Permission escalations, out-of-hours access, anomalous tool sequences and outbound sends.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Every alert needs an owner</a:t>
            </a:r>
          </a:p>
          <a:p>
            <a:pPr algn="l">
              <a:spcAft>
                <a:spcPts val="300"/>
              </a:spcAft>
            </a:pPr>
            <a:r>
              <a:rPr sz="1200" b="0">
                <a:solidFill>
                  <a:srgbClr val="5B6372"/>
                </a:solidFill>
                <a:latin typeface="Arial"/>
              </a:rPr>
              <a:t>Who is notified, what they check first, and the condition under which the system is disabled.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Time to disable</a:t>
            </a:r>
          </a:p>
          <a:p>
            <a:pPr algn="l">
              <a:spcAft>
                <a:spcPts val="300"/>
              </a:spcAft>
            </a:pPr>
            <a:r>
              <a:rPr sz="1200" b="0">
                <a:solidFill>
                  <a:srgbClr val="5B6372"/>
                </a:solidFill>
                <a:latin typeface="Arial"/>
              </a:rPr>
              <a:t>Measure it. You will be asked during an incident, and 'we're not sure' is not an answer.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LO3 · EXTEND THE PLAN YOU ALREADY HAVE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AI Incident Response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3063240"/>
            <a:ext cx="1232916" cy="969264"/>
          </a:xfrm>
          <a:prstGeom prst="rect">
            <a:avLst/>
          </a:prstGeom>
          <a:noFill/>
        </p:spPr>
        <p:txBody>
          <a:bodyPr wrap="square" anchor="ctr">
            <a:spAutoFit/>
          </a:bodyPr>
          <a:lstStyle/>
          <a:p>
            <a:pPr algn="ctr">
              <a:spcAft>
                <a:spcPts val="0"/>
              </a:spcAft>
            </a:pPr>
            <a:r>
              <a:rPr sz="1300" b="1">
                <a:solidFill>
                  <a:srgbClr val="161B26"/>
                </a:solidFill>
                <a:latin typeface="Arial"/>
              </a:rPr>
              <a:t>Detect</a:t>
            </a:r>
          </a:p>
        </p:txBody>
      </p:sp>
      <p:sp>
        <p:nvSpPr>
          <p:cNvPr id="12" name="TextBox 11"/>
          <p:cNvSpPr txBox="1"/>
          <p:nvPr/>
        </p:nvSpPr>
        <p:spPr>
          <a:xfrm>
            <a:off x="850392" y="3785616"/>
            <a:ext cx="1306068" cy="402336"/>
          </a:xfrm>
          <a:prstGeom prst="rect">
            <a:avLst/>
          </a:prstGeom>
          <a:noFill/>
        </p:spPr>
        <p:txBody>
          <a:bodyPr wrap="square" anchor="ctr">
            <a:spAutoFit/>
          </a:bodyPr>
          <a:lstStyle/>
          <a:p>
            <a:pPr algn="ctr">
              <a:spcAft>
                <a:spcPts val="0"/>
              </a:spcAft>
            </a:pPr>
            <a:r>
              <a:rPr sz="800" b="0">
                <a:solidFill>
                  <a:srgbClr val="5B6372"/>
                </a:solidFill>
                <a:latin typeface="Arial"/>
              </a:rPr>
              <a:t>An alert, a customer report, or someone noticing</a:t>
            </a:r>
          </a:p>
        </p:txBody>
      </p:sp>
      <p:cxnSp>
        <p:nvCxnSpPr>
          <p:cNvPr id="13" name="Connector 12"/>
          <p:cNvCxnSpPr/>
          <p:nvPr/>
        </p:nvCxnSpPr>
        <p:spPr>
          <a:xfrm>
            <a:off x="2284476"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23388" y="3063240"/>
            <a:ext cx="1232916" cy="969264"/>
          </a:xfrm>
          <a:prstGeom prst="rect">
            <a:avLst/>
          </a:prstGeom>
          <a:noFill/>
        </p:spPr>
        <p:txBody>
          <a:bodyPr wrap="square" anchor="ctr">
            <a:spAutoFit/>
          </a:bodyPr>
          <a:lstStyle/>
          <a:p>
            <a:pPr algn="ctr">
              <a:spcAft>
                <a:spcPts val="0"/>
              </a:spcAft>
            </a:pPr>
            <a:r>
              <a:rPr sz="1300" b="1">
                <a:solidFill>
                  <a:srgbClr val="161B26"/>
                </a:solidFill>
                <a:latin typeface="Arial"/>
              </a:rPr>
              <a:t>Contain</a:t>
            </a:r>
          </a:p>
        </p:txBody>
      </p:sp>
      <p:sp>
        <p:nvSpPr>
          <p:cNvPr id="19" name="TextBox 18"/>
          <p:cNvSpPr txBox="1"/>
          <p:nvPr/>
        </p:nvSpPr>
        <p:spPr>
          <a:xfrm>
            <a:off x="2686812" y="3785616"/>
            <a:ext cx="1306068" cy="402336"/>
          </a:xfrm>
          <a:prstGeom prst="rect">
            <a:avLst/>
          </a:prstGeom>
          <a:noFill/>
        </p:spPr>
        <p:txBody>
          <a:bodyPr wrap="square" anchor="ctr">
            <a:spAutoFit/>
          </a:bodyPr>
          <a:lstStyle/>
          <a:p>
            <a:pPr algn="ctr">
              <a:spcAft>
                <a:spcPts val="0"/>
              </a:spcAft>
            </a:pPr>
            <a:r>
              <a:rPr sz="800" b="0">
                <a:solidFill>
                  <a:srgbClr val="5B6372"/>
                </a:solidFill>
                <a:latin typeface="Arial"/>
              </a:rPr>
              <a:t>Disable or restrict — decided in advance, by a named authority</a:t>
            </a:r>
          </a:p>
        </p:txBody>
      </p:sp>
      <p:cxnSp>
        <p:nvCxnSpPr>
          <p:cNvPr id="20" name="Connector 19"/>
          <p:cNvCxnSpPr/>
          <p:nvPr/>
        </p:nvCxnSpPr>
        <p:spPr>
          <a:xfrm>
            <a:off x="4120896"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59808" y="3063240"/>
            <a:ext cx="1232916" cy="969264"/>
          </a:xfrm>
          <a:prstGeom prst="rect">
            <a:avLst/>
          </a:prstGeom>
          <a:noFill/>
        </p:spPr>
        <p:txBody>
          <a:bodyPr wrap="square" anchor="ctr">
            <a:spAutoFit/>
          </a:bodyPr>
          <a:lstStyle/>
          <a:p>
            <a:pPr algn="ctr">
              <a:spcAft>
                <a:spcPts val="0"/>
              </a:spcAft>
            </a:pPr>
            <a:r>
              <a:rPr sz="1300" b="1">
                <a:solidFill>
                  <a:srgbClr val="161B26"/>
                </a:solidFill>
                <a:latin typeface="Arial"/>
              </a:rPr>
              <a:t>Preserve</a:t>
            </a:r>
          </a:p>
        </p:txBody>
      </p:sp>
      <p:sp>
        <p:nvSpPr>
          <p:cNvPr id="26" name="TextBox 25"/>
          <p:cNvSpPr txBox="1"/>
          <p:nvPr/>
        </p:nvSpPr>
        <p:spPr>
          <a:xfrm>
            <a:off x="4523232" y="3785616"/>
            <a:ext cx="1306068" cy="402336"/>
          </a:xfrm>
          <a:prstGeom prst="rect">
            <a:avLst/>
          </a:prstGeom>
          <a:noFill/>
        </p:spPr>
        <p:txBody>
          <a:bodyPr wrap="square" anchor="ctr">
            <a:spAutoFit/>
          </a:bodyPr>
          <a:lstStyle/>
          <a:p>
            <a:pPr algn="ctr">
              <a:spcAft>
                <a:spcPts val="0"/>
              </a:spcAft>
            </a:pPr>
            <a:r>
              <a:rPr sz="800" b="0">
                <a:solidFill>
                  <a:srgbClr val="5B6372"/>
                </a:solidFill>
                <a:latin typeface="Arial"/>
              </a:rPr>
              <a:t>Prompts, tool calls, model version, config, the injected content</a:t>
            </a:r>
          </a:p>
        </p:txBody>
      </p:sp>
      <p:cxnSp>
        <p:nvCxnSpPr>
          <p:cNvPr id="27" name="Connector 26"/>
          <p:cNvCxnSpPr/>
          <p:nvPr/>
        </p:nvCxnSpPr>
        <p:spPr>
          <a:xfrm>
            <a:off x="5957316"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396228" y="3063240"/>
            <a:ext cx="1232916" cy="969264"/>
          </a:xfrm>
          <a:prstGeom prst="rect">
            <a:avLst/>
          </a:prstGeom>
          <a:noFill/>
        </p:spPr>
        <p:txBody>
          <a:bodyPr wrap="square" anchor="ctr">
            <a:spAutoFit/>
          </a:bodyPr>
          <a:lstStyle/>
          <a:p>
            <a:pPr algn="ctr">
              <a:spcAft>
                <a:spcPts val="0"/>
              </a:spcAft>
            </a:pPr>
            <a:r>
              <a:rPr sz="1300" b="1">
                <a:solidFill>
                  <a:srgbClr val="161B26"/>
                </a:solidFill>
                <a:latin typeface="Arial"/>
              </a:rPr>
              <a:t>Assess</a:t>
            </a:r>
          </a:p>
        </p:txBody>
      </p:sp>
      <p:sp>
        <p:nvSpPr>
          <p:cNvPr id="33" name="TextBox 32"/>
          <p:cNvSpPr txBox="1"/>
          <p:nvPr/>
        </p:nvSpPr>
        <p:spPr>
          <a:xfrm>
            <a:off x="6359652" y="3785616"/>
            <a:ext cx="1306068" cy="402336"/>
          </a:xfrm>
          <a:prstGeom prst="rect">
            <a:avLst/>
          </a:prstGeom>
          <a:noFill/>
        </p:spPr>
        <p:txBody>
          <a:bodyPr wrap="square" anchor="ctr">
            <a:spAutoFit/>
          </a:bodyPr>
          <a:lstStyle/>
          <a:p>
            <a:pPr algn="ctr">
              <a:spcAft>
                <a:spcPts val="0"/>
              </a:spcAft>
            </a:pPr>
            <a:r>
              <a:rPr sz="800" b="0">
                <a:solidFill>
                  <a:srgbClr val="5B6372"/>
                </a:solidFill>
                <a:latin typeface="Arial"/>
              </a:rPr>
              <a:t>Scope, individuals affected, data classes, notification threshold</a:t>
            </a:r>
          </a:p>
        </p:txBody>
      </p:sp>
      <p:cxnSp>
        <p:nvCxnSpPr>
          <p:cNvPr id="34" name="Connector 33"/>
          <p:cNvCxnSpPr/>
          <p:nvPr/>
        </p:nvCxnSpPr>
        <p:spPr>
          <a:xfrm>
            <a:off x="7793736"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32648" y="3063240"/>
            <a:ext cx="1232916" cy="969264"/>
          </a:xfrm>
          <a:prstGeom prst="rect">
            <a:avLst/>
          </a:prstGeom>
          <a:noFill/>
        </p:spPr>
        <p:txBody>
          <a:bodyPr wrap="square" anchor="ctr">
            <a:spAutoFit/>
          </a:bodyPr>
          <a:lstStyle/>
          <a:p>
            <a:pPr algn="ctr">
              <a:spcAft>
                <a:spcPts val="0"/>
              </a:spcAft>
            </a:pPr>
            <a:r>
              <a:rPr sz="1300" b="1">
                <a:solidFill>
                  <a:srgbClr val="161B26"/>
                </a:solidFill>
                <a:latin typeface="Arial"/>
              </a:rPr>
              <a:t>Notify</a:t>
            </a:r>
          </a:p>
        </p:txBody>
      </p:sp>
      <p:sp>
        <p:nvSpPr>
          <p:cNvPr id="40" name="TextBox 39"/>
          <p:cNvSpPr txBox="1"/>
          <p:nvPr/>
        </p:nvSpPr>
        <p:spPr>
          <a:xfrm>
            <a:off x="8196072" y="3785616"/>
            <a:ext cx="1306068" cy="402336"/>
          </a:xfrm>
          <a:prstGeom prst="rect">
            <a:avLst/>
          </a:prstGeom>
          <a:noFill/>
        </p:spPr>
        <p:txBody>
          <a:bodyPr wrap="square" anchor="ctr">
            <a:spAutoFit/>
          </a:bodyPr>
          <a:lstStyle/>
          <a:p>
            <a:pPr algn="ctr">
              <a:spcAft>
                <a:spcPts val="0"/>
              </a:spcAft>
            </a:pPr>
            <a:r>
              <a:rPr sz="800" b="0">
                <a:solidFill>
                  <a:srgbClr val="5B6372"/>
                </a:solidFill>
                <a:latin typeface="Arial"/>
              </a:rPr>
              <a:t>PDPC, individuals, regulator, board — per your determination</a:t>
            </a:r>
          </a:p>
        </p:txBody>
      </p:sp>
      <p:cxnSp>
        <p:nvCxnSpPr>
          <p:cNvPr id="41" name="Connector 40"/>
          <p:cNvCxnSpPr/>
          <p:nvPr/>
        </p:nvCxnSpPr>
        <p:spPr>
          <a:xfrm>
            <a:off x="9630156"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69068" y="3063240"/>
            <a:ext cx="1232916" cy="969264"/>
          </a:xfrm>
          <a:prstGeom prst="rect">
            <a:avLst/>
          </a:prstGeom>
          <a:noFill/>
        </p:spPr>
        <p:txBody>
          <a:bodyPr wrap="square" anchor="ctr">
            <a:spAutoFit/>
          </a:bodyPr>
          <a:lstStyle/>
          <a:p>
            <a:pPr algn="ctr">
              <a:spcAft>
                <a:spcPts val="0"/>
              </a:spcAft>
            </a:pPr>
            <a:r>
              <a:rPr sz="1300" b="1">
                <a:solidFill>
                  <a:srgbClr val="161B26"/>
                </a:solidFill>
                <a:latin typeface="Arial"/>
              </a:rPr>
              <a:t>Learn</a:t>
            </a:r>
          </a:p>
        </p:txBody>
      </p:sp>
      <p:sp>
        <p:nvSpPr>
          <p:cNvPr id="47" name="TextBox 46"/>
          <p:cNvSpPr txBox="1"/>
          <p:nvPr/>
        </p:nvSpPr>
        <p:spPr>
          <a:xfrm>
            <a:off x="10032492" y="3785616"/>
            <a:ext cx="1306068" cy="402336"/>
          </a:xfrm>
          <a:prstGeom prst="rect">
            <a:avLst/>
          </a:prstGeom>
          <a:noFill/>
        </p:spPr>
        <p:txBody>
          <a:bodyPr wrap="square" anchor="ctr">
            <a:spAutoFit/>
          </a:bodyPr>
          <a:lstStyle/>
          <a:p>
            <a:pPr algn="ctr">
              <a:spcAft>
                <a:spcPts val="0"/>
              </a:spcAft>
            </a:pPr>
            <a:r>
              <a:rPr sz="800" b="0">
                <a:solidFill>
                  <a:srgbClr val="5B6372"/>
                </a:solidFill>
                <a:latin typeface="Arial"/>
              </a:rPr>
              <a:t>Root cause, improvement actions with owners and dates</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F59E0B"/>
                </a:solidFill>
                <a:latin typeface="Arial"/>
              </a:rPr>
              <a:t>THE QUESTION THAT EXPOSES THE GAP</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If your agent started leaking data at 09:00 on a Saturday, who switches it off, and how long does it take? Most organisations cannot answer.</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Hands-On Labs — Governance Controls Across the AI Lifecycle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9–10</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Govern the Data: Classification, Minimisation and Protection</a:t>
            </a:r>
          </a:p>
          <a:p>
            <a:pPr>
              <a:spcAft>
                <a:spcPts val="900"/>
              </a:spcAft>
            </a:pPr>
            <a:r>
              <a:rPr sz="1400" b="0">
                <a:solidFill>
                  <a:srgbClr val="161B26"/>
                </a:solidFill>
                <a:latin typeface="Arial"/>
              </a:rPr>
              <a:t>•  Red-Team an AI System Before Deployment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11–12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Design Deployment Gates and Continuous Monitoring</a:t>
            </a:r>
          </a:p>
          <a:p>
            <a:pPr>
              <a:spcAft>
                <a:spcPts val="900"/>
              </a:spcAft>
            </a:pPr>
            <a:r>
              <a:rPr sz="1400" b="0">
                <a:solidFill>
                  <a:srgbClr val="161B26"/>
                </a:solidFill>
                <a:latin typeface="Arial"/>
              </a:rPr>
              <a:t>•  Run an AI Incident Response Exercise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Govern the Data: Classification, Minimisation and Protection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Develop and apply data governance controls for an AI training set, including classification, minimisation, de-identification and retention.</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500" b="0">
                <a:solidFill>
                  <a:srgbClr val="161B26"/>
                </a:solidFill>
                <a:latin typeface="Arial"/>
              </a:rPr>
              <a:t>NovaBank wants to train a churn-prediction model on customer data. You will govern the dataset before a single model is trained: classify every field, strip what is not needed, de-identify what remains, and prove the protection using the Cryptography Toolkit for hashing and encryption.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governed training dataset specification: a field-by-field classification and minimisation decision, a de-identification method per field, and a tested hashing approach with retention rules.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Customer dataset (customer-training-data.csv, data-dictionary.md), Cryptography Toolkit (https://alfredang.github.io/cryptography-toolkit/)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000" b="0">
                <a:solidFill>
                  <a:srgbClr val="161B26"/>
                </a:solidFill>
                <a:latin typeface="Arial"/>
              </a:rPr>
              <a:t>You dropped at least eight fields with a stated reason, every retained personal field has a de-identification method, and you can explain to a business stakeholder why hashing an identifier is not the same as anonymising the record.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Classify all 24 fields</a:t>
            </a:r>
          </a:p>
        </p:txBody>
      </p:sp>
      <p:sp>
        <p:nvSpPr>
          <p:cNvPr id="12" name="TextBox 11"/>
          <p:cNvSpPr txBox="1"/>
          <p:nvPr/>
        </p:nvSpPr>
        <p:spPr>
          <a:xfrm>
            <a:off x="850392"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identifier · quasi · sensitive</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Minimise ruthlessly</a:t>
            </a:r>
          </a:p>
        </p:txBody>
      </p:sp>
      <p:sp>
        <p:nvSpPr>
          <p:cNvPr id="19" name="TextBox 18"/>
          <p:cNvSpPr txBox="1"/>
          <p:nvPr/>
        </p:nvSpPr>
        <p:spPr>
          <a:xfrm>
            <a:off x="3054096"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does churn need it?</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Choose the method per field</a:t>
            </a:r>
          </a:p>
        </p:txBody>
      </p:sp>
      <p:sp>
        <p:nvSpPr>
          <p:cNvPr id="26" name="TextBox 25"/>
          <p:cNvSpPr txBox="1"/>
          <p:nvPr/>
        </p:nvSpPr>
        <p:spPr>
          <a:xfrm>
            <a:off x="5257800"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remove · hash · generalise</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Test AES, RSA and ECDSA</a:t>
            </a:r>
          </a:p>
        </p:txBody>
      </p:sp>
      <p:sp>
        <p:nvSpPr>
          <p:cNvPr id="33" name="TextBox 32"/>
          <p:cNvSpPr txBox="1"/>
          <p:nvPr/>
        </p:nvSpPr>
        <p:spPr>
          <a:xfrm>
            <a:off x="7461504"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encryption is reversible</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Set retention and deletion</a:t>
            </a:r>
          </a:p>
        </p:txBody>
      </p:sp>
      <p:sp>
        <p:nvSpPr>
          <p:cNvPr id="40" name="TextBox 39"/>
          <p:cNvSpPr txBox="1"/>
          <p:nvPr/>
        </p:nvSpPr>
        <p:spPr>
          <a:xfrm>
            <a:off x="9665208"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and record the basis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Develop and apply data governance controls for an AI training set, including classification, minimisation, de-identification and retention.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Govern the Data: Classification, Minimisation and Protection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 dropped at least eight fields with a stated reason, every retained personal field has a de-identification method, and you can explain to a business stakeholder why hashing an identifier is not the same as anonymising the record.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Red-Team an AI System Before Deployment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Develop pre-deployment assurance by red-teaming an AI application for injection, access-control and data-leakage weaknesses, and record the evidence.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600" b="0">
                <a:solidFill>
                  <a:srgbClr val="161B26"/>
                </a:solidFill>
                <a:latin typeface="Arial"/>
              </a:rPr>
              <a:t>Testing that a model is accurate is not assurance. You will run an adversarial pre-deployment test against the FauxBank training sandbox, find the vulnerability classes that matter for an AI-enabled banking application, and produce the test evidence a deployment gate requires.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pre-deployment red-team report: findings with severity, evidence and OWASP mapping, extended with the AI-specific test cases and a go/no-go recommendation.</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FauxBank pentest sandbox (https://pentest-fauxbank.vercel.app/), Hacklab (https://alfredang.github.io/ethnicalhacking/), red-team report template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100" b="0">
                <a:solidFill>
                  <a:srgbClr val="161B26"/>
                </a:solidFill>
                <a:latin typeface="Arial"/>
              </a:rPr>
              <a:t>Your report contains findings from the sandbox with evidence and OWASP mapping, plus at least five AI-specific test cases the automated scanner could not produce. Your recommendation states conditions, not just a verdict.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fast" advClick="1">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Read the authorisation</a:t>
            </a:r>
          </a:p>
        </p:txBody>
      </p:sp>
      <p:sp>
        <p:nvSpPr>
          <p:cNvPr id="12" name="TextBox 11"/>
          <p:cNvSpPr txBox="1"/>
          <p:nvPr/>
        </p:nvSpPr>
        <p:spPr>
          <a:xfrm>
            <a:off x="850392"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sandbox, fictional data only</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Work the guided pentest</a:t>
            </a:r>
          </a:p>
        </p:txBody>
      </p:sp>
      <p:sp>
        <p:nvSpPr>
          <p:cNvPr id="19" name="TextBox 18"/>
          <p:cNvSpPr txBox="1"/>
          <p:nvPr/>
        </p:nvSpPr>
        <p:spPr>
          <a:xfrm>
            <a:off x="3054096"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evidence as you go</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Compare with the scanner</a:t>
            </a:r>
          </a:p>
        </p:txBody>
      </p:sp>
      <p:sp>
        <p:nvSpPr>
          <p:cNvPr id="26" name="TextBox 25"/>
          <p:cNvSpPr txBox="1"/>
          <p:nvPr/>
        </p:nvSpPr>
        <p:spPr>
          <a:xfrm>
            <a:off x="5257800"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each misses what the other finds</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Add the AI test cases</a:t>
            </a:r>
          </a:p>
        </p:txBody>
      </p:sp>
      <p:sp>
        <p:nvSpPr>
          <p:cNvPr id="33" name="TextBox 32"/>
          <p:cNvSpPr txBox="1"/>
          <p:nvPr/>
        </p:nvSpPr>
        <p:spPr>
          <a:xfrm>
            <a:off x="7461504"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injection · extraction · leakage</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Report with conditions</a:t>
            </a:r>
          </a:p>
        </p:txBody>
      </p:sp>
      <p:sp>
        <p:nvSpPr>
          <p:cNvPr id="40" name="TextBox 39"/>
          <p:cNvSpPr txBox="1"/>
          <p:nvPr/>
        </p:nvSpPr>
        <p:spPr>
          <a:xfrm>
            <a:off x="9665208"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a verdict is not assurance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Develop pre-deployment assurance by red-teaming an AI application for injection, access-control and data-leakage weaknesses, and record the evidence.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Red-Team an AI System Before Deployment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report contains findings from the sandbox with evidence and OWASP mapping, plus at least five AI-specific test cases the automated scanner could not produce. Your recommendation states conditions, not just a verdict.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fast" advClick="1">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Design Deployment Gates and Continuous Monitoring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Develop the deployment gate and the monitoring regime that keep an AI system governed after it goes live.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500" b="0">
                <a:solidFill>
                  <a:srgbClr val="161B26"/>
                </a:solidFill>
                <a:latin typeface="Arial"/>
              </a:rPr>
              <a:t>Most AI governance stops at launch, which is exactly where AI risk begins to change. You will design NovaBank's deployment gate — the evidence required to go live — and the monitoring regime that detects drift, abuse and failure afterwards, with defined thresholds and response actions.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deployment gate checklist with named approvers, plus a monitoring specification with ten metrics, thresholds, alert routing and response actions.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Deployment gate template, monitoring log extract (agent-monitoring-log.csv), threshold worksheet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Every one of your ten metrics has a numeric threshold and a named response action. Using the log extract you can point to at least three anomalies and state which of your alerts would have fired on each.</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List the gate evidence</a:t>
            </a:r>
          </a:p>
        </p:txBody>
      </p:sp>
      <p:sp>
        <p:nvSpPr>
          <p:cNvPr id="12" name="TextBox 11"/>
          <p:cNvSpPr txBox="1"/>
          <p:nvPr/>
        </p:nvSpPr>
        <p:spPr>
          <a:xfrm>
            <a:off x="850392"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documents, not intentions</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Assign approvers</a:t>
            </a:r>
          </a:p>
        </p:txBody>
      </p:sp>
      <p:sp>
        <p:nvSpPr>
          <p:cNvPr id="19" name="TextBox 18"/>
          <p:cNvSpPr txBox="1"/>
          <p:nvPr/>
        </p:nvSpPr>
        <p:spPr>
          <a:xfrm>
            <a:off x="3054096"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reuse the Lab 7 RACI</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Find the log anomalies</a:t>
            </a:r>
          </a:p>
        </p:txBody>
      </p:sp>
      <p:sp>
        <p:nvSpPr>
          <p:cNvPr id="26" name="TextBox 25"/>
          <p:cNvSpPr txBox="1"/>
          <p:nvPr/>
        </p:nvSpPr>
        <p:spPr>
          <a:xfrm>
            <a:off x="5257800"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burst · refusals · injection</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Set ten thresholds</a:t>
            </a:r>
          </a:p>
        </p:txBody>
      </p:sp>
      <p:sp>
        <p:nvSpPr>
          <p:cNvPr id="33" name="TextBox 32"/>
          <p:cNvSpPr txBox="1"/>
          <p:nvPr/>
        </p:nvSpPr>
        <p:spPr>
          <a:xfrm>
            <a:off x="7461504"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a metric needs a number</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Define the response</a:t>
            </a:r>
          </a:p>
        </p:txBody>
      </p:sp>
      <p:sp>
        <p:nvSpPr>
          <p:cNvPr id="40" name="TextBox 39"/>
          <p:cNvSpPr txBox="1"/>
          <p:nvPr/>
        </p:nvSpPr>
        <p:spPr>
          <a:xfrm>
            <a:off x="9665208"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who acts, and when to disable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Develop the deployment gate and the monitoring regime that keep an AI system governed after it goes live.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Design Deployment Gates and Continuous Monitoring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one of your ten metrics has a numeric threshold and a named response action. Using the log extract you can point to at least three anomalies and state which of your alerts would have fired on each.</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fast"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Run an AI Incident Response Exercise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lifecycle governance under pressure by running an AI security incident from detection through containment, assessment, notification and lessons learned.</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 tabletop exercise tests whether your governance survives contact with reality. The trainer will run a prompt-injection incident against NovaAssist in timed injects. You will respond as the governance team, making the decisions your operating model says you own.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incident record: timeline, containment decision, personal-data impact assessment, PDPA notification determination and five improvement actions.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Incident inject pack (incident-injects.md), incident record template, Lab 7 operating model</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000" b="0">
                <a:solidFill>
                  <a:srgbClr val="161B26"/>
                </a:solidFill>
                <a:latin typeface="Arial"/>
              </a:rPr>
              <a:t>Your incident record has a timestamped timeline, a containment decision with a named authoriser, a reasoned PDPA notification determination, and five improvement actions with owners. You can name the single control that would have prevented the incident.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fast" advClick="1">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Take your role</a:t>
            </a:r>
          </a:p>
        </p:txBody>
      </p:sp>
      <p:sp>
        <p:nvSpPr>
          <p:cNvPr id="12" name="TextBox 11"/>
          <p:cNvSpPr txBox="1"/>
          <p:nvPr/>
        </p:nvSpPr>
        <p:spPr>
          <a:xfrm>
            <a:off x="850392"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and answer only for it</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Contain the incident</a:t>
            </a:r>
          </a:p>
        </p:txBody>
      </p:sp>
      <p:sp>
        <p:nvSpPr>
          <p:cNvPr id="19" name="TextBox 18"/>
          <p:cNvSpPr txBox="1"/>
          <p:nvPr/>
        </p:nvSpPr>
        <p:spPr>
          <a:xfrm>
            <a:off x="3054096"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who authorises, how fast?</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Preserve the evidence</a:t>
            </a:r>
          </a:p>
        </p:txBody>
      </p:sp>
      <p:sp>
        <p:nvSpPr>
          <p:cNvPr id="26" name="TextBox 25"/>
          <p:cNvSpPr txBox="1"/>
          <p:nvPr/>
        </p:nvSpPr>
        <p:spPr>
          <a:xfrm>
            <a:off x="5257800"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before anything is reset</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Assess the data impact</a:t>
            </a:r>
          </a:p>
        </p:txBody>
      </p:sp>
      <p:sp>
        <p:nvSpPr>
          <p:cNvPr id="33" name="TextBox 32"/>
          <p:cNvSpPr txBox="1"/>
          <p:nvPr/>
        </p:nvSpPr>
        <p:spPr>
          <a:xfrm>
            <a:off x="7461504"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and the PDPA threshold</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Notify, then learn</a:t>
            </a:r>
          </a:p>
        </p:txBody>
      </p:sp>
      <p:sp>
        <p:nvSpPr>
          <p:cNvPr id="40" name="TextBox 39"/>
          <p:cNvSpPr txBox="1"/>
          <p:nvPr/>
        </p:nvSpPr>
        <p:spPr>
          <a:xfrm>
            <a:off x="9665208"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five actions with owners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Apply lifecycle governance under pressure by running an AI security incident from detection through containment, assessment, notification and lessons learned.</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Run an AI Incident Response Exercise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incident record has a timestamped timeline, a containment decision with a named authoriser, a reasoned PDPA notification determination, and five improvement actions with owners. You can name the single control that would have prevented the incident.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Governance Controls Across the AI Lifecycle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Develop and apply data governance controls for an AI training set, including classification, minimisation, de-identification and retention.</a:t>
            </a:r>
          </a:p>
          <a:p>
            <a:pPr>
              <a:spcAft>
                <a:spcPts val="1000"/>
              </a:spcAft>
            </a:pPr>
            <a:r>
              <a:rPr sz="1700" b="0">
                <a:solidFill>
                  <a:srgbClr val="161B26"/>
                </a:solidFill>
                <a:latin typeface="Arial"/>
              </a:rPr>
              <a:t>•  You can now: Develop pre-deployment assurance by red-teaming an AI application for injection, access-control and data-leakage weaknesses, and record the evidence.</a:t>
            </a:r>
          </a:p>
          <a:p>
            <a:pPr>
              <a:spcAft>
                <a:spcPts val="1000"/>
              </a:spcAft>
            </a:pPr>
            <a:r>
              <a:rPr sz="1700" b="0">
                <a:solidFill>
                  <a:srgbClr val="161B26"/>
                </a:solidFill>
                <a:latin typeface="Arial"/>
              </a:rPr>
              <a:t>•  You can now: Develop the deployment gate and the monitoring regime that keep an AI system governed after it goes live.</a:t>
            </a:r>
          </a:p>
          <a:p>
            <a:pPr>
              <a:spcAft>
                <a:spcPts val="1000"/>
              </a:spcAft>
            </a:pPr>
            <a:r>
              <a:rPr sz="1700" b="0">
                <a:solidFill>
                  <a:srgbClr val="161B26"/>
                </a:solidFill>
                <a:latin typeface="Arial"/>
              </a:rPr>
              <a:t>•  You can now: Apply lifecycle governance under pressure by running an AI security incident from detection through containment, assessment, notification and lessons learned.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10424160" cy="1417320"/>
          </a:xfrm>
          <a:prstGeom prst="rect">
            <a:avLst/>
          </a:prstGeom>
          <a:noFill/>
        </p:spPr>
        <p:txBody>
          <a:bodyPr wrap="square" anchor="t">
            <a:spAutoFit/>
          </a:bodyPr>
          <a:lstStyle/>
          <a:p>
            <a:pPr algn="l">
              <a:spcAft>
                <a:spcPts val="400"/>
              </a:spcAft>
            </a:pPr>
            <a:r>
              <a:rPr sz="3800" b="1">
                <a:solidFill>
                  <a:srgbClr val="161B26"/>
                </a:solidFill>
                <a:latin typeface="Arial"/>
              </a:rPr>
              <a:t>Security Controls for Agentic AI, Risk Assessment and Implementation Roadmap</a:t>
            </a:r>
          </a:p>
        </p:txBody>
      </p:sp>
      <p:sp>
        <p:nvSpPr>
          <p:cNvPr id="7" name="TextBox 6"/>
          <p:cNvSpPr txBox="1"/>
          <p:nvPr/>
        </p:nvSpPr>
        <p:spPr>
          <a:xfrm>
            <a:off x="1161288" y="4224528"/>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Agentic threat model · identity and least agency · guardrails and sandboxing · CSA agentic RMF profile · risk assessment · roadmap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med" advClick="1">
    <p:push dir="l"/>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Key Concepts — Security Controls for Agentic AI, Risk Assessment and Implementation Roadmap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200" b="1">
                <a:solidFill>
                  <a:srgbClr val="161B26"/>
                </a:solidFill>
                <a:latin typeface="Arial"/>
              </a:rPr>
              <a:t>What makes an agent different</a:t>
            </a:r>
          </a:p>
          <a:p>
            <a:pPr algn="l">
              <a:spcAft>
                <a:spcPts val="300"/>
              </a:spcAft>
            </a:pPr>
            <a:r>
              <a:rPr sz="800" b="0">
                <a:solidFill>
                  <a:srgbClr val="5B6372"/>
                </a:solidFill>
                <a:latin typeface="Arial"/>
              </a:rPr>
              <a:t>An agent plans, calls tools, keeps memory and acts — so its risk is set by the tools it can reach, not only by what the model says.</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200" b="1">
                <a:solidFill>
                  <a:srgbClr val="161B26"/>
                </a:solidFill>
                <a:latin typeface="Arial"/>
              </a:rPr>
              <a:t>The lethal trifecta</a:t>
            </a:r>
          </a:p>
          <a:p>
            <a:pPr algn="l">
              <a:spcAft>
                <a:spcPts val="300"/>
              </a:spcAft>
            </a:pPr>
            <a:r>
              <a:rPr sz="800" b="0">
                <a:solidFill>
                  <a:srgbClr val="5B6372"/>
                </a:solidFill>
                <a:latin typeface="Arial"/>
              </a:rPr>
              <a:t>Private data access + exposure to untrusted content + the ability to communicate externally. Remove any one leg and mass exfiltration becomes far harder.</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200" b="1">
                <a:solidFill>
                  <a:srgbClr val="161B26"/>
                </a:solidFill>
                <a:latin typeface="Arial"/>
              </a:rPr>
              <a:t>OWASP Agentic Security Top 10</a:t>
            </a:r>
          </a:p>
          <a:p>
            <a:pPr algn="l">
              <a:spcAft>
                <a:spcPts val="300"/>
              </a:spcAft>
            </a:pPr>
            <a:r>
              <a:rPr sz="800" b="0">
                <a:solidFill>
                  <a:srgbClr val="5B6372"/>
                </a:solidFill>
                <a:latin typeface="Arial"/>
              </a:rPr>
              <a:t>Goal hijack, tool misuse, identity and authorisation failures, supply chain, code execution, memory poisoning, RAG poisoning, excessive agency, weak isolation and poor operator oversight.</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200" b="1">
                <a:solidFill>
                  <a:srgbClr val="161B26"/>
                </a:solidFill>
                <a:latin typeface="Arial"/>
              </a:rPr>
              <a:t>Agent identity is not user identity</a:t>
            </a:r>
          </a:p>
          <a:p>
            <a:pPr algn="l">
              <a:spcAft>
                <a:spcPts val="300"/>
              </a:spcAft>
            </a:pPr>
            <a:r>
              <a:rPr sz="800" b="0">
                <a:solidFill>
                  <a:srgbClr val="5B6372"/>
                </a:solidFill>
                <a:latin typeface="Arial"/>
              </a:rPr>
              <a:t>Each agent needs its own distinct identity, scoped credentials and audit trail so every action is attributable to an accountable owner.</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300" b="1">
                <a:solidFill>
                  <a:srgbClr val="161B26"/>
                </a:solidFill>
                <a:latin typeface="Arial"/>
              </a:rPr>
              <a:t>Least agency, not just least privilege</a:t>
            </a:r>
          </a:p>
          <a:p>
            <a:pPr algn="l">
              <a:spcAft>
                <a:spcPts val="300"/>
              </a:spcAft>
            </a:pPr>
            <a:r>
              <a:rPr sz="900" b="0">
                <a:solidFill>
                  <a:srgbClr val="5B6372"/>
                </a:solidFill>
                <a:latin typeface="Arial"/>
              </a:rPr>
              <a:t>Constrain what an agent is allowed to decide, separately from what its credentials permit — the two are different controls.</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200" b="1">
                <a:solidFill>
                  <a:srgbClr val="161B26"/>
                </a:solidFill>
                <a:latin typeface="Arial"/>
              </a:rPr>
              <a:t>Guardrails at the model boundary</a:t>
            </a:r>
          </a:p>
          <a:p>
            <a:pPr algn="l">
              <a:spcAft>
                <a:spcPts val="300"/>
              </a:spcAft>
            </a:pPr>
            <a:r>
              <a:rPr sz="800" b="0">
                <a:solidFill>
                  <a:srgbClr val="5B6372"/>
                </a:solidFill>
                <a:latin typeface="Arial"/>
              </a:rPr>
              <a:t>Input and output filtering for PII, jailbreak attempts, prompt injection and unsafe content — a necessary first wave, but never sufficient on its own.</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300" b="1">
                <a:solidFill>
                  <a:srgbClr val="161B26"/>
                </a:solidFill>
                <a:latin typeface="Arial"/>
              </a:rPr>
              <a:t>Permission ladders and approvals</a:t>
            </a:r>
          </a:p>
          <a:p>
            <a:pPr algn="l">
              <a:spcAft>
                <a:spcPts val="300"/>
              </a:spcAft>
            </a:pPr>
            <a:r>
              <a:rPr sz="900" b="0">
                <a:solidFill>
                  <a:srgbClr val="5B6372"/>
                </a:solidFill>
                <a:latin typeface="Arial"/>
              </a:rPr>
              <a:t>Tool calls are authorised before execution by policy: deny, ask, or allow. Irreversible actions require a human approval gate.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Key Concepts — Security Controls for Agentic AI, Risk Assessment and Implementation Roadmap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200" b="1">
                <a:solidFill>
                  <a:srgbClr val="161B26"/>
                </a:solidFill>
                <a:latin typeface="Arial"/>
              </a:rPr>
              <a:t>Approval fatigue is a real control failure</a:t>
            </a:r>
          </a:p>
          <a:p>
            <a:pPr algn="l">
              <a:spcAft>
                <a:spcPts val="300"/>
              </a:spcAft>
            </a:pPr>
            <a:r>
              <a:rPr sz="800" b="0">
                <a:solidFill>
                  <a:srgbClr val="5B6372"/>
                </a:solidFill>
                <a:latin typeface="Arial"/>
              </a:rPr>
              <a:t>If almost every action prompts for approval, approval becomes telemetry rather than control — tune thresholds and measure the edit rate, not just the approval rate.</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200" b="1">
                <a:solidFill>
                  <a:srgbClr val="161B26"/>
                </a:solidFill>
                <a:latin typeface="Arial"/>
              </a:rPr>
              <a:t>Sandboxing and blast radius</a:t>
            </a:r>
          </a:p>
          <a:p>
            <a:pPr algn="l">
              <a:spcAft>
                <a:spcPts val="300"/>
              </a:spcAft>
            </a:pPr>
            <a:r>
              <a:rPr sz="800" b="0">
                <a:solidFill>
                  <a:srgbClr val="5B6372"/>
                </a:solidFill>
                <a:latin typeface="Arial"/>
              </a:rPr>
              <a:t>Run agent code with OS-level isolation, restricted network egress and a scoped workspace so a compromised agent cannot reach beyond its task.</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200" b="1">
                <a:solidFill>
                  <a:srgbClr val="161B26"/>
                </a:solidFill>
                <a:latin typeface="Arial"/>
              </a:rPr>
              <a:t>CSA agentic extensions to the NIST AI RMF</a:t>
            </a:r>
          </a:p>
          <a:p>
            <a:pPr algn="l">
              <a:spcAft>
                <a:spcPts val="300"/>
              </a:spcAft>
            </a:pPr>
            <a:r>
              <a:rPr sz="800" b="0">
                <a:solidFill>
                  <a:srgbClr val="5B6372"/>
                </a:solidFill>
                <a:latin typeface="Arial"/>
              </a:rPr>
              <a:t>Autonomy-tier classification, delegation accountability and an agent registry (GOVERN); tool-risk and action-consequence analysis (MAP); behavioural telemetry (MEASURE); agentic incident playbooks and decommissioning (MANAGE).</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200" b="1">
                <a:solidFill>
                  <a:srgbClr val="161B26"/>
                </a:solidFill>
                <a:latin typeface="Arial"/>
              </a:rPr>
              <a:t>Autonomy tiering</a:t>
            </a:r>
          </a:p>
          <a:p>
            <a:pPr algn="l">
              <a:spcAft>
                <a:spcPts val="300"/>
              </a:spcAft>
            </a:pPr>
            <a:r>
              <a:rPr sz="800" b="0">
                <a:solidFill>
                  <a:srgbClr val="5B6372"/>
                </a:solidFill>
                <a:latin typeface="Arial"/>
              </a:rPr>
              <a:t>Tier 1 supervised, Tier 2 constrained, Tier 3 broad with monitoring, Tier 4 full autonomy — each tier carries escalating oversight obligations.</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200" b="1">
                <a:solidFill>
                  <a:srgbClr val="161B26"/>
                </a:solidFill>
                <a:latin typeface="Arial"/>
              </a:rPr>
              <a:t>Structured AI risk assessment</a:t>
            </a:r>
          </a:p>
          <a:p>
            <a:pPr algn="l">
              <a:spcAft>
                <a:spcPts val="300"/>
              </a:spcAft>
            </a:pPr>
            <a:r>
              <a:rPr sz="800" b="0">
                <a:solidFill>
                  <a:srgbClr val="5B6372"/>
                </a:solidFill>
                <a:latin typeface="Arial"/>
              </a:rPr>
              <a:t>Identify the asset and use case, name the threats, rate likelihood and impact, map existing controls, compute residual risk and assign a treatment and owner.</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200" b="1">
                <a:solidFill>
                  <a:srgbClr val="161B26"/>
                </a:solidFill>
                <a:latin typeface="Arial"/>
              </a:rPr>
              <a:t>Prioritising the roadmap</a:t>
            </a:r>
          </a:p>
          <a:p>
            <a:pPr algn="l">
              <a:spcAft>
                <a:spcPts val="300"/>
              </a:spcAft>
            </a:pPr>
            <a:r>
              <a:rPr sz="800" b="0">
                <a:solidFill>
                  <a:srgbClr val="5B6372"/>
                </a:solidFill>
                <a:latin typeface="Arial"/>
              </a:rPr>
              <a:t>Sequence by risk reduction per unit of effort: quick wins first (inventory, acceptable use, logging), then structural controls, then assurance and automation.</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200" b="1">
                <a:solidFill>
                  <a:srgbClr val="161B26"/>
                </a:solidFill>
                <a:latin typeface="Arial"/>
              </a:rPr>
              <a:t>Maturity and metrics</a:t>
            </a:r>
          </a:p>
          <a:p>
            <a:pPr algn="l">
              <a:spcAft>
                <a:spcPts val="300"/>
              </a:spcAft>
            </a:pPr>
            <a:r>
              <a:rPr sz="800" b="0">
                <a:solidFill>
                  <a:srgbClr val="5B6372"/>
                </a:solidFill>
                <a:latin typeface="Arial"/>
              </a:rPr>
              <a:t>Track inventory coverage, percentage of systems risk-assessed, time to disable an agent, incident count and mean time to respond — governance that is not measured does not persist.</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fast" advClick="1">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LO4 · THE AGENTIC DIFFERENCE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Why Agents Need Their Own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Risk follows the tools</a:t>
            </a:r>
          </a:p>
          <a:p>
            <a:pPr algn="l">
              <a:spcAft>
                <a:spcPts val="300"/>
              </a:spcAft>
            </a:pPr>
            <a:r>
              <a:rPr sz="1200" b="0">
                <a:solidFill>
                  <a:srgbClr val="5B6372"/>
                </a:solidFill>
                <a:latin typeface="Arial"/>
              </a:rPr>
              <a:t>The model's words are not the risk. What the agent can DO — send, write, pay, freeze, delete — is the risk.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 human pace limit</a:t>
            </a:r>
          </a:p>
          <a:p>
            <a:pPr algn="l">
              <a:spcAft>
                <a:spcPts val="300"/>
              </a:spcAft>
            </a:pPr>
            <a:r>
              <a:rPr sz="1200" b="0">
                <a:solidFill>
                  <a:srgbClr val="5B6372"/>
                </a:solidFill>
                <a:latin typeface="Arial"/>
              </a:rPr>
              <a:t>An agent repeats an action hundreds of times in the time a person takes to notice one.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Memory persists</a:t>
            </a:r>
          </a:p>
          <a:p>
            <a:pPr algn="l">
              <a:spcAft>
                <a:spcPts val="300"/>
              </a:spcAft>
            </a:pPr>
            <a:r>
              <a:rPr sz="1200" b="0">
                <a:solidFill>
                  <a:srgbClr val="5B6372"/>
                </a:solidFill>
                <a:latin typeface="Arial"/>
              </a:rPr>
              <a:t>Poisoned content that enters agent memory keeps influencing behaviour long after the original input.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Delegation diffuses accountability</a:t>
            </a:r>
          </a:p>
          <a:p>
            <a:pPr algn="l">
              <a:spcAft>
                <a:spcPts val="300"/>
              </a:spcAft>
            </a:pPr>
            <a:r>
              <a:rPr sz="1200" b="0">
                <a:solidFill>
                  <a:srgbClr val="5B6372"/>
                </a:solidFill>
                <a:latin typeface="Arial"/>
              </a:rPr>
              <a:t>When an agent instructs a sub-agent, who approved that instruction? Usually nobody.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Identity is often shared</a:t>
            </a:r>
          </a:p>
          <a:p>
            <a:pPr algn="l">
              <a:spcAft>
                <a:spcPts val="300"/>
              </a:spcAft>
            </a:pPr>
            <a:r>
              <a:rPr sz="1200" b="0">
                <a:solidFill>
                  <a:srgbClr val="5B6372"/>
                </a:solidFill>
                <a:latin typeface="Arial"/>
              </a:rPr>
              <a:t>One service account for the agent means every action is attributable to 'the app', not to an owner.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Frameworks lag</a:t>
            </a:r>
          </a:p>
          <a:p>
            <a:pPr algn="l">
              <a:spcAft>
                <a:spcPts val="300"/>
              </a:spcAft>
            </a:pPr>
            <a:r>
              <a:rPr sz="1200" b="0">
                <a:solidFill>
                  <a:srgbClr val="5B6372"/>
                </a:solidFill>
                <a:latin typeface="Arial"/>
              </a:rPr>
              <a:t>The NIST AI RMF treats a read-only recommender and an autonomous executor identically. The CSA profile closes that gap.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fast" advClick="1">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SIX LAYERS, NOT ONE FILTER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Defence in Depth for an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3063240"/>
            <a:ext cx="1232916" cy="969264"/>
          </a:xfrm>
          <a:prstGeom prst="rect">
            <a:avLst/>
          </a:prstGeom>
          <a:noFill/>
        </p:spPr>
        <p:txBody>
          <a:bodyPr wrap="square" anchor="ctr">
            <a:spAutoFit/>
          </a:bodyPr>
          <a:lstStyle/>
          <a:p>
            <a:pPr algn="ctr">
              <a:spcAft>
                <a:spcPts val="0"/>
              </a:spcAft>
            </a:pPr>
            <a:r>
              <a:rPr sz="1300" b="1">
                <a:solidFill>
                  <a:srgbClr val="161B26"/>
                </a:solidFill>
                <a:latin typeface="Arial"/>
              </a:rPr>
              <a:t>Identity</a:t>
            </a:r>
          </a:p>
        </p:txBody>
      </p:sp>
      <p:sp>
        <p:nvSpPr>
          <p:cNvPr id="12" name="TextBox 11"/>
          <p:cNvSpPr txBox="1"/>
          <p:nvPr/>
        </p:nvSpPr>
        <p:spPr>
          <a:xfrm>
            <a:off x="850392" y="3785616"/>
            <a:ext cx="1306068" cy="402336"/>
          </a:xfrm>
          <a:prstGeom prst="rect">
            <a:avLst/>
          </a:prstGeom>
          <a:noFill/>
        </p:spPr>
        <p:txBody>
          <a:bodyPr wrap="square" anchor="ctr">
            <a:spAutoFit/>
          </a:bodyPr>
          <a:lstStyle/>
          <a:p>
            <a:pPr algn="ctr">
              <a:spcAft>
                <a:spcPts val="0"/>
              </a:spcAft>
            </a:pPr>
            <a:r>
              <a:rPr sz="800" b="0">
                <a:solidFill>
                  <a:srgbClr val="5B6372"/>
                </a:solidFill>
                <a:latin typeface="Arial"/>
              </a:rPr>
              <a:t>Its own identity, scoped short-lived credentials</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23388" y="3063240"/>
            <a:ext cx="1232916" cy="969264"/>
          </a:xfrm>
          <a:prstGeom prst="rect">
            <a:avLst/>
          </a:prstGeom>
          <a:noFill/>
        </p:spPr>
        <p:txBody>
          <a:bodyPr wrap="square" anchor="ctr">
            <a:spAutoFit/>
          </a:bodyPr>
          <a:lstStyle/>
          <a:p>
            <a:pPr algn="ctr">
              <a:spcAft>
                <a:spcPts val="0"/>
              </a:spcAft>
            </a:pPr>
            <a:r>
              <a:rPr sz="1300" b="1">
                <a:solidFill>
                  <a:srgbClr val="161B26"/>
                </a:solidFill>
                <a:latin typeface="Arial"/>
              </a:rPr>
              <a:t>Guardrails</a:t>
            </a:r>
          </a:p>
        </p:txBody>
      </p:sp>
      <p:sp>
        <p:nvSpPr>
          <p:cNvPr id="19" name="TextBox 18"/>
          <p:cNvSpPr txBox="1"/>
          <p:nvPr/>
        </p:nvSpPr>
        <p:spPr>
          <a:xfrm>
            <a:off x="2686812" y="3785616"/>
            <a:ext cx="1306068" cy="402336"/>
          </a:xfrm>
          <a:prstGeom prst="rect">
            <a:avLst/>
          </a:prstGeom>
          <a:noFill/>
        </p:spPr>
        <p:txBody>
          <a:bodyPr wrap="square" anchor="ctr">
            <a:spAutoFit/>
          </a:bodyPr>
          <a:lstStyle/>
          <a:p>
            <a:pPr algn="ctr">
              <a:spcAft>
                <a:spcPts val="0"/>
              </a:spcAft>
            </a:pPr>
            <a:r>
              <a:rPr sz="800" b="0">
                <a:solidFill>
                  <a:srgbClr val="5B6372"/>
                </a:solidFill>
                <a:latin typeface="Arial"/>
              </a:rPr>
              <a:t>Input and output filtering at the model boundary</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59808" y="3063240"/>
            <a:ext cx="1232916" cy="969264"/>
          </a:xfrm>
          <a:prstGeom prst="rect">
            <a:avLst/>
          </a:prstGeom>
          <a:noFill/>
        </p:spPr>
        <p:txBody>
          <a:bodyPr wrap="square" anchor="ctr">
            <a:spAutoFit/>
          </a:bodyPr>
          <a:lstStyle/>
          <a:p>
            <a:pPr algn="ctr">
              <a:spcAft>
                <a:spcPts val="0"/>
              </a:spcAft>
            </a:pPr>
            <a:r>
              <a:rPr sz="1300" b="1">
                <a:solidFill>
                  <a:srgbClr val="161B26"/>
                </a:solidFill>
                <a:latin typeface="Arial"/>
              </a:rPr>
              <a:t>Permission ladder</a:t>
            </a:r>
          </a:p>
        </p:txBody>
      </p:sp>
      <p:sp>
        <p:nvSpPr>
          <p:cNvPr id="26" name="TextBox 25"/>
          <p:cNvSpPr txBox="1"/>
          <p:nvPr/>
        </p:nvSpPr>
        <p:spPr>
          <a:xfrm>
            <a:off x="4523232" y="3785616"/>
            <a:ext cx="1306068" cy="402336"/>
          </a:xfrm>
          <a:prstGeom prst="rect">
            <a:avLst/>
          </a:prstGeom>
          <a:noFill/>
        </p:spPr>
        <p:txBody>
          <a:bodyPr wrap="square" anchor="ctr">
            <a:spAutoFit/>
          </a:bodyPr>
          <a:lstStyle/>
          <a:p>
            <a:pPr algn="ctr">
              <a:spcAft>
                <a:spcPts val="0"/>
              </a:spcAft>
            </a:pPr>
            <a:r>
              <a:rPr sz="800" b="0">
                <a:solidFill>
                  <a:srgbClr val="5B6372"/>
                </a:solidFill>
                <a:latin typeface="Arial"/>
              </a:rPr>
              <a:t>Deny / ask / allow, evaluated before the tool runs</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396228" y="3063240"/>
            <a:ext cx="1232916" cy="969264"/>
          </a:xfrm>
          <a:prstGeom prst="rect">
            <a:avLst/>
          </a:prstGeom>
          <a:noFill/>
        </p:spPr>
        <p:txBody>
          <a:bodyPr wrap="square" anchor="ctr">
            <a:spAutoFit/>
          </a:bodyPr>
          <a:lstStyle/>
          <a:p>
            <a:pPr algn="ctr">
              <a:spcAft>
                <a:spcPts val="0"/>
              </a:spcAft>
            </a:pPr>
            <a:r>
              <a:rPr sz="1300" b="1">
                <a:solidFill>
                  <a:srgbClr val="161B26"/>
                </a:solidFill>
                <a:latin typeface="Arial"/>
              </a:rPr>
              <a:t>Sandbox</a:t>
            </a:r>
          </a:p>
        </p:txBody>
      </p:sp>
      <p:sp>
        <p:nvSpPr>
          <p:cNvPr id="33" name="TextBox 32"/>
          <p:cNvSpPr txBox="1"/>
          <p:nvPr/>
        </p:nvSpPr>
        <p:spPr>
          <a:xfrm>
            <a:off x="6359652" y="3785616"/>
            <a:ext cx="1306068" cy="402336"/>
          </a:xfrm>
          <a:prstGeom prst="rect">
            <a:avLst/>
          </a:prstGeom>
          <a:noFill/>
        </p:spPr>
        <p:txBody>
          <a:bodyPr wrap="square" anchor="ctr">
            <a:spAutoFit/>
          </a:bodyPr>
          <a:lstStyle/>
          <a:p>
            <a:pPr algn="ctr">
              <a:spcAft>
                <a:spcPts val="0"/>
              </a:spcAft>
            </a:pPr>
            <a:r>
              <a:rPr sz="800" b="0">
                <a:solidFill>
                  <a:srgbClr val="5B6372"/>
                </a:solidFill>
                <a:latin typeface="Arial"/>
              </a:rPr>
              <a:t>Restricted filesystem, egress and workspace</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32648" y="3063240"/>
            <a:ext cx="1232916" cy="969264"/>
          </a:xfrm>
          <a:prstGeom prst="rect">
            <a:avLst/>
          </a:prstGeom>
          <a:noFill/>
        </p:spPr>
        <p:txBody>
          <a:bodyPr wrap="square" anchor="ctr">
            <a:spAutoFit/>
          </a:bodyPr>
          <a:lstStyle/>
          <a:p>
            <a:pPr algn="ctr">
              <a:spcAft>
                <a:spcPts val="0"/>
              </a:spcAft>
            </a:pPr>
            <a:r>
              <a:rPr sz="1300" b="1">
                <a:solidFill>
                  <a:srgbClr val="161B26"/>
                </a:solidFill>
                <a:latin typeface="Arial"/>
              </a:rPr>
              <a:t>Human gate</a:t>
            </a:r>
          </a:p>
        </p:txBody>
      </p:sp>
      <p:sp>
        <p:nvSpPr>
          <p:cNvPr id="40" name="TextBox 39"/>
          <p:cNvSpPr txBox="1"/>
          <p:nvPr/>
        </p:nvSpPr>
        <p:spPr>
          <a:xfrm>
            <a:off x="8196072" y="3785616"/>
            <a:ext cx="1306068" cy="402336"/>
          </a:xfrm>
          <a:prstGeom prst="rect">
            <a:avLst/>
          </a:prstGeom>
          <a:noFill/>
        </p:spPr>
        <p:txBody>
          <a:bodyPr wrap="square" anchor="ctr">
            <a:spAutoFit/>
          </a:bodyPr>
          <a:lstStyle/>
          <a:p>
            <a:pPr algn="ctr">
              <a:spcAft>
                <a:spcPts val="0"/>
              </a:spcAft>
            </a:pPr>
            <a:r>
              <a:rPr sz="800" b="0">
                <a:solidFill>
                  <a:srgbClr val="5B6372"/>
                </a:solidFill>
                <a:latin typeface="Arial"/>
              </a:rPr>
              <a:t>Approval on irreversible and outbound actions</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69068" y="3063240"/>
            <a:ext cx="1232916" cy="969264"/>
          </a:xfrm>
          <a:prstGeom prst="rect">
            <a:avLst/>
          </a:prstGeom>
          <a:noFill/>
        </p:spPr>
        <p:txBody>
          <a:bodyPr wrap="square" anchor="ctr">
            <a:spAutoFit/>
          </a:bodyPr>
          <a:lstStyle/>
          <a:p>
            <a:pPr algn="ctr">
              <a:spcAft>
                <a:spcPts val="0"/>
              </a:spcAft>
            </a:pPr>
            <a:r>
              <a:rPr sz="1300" b="1">
                <a:solidFill>
                  <a:srgbClr val="161B26"/>
                </a:solidFill>
                <a:latin typeface="Arial"/>
              </a:rPr>
              <a:t>Audit trail</a:t>
            </a:r>
          </a:p>
        </p:txBody>
      </p:sp>
      <p:sp>
        <p:nvSpPr>
          <p:cNvPr id="47" name="TextBox 46"/>
          <p:cNvSpPr txBox="1"/>
          <p:nvPr/>
        </p:nvSpPr>
        <p:spPr>
          <a:xfrm>
            <a:off x="10032492" y="3785616"/>
            <a:ext cx="1306068" cy="402336"/>
          </a:xfrm>
          <a:prstGeom prst="rect">
            <a:avLst/>
          </a:prstGeom>
          <a:noFill/>
        </p:spPr>
        <p:txBody>
          <a:bodyPr wrap="square" anchor="ctr">
            <a:spAutoFit/>
          </a:bodyPr>
          <a:lstStyle/>
          <a:p>
            <a:pPr algn="ctr">
              <a:spcAft>
                <a:spcPts val="0"/>
              </a:spcAft>
            </a:pPr>
            <a:r>
              <a:rPr sz="800" b="0">
                <a:solidFill>
                  <a:srgbClr val="5B6372"/>
                </a:solidFill>
                <a:latin typeface="Arial"/>
              </a:rPr>
              <a:t>Who approved what, when and why — reconstructable</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PERMISSION IS INFRASTRUCTURE, NOT PROMPT</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rule written in the system prompt is a request. A rule enforced before the tool executes is a control. Only the second survives an injection.</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LO4 · HONEST ABOUT LIMITS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Each Layer Can and Cannot Do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Layer</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Stops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Does NOT stop</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Content guardrails</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Toxic text, obvious jailbreaks, PII in output</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Tool authorisation, credential scope, multi-step exfiltration</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Permission ladder</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Unauthorised tool calls, dangerous parameters</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permitted tool used for an attacker's purpose</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Sandbox</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Filesystem and network escape, blast radius</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Anything the agent is legitimately allowed to reach</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Human approval</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Irreversible action taken silently</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Anything below the approval threshold; fatigue-driven rubber-stamping</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Audit trail</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Nothing — it is detective, not preventive</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Any attack; it tells you what happened afterwards</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Architecture (break the trifecta)</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Whole classes of exfiltration</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Threats inside the remaining capability set</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No single layer is sufficient. The architectural choice — not combining private data, untrusted content and an outbound channel in one agent — does more than all the filters put together.</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fast" advClick="1">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CLOSING THE FOUR STRUCTURAL GAPS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CSA Agentic Extensions to the NIST AI RMF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AG-GV.1 Autonomy tier classification</a:t>
            </a:r>
          </a:p>
          <a:p>
            <a:pPr algn="l">
              <a:spcAft>
                <a:spcPts val="300"/>
              </a:spcAft>
            </a:pPr>
            <a:r>
              <a:rPr sz="1100" b="0">
                <a:solidFill>
                  <a:srgbClr val="5B6372"/>
                </a:solidFill>
                <a:latin typeface="Arial"/>
              </a:rPr>
              <a:t>Four tiers with escalating oversight, because a recommender and an executor are not the same risk.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AG-GV.2 Delegation accountability</a:t>
            </a:r>
          </a:p>
          <a:p>
            <a:pPr algn="l">
              <a:spcAft>
                <a:spcPts val="300"/>
              </a:spcAft>
            </a:pPr>
            <a:r>
              <a:rPr sz="1100" b="0">
                <a:solidFill>
                  <a:srgbClr val="5B6372"/>
                </a:solidFill>
                <a:latin typeface="Arial"/>
              </a:rPr>
              <a:t>Document oversight boundaries, escalation triggers and the lineage from an action back to a named human.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AG-GV.3 Agent lifecycle registry</a:t>
            </a:r>
          </a:p>
          <a:p>
            <a:pPr algn="l">
              <a:spcAft>
                <a:spcPts val="300"/>
              </a:spcAft>
            </a:pPr>
            <a:r>
              <a:rPr sz="1100" b="0">
                <a:solidFill>
                  <a:srgbClr val="5B6372"/>
                </a:solidFill>
                <a:latin typeface="Arial"/>
              </a:rPr>
              <a:t>A live inventory of agent authorities, tool access, delegation relationships and review schedule.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AG-MP.1 / MP.2 Tool and consequence analysis</a:t>
            </a:r>
          </a:p>
          <a:p>
            <a:pPr algn="l">
              <a:spcAft>
                <a:spcPts val="300"/>
              </a:spcAft>
            </a:pPr>
            <a:r>
              <a:rPr sz="1000" b="0">
                <a:solidFill>
                  <a:srgbClr val="5B6372"/>
                </a:solidFill>
                <a:latin typeface="Arial"/>
              </a:rPr>
              <a:t>Classify tools by consequence and reversibility; map which tool sequences lead to which real-world outcomes.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AG-MS.1 Behavioural telemetry</a:t>
            </a:r>
          </a:p>
          <a:p>
            <a:pPr algn="l">
              <a:spcAft>
                <a:spcPts val="300"/>
              </a:spcAft>
            </a:pPr>
            <a:r>
              <a:rPr sz="1100" b="0">
                <a:solidFill>
                  <a:srgbClr val="5B6372"/>
                </a:solidFill>
                <a:latin typeface="Arial"/>
              </a:rPr>
              <a:t>Action velocity, permission escalation rate, cross-boundary calls, delegation depth, exception rate.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AG-MG.1 / MG.3 Incident and decommissioning</a:t>
            </a:r>
          </a:p>
          <a:p>
            <a:pPr algn="l">
              <a:spcAft>
                <a:spcPts val="300"/>
              </a:spcAft>
            </a:pPr>
            <a:r>
              <a:rPr sz="1000" b="0">
                <a:solidFill>
                  <a:srgbClr val="5B6372"/>
                </a:solidFill>
                <a:latin typeface="Arial"/>
              </a:rPr>
              <a:t>Playbooks for agent compromise, hijack, runaway and delegation-chain compromise; structured retirement.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fast"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LO4 · AG-GV.1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Autonomy Tiering — Tier by Capability, Not by Title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Tier 1 · Supervised</a:t>
            </a:r>
          </a:p>
          <a:p>
            <a:pPr algn="l">
              <a:spcAft>
                <a:spcPts val="300"/>
              </a:spcAft>
            </a:pPr>
            <a:r>
              <a:rPr sz="1200" b="0">
                <a:solidFill>
                  <a:srgbClr val="5B6372"/>
                </a:solidFill>
                <a:latin typeface="Arial"/>
              </a:rPr>
              <a:t>Proposes only; a human acts. Lightest oversight — but confirm it truly cannot act.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Tier 2 · Constrained</a:t>
            </a:r>
          </a:p>
          <a:p>
            <a:pPr algn="l">
              <a:spcAft>
                <a:spcPts val="300"/>
              </a:spcAft>
            </a:pPr>
            <a:r>
              <a:rPr sz="1200" b="0">
                <a:solidFill>
                  <a:srgbClr val="5B6372"/>
                </a:solidFill>
                <a:latin typeface="Arial"/>
              </a:rPr>
              <a:t>Acts within a fixed allowlist of reversible actions. Periodic review of the allowlist.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Tier 3 · Broad with monitoring</a:t>
            </a:r>
          </a:p>
          <a:p>
            <a:pPr algn="l">
              <a:spcAft>
                <a:spcPts val="300"/>
              </a:spcAft>
            </a:pPr>
            <a:r>
              <a:rPr sz="1200" b="0">
                <a:solidFill>
                  <a:srgbClr val="5B6372"/>
                </a:solidFill>
                <a:latin typeface="Arial"/>
              </a:rPr>
              <a:t>Wide capability with runtime telemetry and thresholds. Continuous monitoring is mandatory, not optional.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Tier 4 · Full autonomy</a:t>
            </a:r>
          </a:p>
          <a:p>
            <a:pPr algn="l">
              <a:spcAft>
                <a:spcPts val="300"/>
              </a:spcAft>
            </a:pPr>
            <a:r>
              <a:rPr sz="1200" b="0">
                <a:solidFill>
                  <a:srgbClr val="5B6372"/>
                </a:solidFill>
                <a:latin typeface="Arial"/>
              </a:rPr>
              <a:t>Highest obligation: pre-authorised containment, tested kill switch, named standing authority to disable.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common error</a:t>
            </a:r>
          </a:p>
          <a:p>
            <a:pPr algn="l">
              <a:spcAft>
                <a:spcPts val="300"/>
              </a:spcAft>
            </a:pPr>
            <a:r>
              <a:rPr sz="1200" b="0">
                <a:solidFill>
                  <a:srgbClr val="5B6372"/>
                </a:solidFill>
                <a:latin typeface="Arial"/>
              </a:rPr>
              <a:t>Tiering by how the agent is described. 'Just a helpdesk assistant' that resets passwords is not Tier 1.</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Tier drives obligation</a:t>
            </a:r>
          </a:p>
          <a:p>
            <a:pPr algn="l">
              <a:spcAft>
                <a:spcPts val="300"/>
              </a:spcAft>
            </a:pPr>
            <a:r>
              <a:rPr sz="1200" b="0">
                <a:solidFill>
                  <a:srgbClr val="5B6372"/>
                </a:solidFill>
                <a:latin typeface="Arial"/>
              </a:rPr>
              <a:t>If the oversight requirement does not rise with the tier, the tiering is decorative.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LO4 · A CONTROL THAT DEGRADES IF YOU IGNORE IT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Approval Fatigue — When a Control Stops Being One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failure</a:t>
            </a:r>
          </a:p>
          <a:p>
            <a:pPr algn="l">
              <a:spcAft>
                <a:spcPts val="300"/>
              </a:spcAft>
            </a:pPr>
            <a:r>
              <a:rPr sz="1200" b="0">
                <a:solidFill>
                  <a:srgbClr val="5B6372"/>
                </a:solidFill>
                <a:latin typeface="Arial"/>
              </a:rPr>
              <a:t>When almost every action prompts for approval, approvers stop reading and start clicking.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 gets worse with time</a:t>
            </a:r>
          </a:p>
          <a:p>
            <a:pPr algn="l">
              <a:spcAft>
                <a:spcPts val="300"/>
              </a:spcAft>
            </a:pPr>
            <a:r>
              <a:rPr sz="1200" b="0">
                <a:solidFill>
                  <a:srgbClr val="5B6372"/>
                </a:solidFill>
                <a:latin typeface="Arial"/>
              </a:rPr>
              <a:t>Approval discipline decays as session count rises — the pattern is well documented across agent deployments.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Measure the edit rate</a:t>
            </a:r>
          </a:p>
          <a:p>
            <a:pPr algn="l">
              <a:spcAft>
                <a:spcPts val="300"/>
              </a:spcAft>
            </a:pPr>
            <a:r>
              <a:rPr sz="1200" b="0">
                <a:solidFill>
                  <a:srgbClr val="5B6372"/>
                </a:solidFill>
                <a:latin typeface="Arial"/>
              </a:rPr>
              <a:t>Not the approval rate. How often does the human actually change or reject the proposed action?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Auto-allow the routine</a:t>
            </a:r>
          </a:p>
          <a:p>
            <a:pPr algn="l">
              <a:spcAft>
                <a:spcPts val="300"/>
              </a:spcAft>
            </a:pPr>
            <a:r>
              <a:rPr sz="1200" b="0">
                <a:solidFill>
                  <a:srgbClr val="5B6372"/>
                </a:solidFill>
                <a:latin typeface="Arial"/>
              </a:rPr>
              <a:t>Reserve the gate for irreversible and outbound actions; let low-consequence reads through.</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Watch for denial clusters</a:t>
            </a:r>
          </a:p>
          <a:p>
            <a:pPr algn="l">
              <a:spcAft>
                <a:spcPts val="300"/>
              </a:spcAft>
            </a:pPr>
            <a:r>
              <a:rPr sz="1200" b="0">
                <a:solidFill>
                  <a:srgbClr val="5B6372"/>
                </a:solidFill>
                <a:latin typeface="Arial"/>
              </a:rPr>
              <a:t>Three consecutive denials, or twenty in a session, should escalate to a human review of the agent itself.</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Design the volume deliberately</a:t>
            </a:r>
          </a:p>
          <a:p>
            <a:pPr algn="l">
              <a:spcAft>
                <a:spcPts val="300"/>
              </a:spcAft>
            </a:pPr>
            <a:r>
              <a:rPr sz="1200" b="0">
                <a:solidFill>
                  <a:srgbClr val="5B6372"/>
                </a:solidFill>
                <a:latin typeface="Arial"/>
              </a:rPr>
              <a:t>State the number of approvals per day above which your gate stops being a control.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THE DOCUMENT A REGULATOR WILL ASK FOR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Structured AI Risk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3063240"/>
            <a:ext cx="1232916" cy="969264"/>
          </a:xfrm>
          <a:prstGeom prst="rect">
            <a:avLst/>
          </a:prstGeom>
          <a:noFill/>
        </p:spPr>
        <p:txBody>
          <a:bodyPr wrap="square" anchor="ctr">
            <a:spAutoFit/>
          </a:bodyPr>
          <a:lstStyle/>
          <a:p>
            <a:pPr algn="ctr">
              <a:spcAft>
                <a:spcPts val="0"/>
              </a:spcAft>
            </a:pPr>
            <a:r>
              <a:rPr sz="1300" b="1">
                <a:solidFill>
                  <a:srgbClr val="161B26"/>
                </a:solidFill>
                <a:latin typeface="Arial"/>
              </a:rPr>
              <a:t>Scope</a:t>
            </a:r>
          </a:p>
        </p:txBody>
      </p:sp>
      <p:sp>
        <p:nvSpPr>
          <p:cNvPr id="12" name="TextBox 11"/>
          <p:cNvSpPr txBox="1"/>
          <p:nvPr/>
        </p:nvSpPr>
        <p:spPr>
          <a:xfrm>
            <a:off x="850392" y="3785616"/>
            <a:ext cx="1306068" cy="402336"/>
          </a:xfrm>
          <a:prstGeom prst="rect">
            <a:avLst/>
          </a:prstGeom>
          <a:noFill/>
        </p:spPr>
        <p:txBody>
          <a:bodyPr wrap="square" anchor="ctr">
            <a:spAutoFit/>
          </a:bodyPr>
          <a:lstStyle/>
          <a:p>
            <a:pPr algn="ctr">
              <a:spcAft>
                <a:spcPts val="0"/>
              </a:spcAft>
            </a:pPr>
            <a:r>
              <a:rPr sz="800" b="0">
                <a:solidFill>
                  <a:srgbClr val="5B6372"/>
                </a:solidFill>
                <a:latin typeface="Arial"/>
              </a:rPr>
              <a:t>The system, version, data, tools, users and boundary</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23388" y="3063240"/>
            <a:ext cx="1232916" cy="969264"/>
          </a:xfrm>
          <a:prstGeom prst="rect">
            <a:avLst/>
          </a:prstGeom>
          <a:noFill/>
        </p:spPr>
        <p:txBody>
          <a:bodyPr wrap="square" anchor="ctr">
            <a:spAutoFit/>
          </a:bodyPr>
          <a:lstStyle/>
          <a:p>
            <a:pPr algn="ctr">
              <a:spcAft>
                <a:spcPts val="0"/>
              </a:spcAft>
            </a:pPr>
            <a:r>
              <a:rPr sz="1300" b="1">
                <a:solidFill>
                  <a:srgbClr val="161B26"/>
                </a:solidFill>
                <a:latin typeface="Arial"/>
              </a:rPr>
              <a:t>Identify</a:t>
            </a:r>
          </a:p>
        </p:txBody>
      </p:sp>
      <p:sp>
        <p:nvSpPr>
          <p:cNvPr id="19" name="TextBox 18"/>
          <p:cNvSpPr txBox="1"/>
          <p:nvPr/>
        </p:nvSpPr>
        <p:spPr>
          <a:xfrm>
            <a:off x="2686812" y="3785616"/>
            <a:ext cx="1306068" cy="402336"/>
          </a:xfrm>
          <a:prstGeom prst="rect">
            <a:avLst/>
          </a:prstGeom>
          <a:noFill/>
        </p:spPr>
        <p:txBody>
          <a:bodyPr wrap="square" anchor="ctr">
            <a:spAutoFit/>
          </a:bodyPr>
          <a:lstStyle/>
          <a:p>
            <a:pPr algn="ctr">
              <a:spcAft>
                <a:spcPts val="0"/>
              </a:spcAft>
            </a:pPr>
            <a:r>
              <a:rPr sz="800" b="0">
                <a:solidFill>
                  <a:srgbClr val="5B6372"/>
                </a:solidFill>
                <a:latin typeface="Arial"/>
              </a:rPr>
              <a:t>Risks as cause → event → consequence statements</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59808" y="3063240"/>
            <a:ext cx="1232916" cy="969264"/>
          </a:xfrm>
          <a:prstGeom prst="rect">
            <a:avLst/>
          </a:prstGeom>
          <a:noFill/>
        </p:spPr>
        <p:txBody>
          <a:bodyPr wrap="square" anchor="ctr">
            <a:spAutoFit/>
          </a:bodyPr>
          <a:lstStyle/>
          <a:p>
            <a:pPr algn="ctr">
              <a:spcAft>
                <a:spcPts val="0"/>
              </a:spcAft>
            </a:pPr>
            <a:r>
              <a:rPr sz="1300" b="1">
                <a:solidFill>
                  <a:srgbClr val="161B26"/>
                </a:solidFill>
                <a:latin typeface="Arial"/>
              </a:rPr>
              <a:t>Rate inherent</a:t>
            </a:r>
          </a:p>
        </p:txBody>
      </p:sp>
      <p:sp>
        <p:nvSpPr>
          <p:cNvPr id="26" name="TextBox 25"/>
          <p:cNvSpPr txBox="1"/>
          <p:nvPr/>
        </p:nvSpPr>
        <p:spPr>
          <a:xfrm>
            <a:off x="4523232" y="3785616"/>
            <a:ext cx="1306068" cy="402336"/>
          </a:xfrm>
          <a:prstGeom prst="rect">
            <a:avLst/>
          </a:prstGeom>
          <a:noFill/>
        </p:spPr>
        <p:txBody>
          <a:bodyPr wrap="square" anchor="ctr">
            <a:spAutoFit/>
          </a:bodyPr>
          <a:lstStyle/>
          <a:p>
            <a:pPr algn="ctr">
              <a:spcAft>
                <a:spcPts val="0"/>
              </a:spcAft>
            </a:pPr>
            <a:r>
              <a:rPr sz="900" b="0">
                <a:solidFill>
                  <a:srgbClr val="5B6372"/>
                </a:solidFill>
                <a:latin typeface="Arial"/>
              </a:rPr>
              <a:t>Likelihood x impact, before controls</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396228" y="3063240"/>
            <a:ext cx="1232916" cy="969264"/>
          </a:xfrm>
          <a:prstGeom prst="rect">
            <a:avLst/>
          </a:prstGeom>
          <a:noFill/>
        </p:spPr>
        <p:txBody>
          <a:bodyPr wrap="square" anchor="ctr">
            <a:spAutoFit/>
          </a:bodyPr>
          <a:lstStyle/>
          <a:p>
            <a:pPr algn="ctr">
              <a:spcAft>
                <a:spcPts val="0"/>
              </a:spcAft>
            </a:pPr>
            <a:r>
              <a:rPr sz="1300" b="1">
                <a:solidFill>
                  <a:srgbClr val="161B26"/>
                </a:solidFill>
                <a:latin typeface="Arial"/>
              </a:rPr>
              <a:t>Map controls</a:t>
            </a:r>
          </a:p>
        </p:txBody>
      </p:sp>
      <p:sp>
        <p:nvSpPr>
          <p:cNvPr id="33" name="TextBox 32"/>
          <p:cNvSpPr txBox="1"/>
          <p:nvPr/>
        </p:nvSpPr>
        <p:spPr>
          <a:xfrm>
            <a:off x="6359652" y="3785616"/>
            <a:ext cx="1306068" cy="402336"/>
          </a:xfrm>
          <a:prstGeom prst="rect">
            <a:avLst/>
          </a:prstGeom>
          <a:noFill/>
        </p:spPr>
        <p:txBody>
          <a:bodyPr wrap="square" anchor="ctr">
            <a:spAutoFit/>
          </a:bodyPr>
          <a:lstStyle/>
          <a:p>
            <a:pPr algn="ctr">
              <a:spcAft>
                <a:spcPts val="0"/>
              </a:spcAft>
            </a:pPr>
            <a:r>
              <a:rPr sz="800" b="0">
                <a:solidFill>
                  <a:srgbClr val="5B6372"/>
                </a:solidFill>
                <a:latin typeface="Arial"/>
              </a:rPr>
              <a:t>Only controls that actually exist or are committed</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32648" y="3063240"/>
            <a:ext cx="1232916" cy="969264"/>
          </a:xfrm>
          <a:prstGeom prst="rect">
            <a:avLst/>
          </a:prstGeom>
          <a:noFill/>
        </p:spPr>
        <p:txBody>
          <a:bodyPr wrap="square" anchor="ctr">
            <a:spAutoFit/>
          </a:bodyPr>
          <a:lstStyle/>
          <a:p>
            <a:pPr algn="ctr">
              <a:spcAft>
                <a:spcPts val="0"/>
              </a:spcAft>
            </a:pPr>
            <a:r>
              <a:rPr sz="1300" b="1">
                <a:solidFill>
                  <a:srgbClr val="161B26"/>
                </a:solidFill>
                <a:latin typeface="Arial"/>
              </a:rPr>
              <a:t>Rate residual</a:t>
            </a:r>
          </a:p>
        </p:txBody>
      </p:sp>
      <p:sp>
        <p:nvSpPr>
          <p:cNvPr id="40" name="TextBox 39"/>
          <p:cNvSpPr txBox="1"/>
          <p:nvPr/>
        </p:nvSpPr>
        <p:spPr>
          <a:xfrm>
            <a:off x="8196072" y="3785616"/>
            <a:ext cx="1306068" cy="402336"/>
          </a:xfrm>
          <a:prstGeom prst="rect">
            <a:avLst/>
          </a:prstGeom>
          <a:noFill/>
        </p:spPr>
        <p:txBody>
          <a:bodyPr wrap="square" anchor="ctr">
            <a:spAutoFit/>
          </a:bodyPr>
          <a:lstStyle/>
          <a:p>
            <a:pPr algn="ctr">
              <a:spcAft>
                <a:spcPts val="0"/>
              </a:spcAft>
            </a:pPr>
            <a:r>
              <a:rPr sz="800" b="0">
                <a:solidFill>
                  <a:srgbClr val="5B6372"/>
                </a:solidFill>
                <a:latin typeface="Arial"/>
              </a:rPr>
              <a:t>Honestly — filters cut likelihood, rarely impact</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69068" y="3063240"/>
            <a:ext cx="1232916" cy="969264"/>
          </a:xfrm>
          <a:prstGeom prst="rect">
            <a:avLst/>
          </a:prstGeom>
          <a:noFill/>
        </p:spPr>
        <p:txBody>
          <a:bodyPr wrap="square" anchor="ctr">
            <a:spAutoFit/>
          </a:bodyPr>
          <a:lstStyle/>
          <a:p>
            <a:pPr algn="ctr">
              <a:spcAft>
                <a:spcPts val="0"/>
              </a:spcAft>
            </a:pPr>
            <a:r>
              <a:rPr sz="1300" b="1">
                <a:solidFill>
                  <a:srgbClr val="161B26"/>
                </a:solidFill>
                <a:latin typeface="Arial"/>
              </a:rPr>
              <a:t>Treat and own</a:t>
            </a:r>
          </a:p>
        </p:txBody>
      </p:sp>
      <p:sp>
        <p:nvSpPr>
          <p:cNvPr id="47" name="TextBox 46"/>
          <p:cNvSpPr txBox="1"/>
          <p:nvPr/>
        </p:nvSpPr>
        <p:spPr>
          <a:xfrm>
            <a:off x="10032492" y="3785616"/>
            <a:ext cx="1306068" cy="402336"/>
          </a:xfrm>
          <a:prstGeom prst="rect">
            <a:avLst/>
          </a:prstGeom>
          <a:noFill/>
        </p:spPr>
        <p:txBody>
          <a:bodyPr wrap="square" anchor="ctr">
            <a:spAutoFit/>
          </a:bodyPr>
          <a:lstStyle/>
          <a:p>
            <a:pPr algn="ctr">
              <a:spcAft>
                <a:spcPts val="0"/>
              </a:spcAft>
            </a:pPr>
            <a:r>
              <a:rPr sz="800" b="0">
                <a:solidFill>
                  <a:srgbClr val="5B6372"/>
                </a:solidFill>
                <a:latin typeface="Arial"/>
              </a:rPr>
              <a:t>Treat / tolerate / transfer / terminate, with an owner and a date</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THE MOST COMMON DEFECT</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Risks written as single words. 'Prompt injection' is a cause. A risk statement names the cause, the event and the business consequence.</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WHY PHASE 1 IS CHEAP AND HIGH-VALUE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Sequencing the Roadmap by Risk Reduction per Unit of Effort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The first three initiatives are low effort and high risk reduction — do them first. Independent assurance matters, but it cannot precede having something to assure. Relative teaching values, not effort estimates for your organisation.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PROVING IT WORKS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Metrics That Keep a Programme Alive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Inventory coverage</a:t>
            </a:r>
          </a:p>
          <a:p>
            <a:pPr algn="l">
              <a:spcAft>
                <a:spcPts val="300"/>
              </a:spcAft>
            </a:pPr>
            <a:r>
              <a:rPr sz="1200" b="0">
                <a:solidFill>
                  <a:srgbClr val="5B6372"/>
                </a:solidFill>
                <a:latin typeface="Arial"/>
              </a:rPr>
              <a:t>Percentage of known AI systems registered with a named owner. Your foundational metric.</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Assessment coverage</a:t>
            </a:r>
          </a:p>
          <a:p>
            <a:pPr algn="l">
              <a:spcAft>
                <a:spcPts val="300"/>
              </a:spcAft>
            </a:pPr>
            <a:r>
              <a:rPr sz="1200" b="0">
                <a:solidFill>
                  <a:srgbClr val="5B6372"/>
                </a:solidFill>
                <a:latin typeface="Arial"/>
              </a:rPr>
              <a:t>Percentage of High-risk systems with a current risk assessment.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Policy attestation</a:t>
            </a:r>
          </a:p>
          <a:p>
            <a:pPr algn="l">
              <a:spcAft>
                <a:spcPts val="300"/>
              </a:spcAft>
            </a:pPr>
            <a:r>
              <a:rPr sz="1200" b="0">
                <a:solidFill>
                  <a:srgbClr val="5B6372"/>
                </a:solidFill>
                <a:latin typeface="Arial"/>
              </a:rPr>
              <a:t>Percentage of staff who have attested to the acceptable-use policy.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Time to disable</a:t>
            </a:r>
          </a:p>
          <a:p>
            <a:pPr algn="l">
              <a:spcAft>
                <a:spcPts val="300"/>
              </a:spcAft>
            </a:pPr>
            <a:r>
              <a:rPr sz="1200" b="0">
                <a:solidFill>
                  <a:srgbClr val="5B6372"/>
                </a:solidFill>
                <a:latin typeface="Arial"/>
              </a:rPr>
              <a:t>Minutes to disable a live agent — tested, not estimated.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Incidents and MTTR</a:t>
            </a:r>
          </a:p>
          <a:p>
            <a:pPr algn="l">
              <a:spcAft>
                <a:spcPts val="300"/>
              </a:spcAft>
            </a:pPr>
            <a:r>
              <a:rPr sz="1200" b="0">
                <a:solidFill>
                  <a:srgbClr val="5B6372"/>
                </a:solidFill>
                <a:latin typeface="Arial"/>
              </a:rPr>
              <a:t>Count of AI incidents and mean time to respond.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Report them upward</a:t>
            </a:r>
          </a:p>
          <a:p>
            <a:pPr algn="l">
              <a:spcAft>
                <a:spcPts val="300"/>
              </a:spcAft>
            </a:pPr>
            <a:r>
              <a:rPr sz="1200" b="0">
                <a:solidFill>
                  <a:srgbClr val="5B6372"/>
                </a:solidFill>
                <a:latin typeface="Arial"/>
              </a:rPr>
              <a:t>Governance that is not measured and reported does not survive the next budget cycle.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fast" advClick="1">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Hands-On Labs — Security Controls for Agentic AI, Risk Assessment and Implementation Roadmap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13–14</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Design the Agentic Security Control Stack</a:t>
            </a:r>
          </a:p>
          <a:p>
            <a:pPr>
              <a:spcAft>
                <a:spcPts val="900"/>
              </a:spcAft>
            </a:pPr>
            <a:r>
              <a:rPr sz="1400" b="0">
                <a:solidFill>
                  <a:srgbClr val="161B26"/>
                </a:solidFill>
                <a:latin typeface="Arial"/>
              </a:rPr>
              <a:t>•  Apply the CSA Agentic Extensions to the NIST AI RMF</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15–16</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Conduct a Full AI Security Risk Assessment</a:t>
            </a:r>
          </a:p>
          <a:p>
            <a:pPr>
              <a:spcAft>
                <a:spcPts val="900"/>
              </a:spcAft>
            </a:pPr>
            <a:r>
              <a:rPr sz="1400" b="0">
                <a:solidFill>
                  <a:srgbClr val="161B26"/>
                </a:solidFill>
                <a:latin typeface="Arial"/>
              </a:rPr>
              <a:t>•  Capstone — Build the AI Security Governance Roadmap</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fast" advClick="1">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Design the Agentic Security Control Stack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Implement layered security controls for an agentic AI system: identity, guardrails, permission ladders, sandboxing and human approval gates.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will redesign NovaAssist with a real defence-in-depth stack. Working from the OWASP Agentic Security Top 10, you will specify each control layer, decide which tool calls need approval, and write the permission policy that governs the agent before it acts.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layered agentic control specification: agent identity and scopes, guardrail rules, a deny/ask/allow permission policy for 12 tools, sandbox boundaries and human approval gates.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NovaAssist tool catalogue (agent-tool-catalogue.csv), OWASP ASI Top 10 reference, control stack template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Every irreversible and external-communication tool is set to ask or deny. Your three deny rules are specific enough to be implemented, and you can name at least two attack paths your stack does not stop.</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Classify all twelve tools</a:t>
            </a:r>
          </a:p>
        </p:txBody>
      </p:sp>
      <p:sp>
        <p:nvSpPr>
          <p:cNvPr id="12" name="TextBox 11"/>
          <p:cNvSpPr txBox="1"/>
          <p:nvPr/>
        </p:nvSpPr>
        <p:spPr>
          <a:xfrm>
            <a:off x="850392"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consequence and reversibility</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Give the agent an identity</a:t>
            </a:r>
          </a:p>
        </p:txBody>
      </p:sp>
      <p:sp>
        <p:nvSpPr>
          <p:cNvPr id="19" name="TextBox 18"/>
          <p:cNvSpPr txBox="1"/>
          <p:nvPr/>
        </p:nvSpPr>
        <p:spPr>
          <a:xfrm>
            <a:off x="3054096"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scoped, short-lived</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Set deny / ask / allow</a:t>
            </a:r>
          </a:p>
        </p:txBody>
      </p:sp>
      <p:sp>
        <p:nvSpPr>
          <p:cNvPr id="26" name="TextBox 25"/>
          <p:cNvSpPr txBox="1"/>
          <p:nvPr/>
        </p:nvSpPr>
        <p:spPr>
          <a:xfrm>
            <a:off x="5257800"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irreversible ⇒ ask or deny</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Bound the blast radius</a:t>
            </a:r>
          </a:p>
        </p:txBody>
      </p:sp>
      <p:sp>
        <p:nvSpPr>
          <p:cNvPr id="33" name="TextBox 32"/>
          <p:cNvSpPr txBox="1"/>
          <p:nvPr/>
        </p:nvSpPr>
        <p:spPr>
          <a:xfrm>
            <a:off x="7461504"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filesystem · egress · creds</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Gate the human approvals</a:t>
            </a:r>
          </a:p>
        </p:txBody>
      </p:sp>
      <p:sp>
        <p:nvSpPr>
          <p:cNvPr id="40" name="TextBox 39"/>
          <p:cNvSpPr txBox="1"/>
          <p:nvPr/>
        </p:nvSpPr>
        <p:spPr>
          <a:xfrm>
            <a:off x="9665208"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and watch for fatigue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Implement layered security controls for an agentic AI system: identity, guardrails, permission ladders, sandboxing and human approval gates.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Design the Agentic Security Control Stack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irreversible and external-communication tool is set to ask or deny. Your three deny rules are specific enough to be implemented, and you can name at least two attack paths your stack does not stop.</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fast" advClick="1">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Apply the CSA Agentic Extensions to the NIST AI RMF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Implement agentic-specific governance by applying autonomy tiering, delegation accountability, an agent registry and behavioural telemetry.</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500" b="0">
                <a:solidFill>
                  <a:srgbClr val="161B26"/>
                </a:solidFill>
                <a:latin typeface="Arial"/>
              </a:rPr>
              <a:t>The NIST AI RMF treats a read-only recommender and an autonomous executor identically. The CSA agentic profile closes that gap. You will apply its extensions to NovaBank's agent estate: tier every agent, document delegation accountability, build the agent registry and define behavioural telemetry.</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 agentic governance pack: five agents tiered with justification, a delegation accountability record, a completed agent registry and a behavioural telemetry specification.</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Agent estate pack (novabank-agents.md), CSA agentic RMF profile reference, registry template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000" b="0">
                <a:solidFill>
                  <a:srgbClr val="161B26"/>
                </a:solidFill>
                <a:latin typeface="Arial"/>
              </a:rPr>
              <a:t>All five agents are tiered with a justification drawn from their capabilities, your registry has no blank kill-switch field, and your telemetry metrics each have a baseline and a threshold. You can explain why tiering by capability beats tiering by job title.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fast" advClick="1">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Read the agent estate</a:t>
            </a:r>
          </a:p>
        </p:txBody>
      </p:sp>
      <p:sp>
        <p:nvSpPr>
          <p:cNvPr id="12" name="TextBox 11"/>
          <p:cNvSpPr txBox="1"/>
          <p:nvPr/>
        </p:nvSpPr>
        <p:spPr>
          <a:xfrm>
            <a:off x="850392"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five agents, real capabilities</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Tier by capability</a:t>
            </a:r>
          </a:p>
        </p:txBody>
      </p:sp>
      <p:sp>
        <p:nvSpPr>
          <p:cNvPr id="19" name="TextBox 18"/>
          <p:cNvSpPr txBox="1"/>
          <p:nvPr/>
        </p:nvSpPr>
        <p:spPr>
          <a:xfrm>
            <a:off x="3054096"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not by job title</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Document the delegation</a:t>
            </a:r>
          </a:p>
        </p:txBody>
      </p:sp>
      <p:sp>
        <p:nvSpPr>
          <p:cNvPr id="26" name="TextBox 25"/>
          <p:cNvSpPr txBox="1"/>
          <p:nvPr/>
        </p:nvSpPr>
        <p:spPr>
          <a:xfrm>
            <a:off x="5257800"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lineage to a named human</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Build the agent registry</a:t>
            </a:r>
          </a:p>
        </p:txBody>
      </p:sp>
      <p:sp>
        <p:nvSpPr>
          <p:cNvPr id="33" name="TextBox 32"/>
          <p:cNvSpPr txBox="1"/>
          <p:nvPr/>
        </p:nvSpPr>
        <p:spPr>
          <a:xfrm>
            <a:off x="7461504"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no blank kill-switch</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Set telemetry and playbooks</a:t>
            </a:r>
          </a:p>
        </p:txBody>
      </p:sp>
      <p:sp>
        <p:nvSpPr>
          <p:cNvPr id="40" name="TextBox 39"/>
          <p:cNvSpPr txBox="1"/>
          <p:nvPr/>
        </p:nvSpPr>
        <p:spPr>
          <a:xfrm>
            <a:off x="9665208"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baseline then threshold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Implement agentic-specific governance by applying autonomy tiering, delegation accountability, an agent registry and behavioural telemetry.</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Apply the CSA Agentic Extensions to the NIST AI RMF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All five agents are tiered with a justification drawn from their capabilities, your registry has no blank kill-switch field, and your telemetry metrics each have a baseline and a threshold. You can explain why tiering by capability beats tiering by job title.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fast" advClick="1">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Conduct a Full AI Security Risk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Implement a structured AI risk assessment producing rated risks, mapped controls, residual risk and assigned treatments with owners.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600" b="0">
                <a:solidFill>
                  <a:srgbClr val="161B26"/>
                </a:solidFill>
                <a:latin typeface="Arial"/>
              </a:rPr>
              <a:t>This is the assessment that a regulator, an auditor or a board will ask to see. You will run a complete structured risk assessment on NovaAssist, combining everything from the previous fourteen labs into a single defensible document with rated, owned and treated risks.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 AI security risk assessment: 12 rated risks with likelihood, impact, existing controls, residual rating, treatment decision, owner and target date.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Risk assessment template (risk-assessment-template.csv), 5x5 rating matrix, all prior lab outputs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000" b="0">
                <a:solidFill>
                  <a:srgbClr val="161B26"/>
                </a:solidFill>
                <a:latin typeface="Arial"/>
              </a:rPr>
              <a:t>All twelve risks are written as cause-event-consequence statements, every residual High risk has either a treatment plan or a recorded acceptance by a named executive, and every treatment has an owner who exists in your operating model.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fast" advClick="1">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Scope it tightly</a:t>
            </a:r>
          </a:p>
        </p:txBody>
      </p:sp>
      <p:sp>
        <p:nvSpPr>
          <p:cNvPr id="12" name="TextBox 11"/>
          <p:cNvSpPr txBox="1"/>
          <p:nvPr/>
        </p:nvSpPr>
        <p:spPr>
          <a:xfrm>
            <a:off x="850392"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system, version, tools, users</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Write cause → event → consequence</a:t>
            </a:r>
          </a:p>
        </p:txBody>
      </p:sp>
      <p:sp>
        <p:nvSpPr>
          <p:cNvPr id="19" name="TextBox 18"/>
          <p:cNvSpPr txBox="1"/>
          <p:nvPr/>
        </p:nvSpPr>
        <p:spPr>
          <a:xfrm>
            <a:off x="3054096"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not a single word</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Rate inherent risk</a:t>
            </a:r>
          </a:p>
        </p:txBody>
      </p:sp>
      <p:sp>
        <p:nvSpPr>
          <p:cNvPr id="26" name="TextBox 25"/>
          <p:cNvSpPr txBox="1"/>
          <p:nvPr/>
        </p:nvSpPr>
        <p:spPr>
          <a:xfrm>
            <a:off x="5257800"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justify every 4 and 5</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Map only real controls</a:t>
            </a:r>
          </a:p>
        </p:txBody>
      </p:sp>
      <p:sp>
        <p:nvSpPr>
          <p:cNvPr id="33" name="TextBox 32"/>
          <p:cNvSpPr txBox="1"/>
          <p:nvPr/>
        </p:nvSpPr>
        <p:spPr>
          <a:xfrm>
            <a:off x="7461504"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then rate residual honestly</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Treat, own and date it</a:t>
            </a:r>
          </a:p>
        </p:txBody>
      </p:sp>
      <p:sp>
        <p:nvSpPr>
          <p:cNvPr id="40" name="TextBox 39"/>
          <p:cNvSpPr txBox="1"/>
          <p:nvPr/>
        </p:nvSpPr>
        <p:spPr>
          <a:xfrm>
            <a:off x="9665208"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High ⇒ treat or accept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Implement a structured AI risk assessment producing rated risks, mapped controls, residual risk and assigned treatments with owners.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Conduct a Full AI Security Risk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All twelve risks are written as cause-event-consequence statements, every residual High risk has either a treatment plan or a recorded acceptance by a named executive, and every treatment has an owner who exists in your operating model.</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ransition spd="fast" advClick="1">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Capstone — Build the AI Security Governance Roadmap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Implement a prioritised, costed and sequenced AI security governance implementation roadmap and present it for executive approval.</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500" b="0">
                <a:solidFill>
                  <a:srgbClr val="161B26"/>
                </a:solidFill>
                <a:latin typeface="Arial"/>
              </a:rPr>
              <a:t>The capstone brings the whole course together. You will consolidate every artefact you have produced into a 12-month AI security governance implementation roadmap for NovaBank, sequenced by risk reduction per unit of effort, with metrics that prove the programme is working — then present it for approval.</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12-month AI security governance roadmap across three phases with initiatives, owners, effort, dependencies and success metrics, plus a five-slide executive presentation.</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Roadmap template, maturity model, all prior lab outputs, presentation template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000" b="0">
                <a:solidFill>
                  <a:srgbClr val="161B26"/>
                </a:solidFill>
                <a:latin typeface="Arial"/>
              </a:rPr>
              <a:t>Every initiative in your roadmap traces back to a specific gap or a specific rated risk, the phases respect their dependencies, and all six metrics have a baseline and a target. Your five-slide deck makes the ask explicit on the final slide.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spd="fast" advClick="1">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Consolidate every artefact</a:t>
            </a:r>
          </a:p>
        </p:txBody>
      </p:sp>
      <p:sp>
        <p:nvSpPr>
          <p:cNvPr id="12" name="TextBox 11"/>
          <p:cNvSpPr txBox="1"/>
          <p:nvPr/>
        </p:nvSpPr>
        <p:spPr>
          <a:xfrm>
            <a:off x="850392"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gaps and rated risks</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Score maturity today</a:t>
            </a:r>
          </a:p>
        </p:txBody>
      </p:sp>
      <p:sp>
        <p:nvSpPr>
          <p:cNvPr id="19" name="TextBox 18"/>
          <p:cNvSpPr txBox="1"/>
          <p:nvPr/>
        </p:nvSpPr>
        <p:spPr>
          <a:xfrm>
            <a:off x="3054096"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evidence per score</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Phase 1 — foundation</a:t>
            </a:r>
          </a:p>
        </p:txBody>
      </p:sp>
      <p:sp>
        <p:nvSpPr>
          <p:cNvPr id="26" name="TextBox 25"/>
          <p:cNvSpPr txBox="1"/>
          <p:nvPr/>
        </p:nvSpPr>
        <p:spPr>
          <a:xfrm>
            <a:off x="5257800"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inventory · policy · logging</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Phase 2 and 3</a:t>
            </a:r>
          </a:p>
        </p:txBody>
      </p:sp>
      <p:sp>
        <p:nvSpPr>
          <p:cNvPr id="33" name="TextBox 32"/>
          <p:cNvSpPr txBox="1"/>
          <p:nvPr/>
        </p:nvSpPr>
        <p:spPr>
          <a:xfrm>
            <a:off x="7461504"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controls, then assurance</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Metrics and the one ask</a:t>
            </a:r>
          </a:p>
        </p:txBody>
      </p:sp>
      <p:sp>
        <p:nvSpPr>
          <p:cNvPr id="40" name="TextBox 39"/>
          <p:cNvSpPr txBox="1"/>
          <p:nvPr/>
        </p:nvSpPr>
        <p:spPr>
          <a:xfrm>
            <a:off x="9665208"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baseline and target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Implement a prioritised, costed and sequenced AI security governance implementation roadmap and present it for executive approval.</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Capstone — Build the AI Security Governance Roadmap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initiative in your roadmap traces back to a specific gap or a specific rated risk, the phases respect their dependencies, and all six metrics have a baseline and a target. Your five-slide deck makes the ask explicit on the final slide.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ransition spd="fast" advClick="1">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Recap — Security Controls for Agentic AI, Risk Assessment and Implementation Roadmap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Implement layered security controls for an agentic AI system: identity, guardrails, permission ladders, sandboxing and human approval gates.</a:t>
            </a:r>
          </a:p>
          <a:p>
            <a:pPr>
              <a:spcAft>
                <a:spcPts val="1000"/>
              </a:spcAft>
            </a:pPr>
            <a:r>
              <a:rPr sz="1700" b="0">
                <a:solidFill>
                  <a:srgbClr val="161B26"/>
                </a:solidFill>
                <a:latin typeface="Arial"/>
              </a:rPr>
              <a:t>•  You can now: Implement agentic-specific governance by applying autonomy tiering, delegation accountability, an agent registry and behavioural telemetry.</a:t>
            </a:r>
          </a:p>
          <a:p>
            <a:pPr>
              <a:spcAft>
                <a:spcPts val="1000"/>
              </a:spcAft>
            </a:pPr>
            <a:r>
              <a:rPr sz="1700" b="0">
                <a:solidFill>
                  <a:srgbClr val="161B26"/>
                </a:solidFill>
                <a:latin typeface="Arial"/>
              </a:rPr>
              <a:t>•  You can now: Implement a structured AI risk assessment producing rated risks, mapped controls, residual risk and assigned treatments with owners.</a:t>
            </a:r>
          </a:p>
          <a:p>
            <a:pPr>
              <a:spcAft>
                <a:spcPts val="1000"/>
              </a:spcAft>
            </a:pPr>
            <a:r>
              <a:rPr sz="1700" b="0">
                <a:solidFill>
                  <a:srgbClr val="161B26"/>
                </a:solidFill>
                <a:latin typeface="Arial"/>
              </a:rPr>
              <a:t>•  You can now: Implement a prioritised, costed and sequenced AI security governance implementation roadmap and present it for executive approval.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spd="fast" advClick="1">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1732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med" advClick="1">
    <p:push dir="l"/>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LO1 · Analysed foundations and risks</a:t>
            </a:r>
          </a:p>
          <a:p>
            <a:pPr algn="l">
              <a:spcAft>
                <a:spcPts val="300"/>
              </a:spcAft>
            </a:pPr>
            <a:r>
              <a:rPr sz="1100" b="0">
                <a:solidFill>
                  <a:srgbClr val="5B6372"/>
                </a:solidFill>
                <a:latin typeface="Arial"/>
              </a:rPr>
              <a:t>You inventoried an AI estate including shadow AI, mapped traditional threats to their AI-era variants, analysed a live agent design against the lethal trifecta and the NIST GenAI risks, and built a costed business case.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LO2 · Evaluated frameworks, built the structure</a:t>
            </a:r>
          </a:p>
          <a:p>
            <a:pPr algn="l">
              <a:spcAft>
                <a:spcPts val="300"/>
              </a:spcAft>
            </a:pPr>
            <a:r>
              <a:rPr sz="1100" b="0">
                <a:solidFill>
                  <a:srgbClr val="5B6372"/>
                </a:solidFill>
                <a:latin typeface="Arial"/>
              </a:rPr>
              <a:t>You ran a NIST AI RMF gap assessment on real evidence, drafted an enforceable policy set mapped to Singapore's MGF, designed a governance operating model with a single-A RACI, and applied the PDPA and PDPC AI guidelines to four scenarios.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LO3 · Developed lifecycle controls</a:t>
            </a:r>
          </a:p>
          <a:p>
            <a:pPr algn="l">
              <a:spcAft>
                <a:spcPts val="300"/>
              </a:spcAft>
            </a:pPr>
            <a:r>
              <a:rPr sz="1100" b="0">
                <a:solidFill>
                  <a:srgbClr val="5B6372"/>
                </a:solidFill>
                <a:latin typeface="Arial"/>
              </a:rPr>
              <a:t>You governed a training dataset end to end, red-teamed a system before deployment, designed deployment gates and a monitoring regime with thresholds, and ran an AI incident from detection to notification.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LO4 · Implemented agentic controls and a roadmap</a:t>
            </a:r>
          </a:p>
          <a:p>
            <a:pPr algn="l">
              <a:spcAft>
                <a:spcPts val="300"/>
              </a:spcAft>
            </a:pPr>
            <a:r>
              <a:rPr sz="1100" b="0">
                <a:solidFill>
                  <a:srgbClr val="5B6372"/>
                </a:solidFill>
                <a:latin typeface="Arial"/>
              </a:rPr>
              <a:t>You designed a five-layer agentic control stack, applied the CSA agentic extensions, completed a twelve-risk assessment, and produced a 12-month roadmap with metrics.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ransition spd="fast" advClick="1">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YOU CAN REUSE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Artefacts You Are Taking Away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AI system inventory</a:t>
            </a:r>
          </a:p>
          <a:p>
            <a:pPr algn="l">
              <a:spcAft>
                <a:spcPts val="300"/>
              </a:spcAft>
            </a:pPr>
            <a:r>
              <a:rPr sz="1200" b="0">
                <a:solidFill>
                  <a:srgbClr val="5B6372"/>
                </a:solidFill>
                <a:latin typeface="Arial"/>
              </a:rPr>
              <a:t>A template and a worked example you can populate for your own organisation on Monday.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Policy set</a:t>
            </a:r>
          </a:p>
          <a:p>
            <a:pPr algn="l">
              <a:spcAft>
                <a:spcPts val="300"/>
              </a:spcAft>
            </a:pPr>
            <a:r>
              <a:rPr sz="1200" b="0">
                <a:solidFill>
                  <a:srgbClr val="5B6372"/>
                </a:solidFill>
                <a:latin typeface="Arial"/>
              </a:rPr>
              <a:t>An acceptable-use policy and a risk-management standard, mapped to MGF dimensions and RMF subcategories.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Operating model and RACI</a:t>
            </a:r>
          </a:p>
          <a:p>
            <a:pPr algn="l">
              <a:spcAft>
                <a:spcPts val="300"/>
              </a:spcAft>
            </a:pPr>
            <a:r>
              <a:rPr sz="1200" b="0">
                <a:solidFill>
                  <a:srgbClr val="5B6372"/>
                </a:solidFill>
                <a:latin typeface="Arial"/>
              </a:rPr>
              <a:t>A committee terms of reference and a twelve-control RACI that passes the single-A rule.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Risk assessment</a:t>
            </a:r>
          </a:p>
          <a:p>
            <a:pPr algn="l">
              <a:spcAft>
                <a:spcPts val="300"/>
              </a:spcAft>
            </a:pPr>
            <a:r>
              <a:rPr sz="1200" b="0">
                <a:solidFill>
                  <a:srgbClr val="5B6372"/>
                </a:solidFill>
                <a:latin typeface="Arial"/>
              </a:rPr>
              <a:t>A twelve-risk assessment with a 5x5 matrix, residual ratings, treatments and owners.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Agentic control stack</a:t>
            </a:r>
          </a:p>
          <a:p>
            <a:pPr algn="l">
              <a:spcAft>
                <a:spcPts val="300"/>
              </a:spcAft>
            </a:pPr>
            <a:r>
              <a:rPr sz="1200" b="0">
                <a:solidFill>
                  <a:srgbClr val="5B6372"/>
                </a:solidFill>
                <a:latin typeface="Arial"/>
              </a:rPr>
              <a:t>A layered specification with a deny/ask/allow tool policy and an agent registry.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12-month roadmap</a:t>
            </a:r>
          </a:p>
          <a:p>
            <a:pPr algn="l">
              <a:spcAft>
                <a:spcPts val="300"/>
              </a:spcAft>
            </a:pPr>
            <a:r>
              <a:rPr sz="1200" b="0">
                <a:solidFill>
                  <a:srgbClr val="5B6372"/>
                </a:solidFill>
                <a:latin typeface="Arial"/>
              </a:rPr>
              <a:t>Three phases, sequenced by dependency, with six measurable programme metrics.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spd="fast" advClick="1">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MAKE IT REAL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Your First 30 Days Back at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Week 1 · Find out what you run</a:t>
            </a:r>
          </a:p>
          <a:p>
            <a:pPr algn="l">
              <a:spcAft>
                <a:spcPts val="300"/>
              </a:spcAft>
            </a:pPr>
            <a:r>
              <a:rPr sz="1200" b="0">
                <a:solidFill>
                  <a:srgbClr val="5B6372"/>
                </a:solidFill>
                <a:latin typeface="Arial"/>
              </a:rPr>
              <a:t>Start the inventory. Expense claims, SaaS admin consoles and an honest staff survey will find more than IT records will.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Week 1 · Name owners</a:t>
            </a:r>
          </a:p>
          <a:p>
            <a:pPr algn="l">
              <a:spcAft>
                <a:spcPts val="300"/>
              </a:spcAft>
            </a:pPr>
            <a:r>
              <a:rPr sz="1200" b="0">
                <a:solidFill>
                  <a:srgbClr val="5B6372"/>
                </a:solidFill>
                <a:latin typeface="Arial"/>
              </a:rPr>
              <a:t>Every AI system gets a named accountable human. Systems with no owner are your first finding.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Week 2 · Issue interim guidance</a:t>
            </a:r>
          </a:p>
          <a:p>
            <a:pPr algn="l">
              <a:spcAft>
                <a:spcPts val="300"/>
              </a:spcAft>
            </a:pPr>
            <a:r>
              <a:rPr sz="1200" b="0">
                <a:solidFill>
                  <a:srgbClr val="5B6372"/>
                </a:solidFill>
                <a:latin typeface="Arial"/>
              </a:rPr>
              <a:t>One page: what staff may and may not put into AI tools, and the route to ask. Do not wait for the full policy set.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Week 3 · Turn on logging</a:t>
            </a:r>
          </a:p>
          <a:p>
            <a:pPr algn="l">
              <a:spcAft>
                <a:spcPts val="300"/>
              </a:spcAft>
            </a:pPr>
            <a:r>
              <a:rPr sz="1200" b="0">
                <a:solidFill>
                  <a:srgbClr val="5B6372"/>
                </a:solidFill>
                <a:latin typeface="Arial"/>
              </a:rPr>
              <a:t>You cannot investigate what you did not record. Logging is cheap and it is the precondition for everything else.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Week 4 · Assess your highest-risk system</a:t>
            </a:r>
          </a:p>
          <a:p>
            <a:pPr algn="l">
              <a:spcAft>
                <a:spcPts val="300"/>
              </a:spcAft>
            </a:pPr>
            <a:r>
              <a:rPr sz="1200" b="0">
                <a:solidFill>
                  <a:srgbClr val="5B6372"/>
                </a:solidFill>
                <a:latin typeface="Arial"/>
              </a:rPr>
              <a:t>One proper risk assessment beats a portfolio-wide survey. Use the Lab 15 template.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Then · Take it to the board</a:t>
            </a:r>
          </a:p>
          <a:p>
            <a:pPr algn="l">
              <a:spcAft>
                <a:spcPts val="300"/>
              </a:spcAft>
            </a:pPr>
            <a:r>
              <a:rPr sz="1200" b="0">
                <a:solidFill>
                  <a:srgbClr val="5B6372"/>
                </a:solidFill>
                <a:latin typeface="Arial"/>
              </a:rPr>
              <a:t>Use your Lab 4 business case and Lab 16 roadmap. Ask for one thing.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ransition spd="fast" advClick="1">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Continue Your Learning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NIST AI RMF</a:t>
            </a:r>
          </a:p>
          <a:p>
            <a:pPr algn="l">
              <a:spcAft>
                <a:spcPts val="300"/>
              </a:spcAft>
            </a:pPr>
            <a:r>
              <a:rPr sz="1200" b="0">
                <a:solidFill>
                  <a:srgbClr val="5B6372"/>
                </a:solidFill>
                <a:latin typeface="Arial"/>
              </a:rPr>
              <a:t>nist.gov/itl/ai-risk-management-framework — the framework, the Playbook and the GenAI profile (AI 600-1).</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AI Verify Foundation</a:t>
            </a:r>
          </a:p>
          <a:p>
            <a:pPr algn="l">
              <a:spcAft>
                <a:spcPts val="300"/>
              </a:spcAft>
            </a:pPr>
            <a:r>
              <a:rPr sz="1200" b="0">
                <a:solidFill>
                  <a:srgbClr val="5B6372"/>
                </a:solidFill>
                <a:latin typeface="Arial"/>
              </a:rPr>
              <a:t>aiverifyfoundation.sg — the Model AI Governance Framework for GenAI and the testing toolkit.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PDPC</a:t>
            </a:r>
          </a:p>
          <a:p>
            <a:pPr algn="l">
              <a:spcAft>
                <a:spcPts val="300"/>
              </a:spcAft>
            </a:pPr>
            <a:r>
              <a:rPr sz="1200" b="0">
                <a:solidFill>
                  <a:srgbClr val="5B6372"/>
                </a:solidFill>
                <a:latin typeface="Arial"/>
              </a:rPr>
              <a:t>pdpc.gov.sg — the Advisory Guidelines on the Use of Personal Data in AI Recommendation and Decision Systems.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OWASP</a:t>
            </a:r>
          </a:p>
          <a:p>
            <a:pPr algn="l">
              <a:spcAft>
                <a:spcPts val="300"/>
              </a:spcAft>
            </a:pPr>
            <a:r>
              <a:rPr sz="1200" b="0">
                <a:solidFill>
                  <a:srgbClr val="5B6372"/>
                </a:solidFill>
                <a:latin typeface="Arial"/>
              </a:rPr>
              <a:t>The Agentic Security Initiative Top 10 — the threat taxonomy for agents.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Cloud Security Alliance</a:t>
            </a:r>
          </a:p>
          <a:p>
            <a:pPr algn="l">
              <a:spcAft>
                <a:spcPts val="300"/>
              </a:spcAft>
            </a:pPr>
            <a:r>
              <a:rPr sz="1200" b="0">
                <a:solidFill>
                  <a:srgbClr val="5B6372"/>
                </a:solidFill>
                <a:latin typeface="Arial"/>
              </a:rPr>
              <a:t>The Agentic AI NIST RMF Profile — AG-GV, AG-MP, AG-MS and AG-MG control extensions.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Practise the labs again</a:t>
            </a:r>
          </a:p>
          <a:p>
            <a:pPr algn="l">
              <a:spcAft>
                <a:spcPts val="300"/>
              </a:spcAft>
            </a:pPr>
            <a:r>
              <a:rPr sz="1200" b="0">
                <a:solidFill>
                  <a:srgbClr val="5B6372"/>
                </a:solidFill>
                <a:latin typeface="Arial"/>
              </a:rPr>
              <a:t>Re-run the labs against your own organisation's real AI estate — that is where the value is realised.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ransition spd="fast" advClick="1">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WITH TERTIARY INFOTECH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WSQ - Developing Ethical Strategies for Responsible Generative AI</a:t>
            </a:r>
          </a:p>
          <a:p>
            <a:pPr algn="l">
              <a:spcAft>
                <a:spcPts val="300"/>
              </a:spcAft>
            </a:pPr>
            <a:r>
              <a:rPr sz="1300" b="0">
                <a:solidFill>
                  <a:srgbClr val="5B6372"/>
                </a:solidFill>
                <a:latin typeface="Arial"/>
              </a:rPr>
              <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WSQ - Cybersecurity Risk Management for Businesses</a:t>
            </a:r>
          </a:p>
          <a:p>
            <a:pPr algn="l">
              <a:spcAft>
                <a:spcPts val="300"/>
              </a:spcAft>
            </a:pPr>
            <a:r>
              <a:rPr sz="1300" b="0">
                <a:solidFill>
                  <a:srgbClr val="5B6372"/>
                </a:solidFill>
                <a:latin typeface="Arial"/>
              </a:rPr>
              <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WSQ - Data Protection and Privacy Management (PDPA)</a:t>
            </a:r>
          </a:p>
          <a:p>
            <a:pPr algn="l">
              <a:spcAft>
                <a:spcPts val="300"/>
              </a:spcAft>
            </a:pPr>
            <a:r>
              <a:rPr sz="1300" b="0">
                <a:solidFill>
                  <a:srgbClr val="5B6372"/>
                </a:solidFill>
                <a:latin typeface="Arial"/>
              </a:rPr>
              <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WSQ - Applied Generative AI for Business Productivity</a:t>
            </a:r>
          </a:p>
          <a:p>
            <a:pPr algn="l">
              <a:spcAft>
                <a:spcPts val="300"/>
              </a:spcAft>
            </a:pPr>
            <a:r>
              <a:rPr sz="1300" b="0">
                <a:solidFill>
                  <a:srgbClr val="5B6372"/>
                </a:solidFill>
                <a:latin typeface="Arial"/>
              </a:rPr>
              <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spd="fast" advClick="1">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If you have any enquiries during or after the class, you can contact us below.</a:t>
            </a:r>
          </a:p>
          <a:p>
            <a:pPr>
              <a:spcAft>
                <a:spcPts val="1000"/>
              </a:spcAft>
            </a:pPr>
            <a:r>
              <a:rPr sz="2000" b="0">
                <a:solidFill>
                  <a:srgbClr val="161B26"/>
                </a:solidFill>
                <a:latin typeface="Arial"/>
              </a:rPr>
              <a:t>•  Email: enquiry@tertiaryinfotech.com</a:t>
            </a:r>
          </a:p>
          <a:p>
            <a:pPr>
              <a:spcAft>
                <a:spcPts val="1000"/>
              </a:spcAft>
            </a:pPr>
            <a:r>
              <a:rPr sz="2000" b="0">
                <a:solidFill>
                  <a:srgbClr val="161B26"/>
                </a:solidFill>
                <a:latin typeface="Arial"/>
              </a:rPr>
              <a:t>•  Tel: +65 6100 0613</a:t>
            </a:r>
          </a:p>
          <a:p>
            <a:pPr>
              <a:spcAft>
                <a:spcPts val="1000"/>
              </a:spcAft>
            </a:pPr>
            <a:r>
              <a:rPr sz="2000" b="0">
                <a:solidFill>
                  <a:srgbClr val="161B26"/>
                </a:solidFill>
                <a:latin typeface="Arial"/>
              </a:rPr>
              <a:t>•  Website: www.tertiarycourses.com.sg</a:t>
            </a:r>
          </a:p>
          <a:p>
            <a:pPr>
              <a:spcAft>
                <a:spcPts val="1000"/>
              </a:spcAft>
            </a:pPr>
            <a:r>
              <a:rPr sz="2000" b="0">
                <a:solidFill>
                  <a:srgbClr val="161B26"/>
                </a:solidFill>
                <a:latin typeface="Arial"/>
              </a:rPr>
              <a:t>•  LMS / TMS: https://lms-tms.tertiaryinfotech.com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transition spd="fast" advClick="1">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Written Assessment (SAQ)</a:t>
            </a:r>
          </a:p>
          <a:p>
            <a:pPr algn="l">
              <a:spcAft>
                <a:spcPts val="300"/>
              </a:spcAft>
            </a:pPr>
            <a:r>
              <a:rPr sz="1300" b="0">
                <a:solidFill>
                  <a:srgbClr val="5B6372"/>
                </a:solidFill>
                <a:latin typeface="Arial"/>
              </a:rPr>
              <a:t>1 hour · open book · short-answer knowledge questions on AI security governance.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Case Study (CS)</a:t>
            </a:r>
          </a:p>
          <a:p>
            <a:pPr algn="l">
              <a:spcAft>
                <a:spcPts val="300"/>
              </a:spcAft>
            </a:pPr>
            <a:r>
              <a:rPr sz="1300" b="0">
                <a:solidFill>
                  <a:srgbClr val="5B6372"/>
                </a:solidFill>
                <a:latin typeface="Arial"/>
              </a:rPr>
              <a:t>1 hour · open book · one coherent governance case study drawn from the labs.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Remember to take the Assessment digital attendance (TRAQOM) before you start.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Submit on the LMS</a:t>
            </a:r>
          </a:p>
          <a:p>
            <a:pPr algn="l">
              <a:spcAft>
                <a:spcPts val="300"/>
              </a:spcAft>
            </a:pPr>
            <a:r>
              <a:rPr sz="1300" b="0">
                <a:solidFill>
                  <a:srgbClr val="5B6372"/>
                </a:solidFill>
                <a:latin typeface="Arial"/>
              </a:rPr>
              <a:t>Upload your completed answers at https://lms-tms.tertiaryinfotech.com/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transition spd="med" advClick="1">
    <p:push dir="l"/>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86968"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TRAQOM survey</a:t>
            </a:r>
          </a:p>
        </p:txBody>
      </p:sp>
      <p:sp>
        <p:nvSpPr>
          <p:cNvPr id="12" name="TextBox 11"/>
          <p:cNvSpPr txBox="1"/>
          <p:nvPr/>
        </p:nvSpPr>
        <p:spPr>
          <a:xfrm>
            <a:off x="850392"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Scan the QR on the LMS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90672"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3054096"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Scan the SSG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94376"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Sit the WA then the CS</a:t>
            </a:r>
          </a:p>
        </p:txBody>
      </p:sp>
      <p:sp>
        <p:nvSpPr>
          <p:cNvPr id="26" name="TextBox 25"/>
          <p:cNvSpPr txBox="1"/>
          <p:nvPr/>
        </p:nvSpPr>
        <p:spPr>
          <a:xfrm>
            <a:off x="5257800"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Open book · 1 hour each</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98080"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61504"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Upload your answers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01784" y="3063240"/>
            <a:ext cx="1600200" cy="969264"/>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65208" y="3785616"/>
            <a:ext cx="1673352" cy="402336"/>
          </a:xfrm>
          <a:prstGeom prst="rect">
            <a:avLst/>
          </a:prstGeom>
          <a:noFill/>
        </p:spPr>
        <p:txBody>
          <a:bodyPr wrap="square" anchor="ctr">
            <a:spAutoFit/>
          </a:bodyPr>
          <a:lstStyle/>
          <a:p>
            <a:pPr algn="ctr">
              <a:spcAft>
                <a:spcPts val="0"/>
              </a:spcAft>
            </a:pPr>
            <a:r>
              <a:rPr sz="900" b="0">
                <a:solidFill>
                  <a:srgbClr val="5B6372"/>
                </a:solidFill>
                <a:latin typeface="Arial"/>
              </a:rPr>
              <a:t>Assessment Summary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digital attendance or the TRAQOM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transition spd="fast" advClick="1">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GOVERN WELL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analyse AI business risk, build a governance framework, apply controls across the AI lifecycle, secure agentic AI and deliver an implementation roadmap.</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transition spd="fast" advClick="1">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Login to LMS and 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Security Governance for Businesses  ·  TGS-2026061329</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pic>
        <p:nvPicPr>
          <p:cNvPr id="45" name="Picture 44" descr="ref_login.png"/>
          <p:cNvPicPr>
            <a:picLocks noChangeAspect="1"/>
          </p:cNvPicPr>
          <p:nvPr/>
        </p:nvPicPr>
        <p:blipFill>
          <a:blip r:embed="rId3"/>
          <a:stretch>
            <a:fillRect/>
          </a:stretch>
        </p:blipFill>
        <p:spPr>
          <a:xfrm>
            <a:off x="1983345" y="1723644"/>
            <a:ext cx="8225005" cy="4091940"/>
          </a:xfrm>
          <a:prstGeom prst="rect">
            <a:avLst/>
          </a:prstGeom>
          <a:ln w="12700">
            <a:solidFill>
              <a:srgbClr val="E2E8F0"/>
            </a:solidFill>
          </a:ln>
        </p:spPr>
      </p:pic>
      <p:sp>
        <p:nvSpPr>
          <p:cNvPr id="46" name="TextBox 45"/>
          <p:cNvSpPr txBox="1"/>
          <p:nvPr/>
        </p:nvSpPr>
        <p:spPr>
          <a:xfrm>
            <a:off x="777240" y="5897880"/>
            <a:ext cx="10637215" cy="459486"/>
          </a:xfrm>
          <a:prstGeom prst="rect">
            <a:avLst/>
          </a:prstGeom>
          <a:noFill/>
        </p:spPr>
        <p:txBody>
          <a:bodyPr wrap="square">
            <a:spAutoFit/>
          </a:bodyPr>
          <a:lstStyle/>
          <a:p>
            <a:pPr algn="ctr"/>
            <a:r>
              <a:rPr sz="1150">
                <a:solidFill>
                  <a:srgbClr val="475569"/>
                </a:solidFill>
                <a:latin typeface="Arial"/>
              </a:rPr>
              <a:t>Log in at lms-tms.tertiaryinfotech.com with your registered email and the OTP sent to your inbox, then open this course to download the slides and Learner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